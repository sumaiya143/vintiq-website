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Montserrat Black"/>
      <p:bold r:id="rId26"/>
      <p:boldItalic r:id="rId27"/>
    </p:embeddedFont>
    <p:embeddedFont>
      <p:font typeface="Montserrat"/>
      <p:bold r:id="rId28"/>
      <p:boldItalic r:id="rId29"/>
    </p:embeddedFont>
    <p:embeddedFont>
      <p:font typeface="Poppins"/>
      <p:bold r:id="rId30"/>
      <p:boldItalic r:id="rId31"/>
    </p:embeddedFont>
    <p:embeddedFont>
      <p:font typeface="Poppins SemiBold"/>
      <p:regular r:id="rId32"/>
      <p:bold r:id="rId33"/>
      <p:italic r:id="rId34"/>
      <p:boldItalic r:id="rId35"/>
    </p:embeddedFont>
    <p:embeddedFont>
      <p:font typeface="Sansita"/>
      <p:regular r:id="rId36"/>
      <p:bold r:id="rId37"/>
      <p:italic r:id="rId38"/>
      <p:boldItalic r:id="rId39"/>
    </p:embeddedFont>
    <p:embeddedFont>
      <p:font typeface="DM Sans"/>
      <p:bold r:id="rId40"/>
      <p:boldItalic r:id="rId41"/>
    </p:embeddedFont>
    <p:embeddedFont>
      <p:font typeface="Open Sans"/>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32C646-A098-40EE-B637-54B1E6F59840}">
  <a:tblStyle styleId="{D732C646-A098-40EE-B637-54B1E6F598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DMSans-boldItalic.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Open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lack-bold.fntdata"/><Relationship Id="rId25" Type="http://schemas.openxmlformats.org/officeDocument/2006/relationships/slide" Target="slides/slide19.xml"/><Relationship Id="rId28" Type="http://schemas.openxmlformats.org/officeDocument/2006/relationships/font" Target="fonts/Montserrat-bold.fntdata"/><Relationship Id="rId27" Type="http://schemas.openxmlformats.org/officeDocument/2006/relationships/font" Target="fonts/MontserratBlack-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bold.fntdata"/><Relationship Id="rId11" Type="http://schemas.openxmlformats.org/officeDocument/2006/relationships/slide" Target="slides/slide5.xml"/><Relationship Id="rId33" Type="http://schemas.openxmlformats.org/officeDocument/2006/relationships/font" Target="fonts/PoppinsSemiBold-bold.fntdata"/><Relationship Id="rId10" Type="http://schemas.openxmlformats.org/officeDocument/2006/relationships/slide" Target="slides/slide4.xml"/><Relationship Id="rId32" Type="http://schemas.openxmlformats.org/officeDocument/2006/relationships/font" Target="fonts/PoppinsSemiBold-regular.fntdata"/><Relationship Id="rId13" Type="http://schemas.openxmlformats.org/officeDocument/2006/relationships/slide" Target="slides/slide7.xml"/><Relationship Id="rId35" Type="http://schemas.openxmlformats.org/officeDocument/2006/relationships/font" Target="fonts/PoppinsSemiBold-boldItalic.fntdata"/><Relationship Id="rId12" Type="http://schemas.openxmlformats.org/officeDocument/2006/relationships/slide" Target="slides/slide6.xml"/><Relationship Id="rId34" Type="http://schemas.openxmlformats.org/officeDocument/2006/relationships/font" Target="fonts/PoppinsSemiBold-italic.fntdata"/><Relationship Id="rId15" Type="http://schemas.openxmlformats.org/officeDocument/2006/relationships/slide" Target="slides/slide9.xml"/><Relationship Id="rId37" Type="http://schemas.openxmlformats.org/officeDocument/2006/relationships/font" Target="fonts/Sansita-bold.fntdata"/><Relationship Id="rId14" Type="http://schemas.openxmlformats.org/officeDocument/2006/relationships/slide" Target="slides/slide8.xml"/><Relationship Id="rId36" Type="http://schemas.openxmlformats.org/officeDocument/2006/relationships/font" Target="fonts/Sansita-regular.fntdata"/><Relationship Id="rId17" Type="http://schemas.openxmlformats.org/officeDocument/2006/relationships/slide" Target="slides/slide11.xml"/><Relationship Id="rId39" Type="http://schemas.openxmlformats.org/officeDocument/2006/relationships/font" Target="fonts/Sansita-boldItalic.fntdata"/><Relationship Id="rId16" Type="http://schemas.openxmlformats.org/officeDocument/2006/relationships/slide" Target="slides/slide10.xml"/><Relationship Id="rId38" Type="http://schemas.openxmlformats.org/officeDocument/2006/relationships/font" Target="fonts/Sansita-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4.jp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1.jp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15.png"/><Relationship Id="rId5" Type="http://schemas.openxmlformats.org/officeDocument/2006/relationships/image" Target="../media/image2.jpg"/><Relationship Id="rId6" Type="http://schemas.openxmlformats.org/officeDocument/2006/relationships/image" Target="../media/image4.png"/><Relationship Id="rId7"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jpg"/><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2.jpg"/><Relationship Id="rId4" Type="http://schemas.openxmlformats.org/officeDocument/2006/relationships/image" Target="../media/image16.jpg"/><Relationship Id="rId5" Type="http://schemas.openxmlformats.org/officeDocument/2006/relationships/image" Target="../media/image10.png"/><Relationship Id="rId6"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jp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8.jpg"/><Relationship Id="rId6" Type="http://schemas.openxmlformats.org/officeDocument/2006/relationships/image" Target="../media/image21.jpg"/><Relationship Id="rId7" Type="http://schemas.openxmlformats.org/officeDocument/2006/relationships/image" Target="../media/image28.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3.jpg"/><Relationship Id="rId4" Type="http://schemas.openxmlformats.org/officeDocument/2006/relationships/image" Target="../media/image36.jpg"/><Relationship Id="rId5" Type="http://schemas.openxmlformats.org/officeDocument/2006/relationships/image" Target="../media/image26.png"/><Relationship Id="rId6" Type="http://schemas.openxmlformats.org/officeDocument/2006/relationships/image" Target="../media/image34.png"/><Relationship Id="rId7" Type="http://schemas.openxmlformats.org/officeDocument/2006/relationships/image" Target="../media/image29.png"/><Relationship Id="rId8"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2.jpg"/><Relationship Id="rId4" Type="http://schemas.openxmlformats.org/officeDocument/2006/relationships/image" Target="../media/image50.jpg"/><Relationship Id="rId5" Type="http://schemas.openxmlformats.org/officeDocument/2006/relationships/image" Target="../media/image4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3.jpg"/><Relationship Id="rId4" Type="http://schemas.openxmlformats.org/officeDocument/2006/relationships/image" Target="../media/image49.jpg"/><Relationship Id="rId5" Type="http://schemas.openxmlformats.org/officeDocument/2006/relationships/image" Target="../media/image32.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4.jpg"/><Relationship Id="rId4" Type="http://schemas.openxmlformats.org/officeDocument/2006/relationships/image" Target="../media/image37.jpg"/><Relationship Id="rId5" Type="http://schemas.openxmlformats.org/officeDocument/2006/relationships/image" Target="../media/image35.jpg"/><Relationship Id="rId6" Type="http://schemas.openxmlformats.org/officeDocument/2006/relationships/image" Target="../media/image39.jpg"/><Relationship Id="rId7" Type="http://schemas.openxmlformats.org/officeDocument/2006/relationships/image" Target="../media/image4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46.jpg"/><Relationship Id="rId5" Type="http://schemas.openxmlformats.org/officeDocument/2006/relationships/image" Target="../media/image45.jpg"/><Relationship Id="rId6" Type="http://schemas.openxmlformats.org/officeDocument/2006/relationships/image" Target="../media/image60.jpg"/><Relationship Id="rId7" Type="http://schemas.openxmlformats.org/officeDocument/2006/relationships/image" Target="../media/image49.jpg"/><Relationship Id="rId8"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jpg"/><Relationship Id="rId4" Type="http://schemas.openxmlformats.org/officeDocument/2006/relationships/image" Target="../media/image46.jpg"/><Relationship Id="rId5" Type="http://schemas.openxmlformats.org/officeDocument/2006/relationships/image" Target="../media/image45.jpg"/><Relationship Id="rId6" Type="http://schemas.openxmlformats.org/officeDocument/2006/relationships/image" Target="../media/image60.jpg"/><Relationship Id="rId7" Type="http://schemas.openxmlformats.org/officeDocument/2006/relationships/image" Target="../media/image49.jpg"/><Relationship Id="rId8"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8.jpg"/><Relationship Id="rId4" Type="http://schemas.openxmlformats.org/officeDocument/2006/relationships/image" Target="../media/image56.jpg"/><Relationship Id="rId5" Type="http://schemas.openxmlformats.org/officeDocument/2006/relationships/image" Target="../media/image52.jpg"/><Relationship Id="rId6" Type="http://schemas.openxmlformats.org/officeDocument/2006/relationships/image" Target="../media/image55.jpg"/><Relationship Id="rId7" Type="http://schemas.openxmlformats.org/officeDocument/2006/relationships/image" Target="../media/image67.jpg"/><Relationship Id="rId8"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8.jpg"/><Relationship Id="rId4" Type="http://schemas.openxmlformats.org/officeDocument/2006/relationships/image" Target="../media/image57.jpg"/><Relationship Id="rId5" Type="http://schemas.openxmlformats.org/officeDocument/2006/relationships/image" Target="../media/image66.jpg"/><Relationship Id="rId6" Type="http://schemas.openxmlformats.org/officeDocument/2006/relationships/image" Target="../media/image65.jpg"/><Relationship Id="rId7" Type="http://schemas.openxmlformats.org/officeDocument/2006/relationships/image" Target="../media/image58.jpg"/><Relationship Id="rId8"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2.jpg"/><Relationship Id="rId4" Type="http://schemas.openxmlformats.org/officeDocument/2006/relationships/image" Target="../media/image68.jpg"/><Relationship Id="rId9" Type="http://schemas.openxmlformats.org/officeDocument/2006/relationships/image" Target="../media/image32.png"/><Relationship Id="rId5" Type="http://schemas.openxmlformats.org/officeDocument/2006/relationships/image" Target="../media/image73.jpg"/><Relationship Id="rId6" Type="http://schemas.openxmlformats.org/officeDocument/2006/relationships/image" Target="../media/image74.jpg"/><Relationship Id="rId7" Type="http://schemas.openxmlformats.org/officeDocument/2006/relationships/image" Target="../media/image60.jpg"/><Relationship Id="rId8" Type="http://schemas.openxmlformats.org/officeDocument/2006/relationships/image" Target="../media/image6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5.jp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7.jpg"/><Relationship Id="rId4" Type="http://schemas.openxmlformats.org/officeDocument/2006/relationships/image" Target="../media/image69.png"/><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7136" l="0" r="-3296" t="-5439"/>
            </a:stretch>
          </a:blipFill>
          <a:ln>
            <a:noFill/>
          </a:ln>
        </p:spPr>
      </p:sp>
      <p:graphicFrame>
        <p:nvGraphicFramePr>
          <p:cNvPr id="85" name="Google Shape;85;p13"/>
          <p:cNvGraphicFramePr/>
          <p:nvPr/>
        </p:nvGraphicFramePr>
        <p:xfrm>
          <a:off x="3766022" y="8326350"/>
          <a:ext cx="3000000" cy="3000000"/>
        </p:xfrm>
        <a:graphic>
          <a:graphicData uri="http://schemas.openxmlformats.org/drawingml/2006/table">
            <a:tbl>
              <a:tblPr>
                <a:noFill/>
                <a:tableStyleId>{D732C646-A098-40EE-B637-54B1E6F59840}</a:tableStyleId>
              </a:tblPr>
              <a:tblGrid>
                <a:gridCol w="5393225"/>
                <a:gridCol w="5393225"/>
              </a:tblGrid>
              <a:tr h="684700">
                <a:tc>
                  <a:txBody>
                    <a:bodyPr/>
                    <a:lstStyle/>
                    <a:p>
                      <a:pPr indent="0" lvl="0" marL="0" marR="0" rtl="0" algn="ctr">
                        <a:lnSpc>
                          <a:spcPct val="397818"/>
                        </a:lnSpc>
                        <a:spcBef>
                          <a:spcPts val="0"/>
                        </a:spcBef>
                        <a:spcAft>
                          <a:spcPts val="0"/>
                        </a:spcAft>
                        <a:buNone/>
                      </a:pPr>
                      <a:r>
                        <a:t/>
                      </a:r>
                      <a:endParaRPr sz="1100" u="none" cap="none" strike="noStrike"/>
                    </a:p>
                  </a:txBody>
                  <a:tcPr marT="28575" marB="28575" marR="28575" marL="2857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marR="0" rtl="0" algn="ctr">
                        <a:lnSpc>
                          <a:spcPct val="254454"/>
                        </a:lnSpc>
                        <a:spcBef>
                          <a:spcPts val="0"/>
                        </a:spcBef>
                        <a:spcAft>
                          <a:spcPts val="0"/>
                        </a:spcAft>
                        <a:buNone/>
                      </a:pPr>
                      <a:r>
                        <a:t/>
                      </a:r>
                      <a:endParaRPr sz="1100" u="none" cap="none" strike="noStrike"/>
                    </a:p>
                  </a:txBody>
                  <a:tcPr marT="28575" marB="28575" marR="28575" marL="2857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bl>
          </a:graphicData>
        </a:graphic>
      </p:graphicFrame>
      <p:sp>
        <p:nvSpPr>
          <p:cNvPr id="86" name="Google Shape;86;p13"/>
          <p:cNvSpPr txBox="1"/>
          <p:nvPr/>
        </p:nvSpPr>
        <p:spPr>
          <a:xfrm>
            <a:off x="2532380" y="3286760"/>
            <a:ext cx="13223241" cy="3713481"/>
          </a:xfrm>
          <a:prstGeom prst="rect">
            <a:avLst/>
          </a:prstGeom>
          <a:noFill/>
          <a:ln>
            <a:noFill/>
          </a:ln>
        </p:spPr>
        <p:txBody>
          <a:bodyPr anchorCtr="0" anchor="t" bIns="0" lIns="0" spcFirstLastPara="1" rIns="0" wrap="square" tIns="0">
            <a:spAutoFit/>
          </a:bodyPr>
          <a:lstStyle/>
          <a:p>
            <a:pPr indent="0" lvl="0" marL="0" marR="0" rtl="0" algn="ctr">
              <a:lnSpc>
                <a:spcPct val="89000"/>
              </a:lnSpc>
              <a:spcBef>
                <a:spcPts val="0"/>
              </a:spcBef>
              <a:spcAft>
                <a:spcPts val="0"/>
              </a:spcAft>
              <a:buNone/>
            </a:pPr>
            <a:r>
              <a:rPr b="0" i="0" lang="en-US" sz="14000" u="none" cap="none" strike="noStrike">
                <a:solidFill>
                  <a:srgbClr val="FFFFFF"/>
                </a:solidFill>
                <a:latin typeface="Arial"/>
                <a:ea typeface="Arial"/>
                <a:cs typeface="Arial"/>
                <a:sym typeface="Arial"/>
              </a:rPr>
              <a:t>Vintiq Coffee Hub Unveiled</a:t>
            </a:r>
            <a:endParaRPr/>
          </a:p>
        </p:txBody>
      </p:sp>
      <p:sp>
        <p:nvSpPr>
          <p:cNvPr id="87" name="Google Shape;87;p13"/>
          <p:cNvSpPr/>
          <p:nvPr/>
        </p:nvSpPr>
        <p:spPr>
          <a:xfrm>
            <a:off x="8799170" y="1028700"/>
            <a:ext cx="689660" cy="689660"/>
          </a:xfrm>
          <a:custGeom>
            <a:rect b="b" l="l" r="r" t="t"/>
            <a:pathLst>
              <a:path extrusionOk="0" h="689660" w="689660">
                <a:moveTo>
                  <a:pt x="0" y="0"/>
                </a:moveTo>
                <a:lnTo>
                  <a:pt x="689660" y="0"/>
                </a:lnTo>
                <a:lnTo>
                  <a:pt x="689660" y="689660"/>
                </a:lnTo>
                <a:lnTo>
                  <a:pt x="0" y="689660"/>
                </a:lnTo>
                <a:lnTo>
                  <a:pt x="0" y="0"/>
                </a:lnTo>
                <a:close/>
              </a:path>
            </a:pathLst>
          </a:custGeom>
          <a:blipFill rotWithShape="1">
            <a:blip r:embed="rId4">
              <a:alphaModFix/>
            </a:blip>
            <a:stretch>
              <a:fillRect b="0" l="0" r="0" t="0"/>
            </a:stretch>
          </a:blipFill>
          <a:ln>
            <a:noFill/>
          </a:ln>
        </p:spPr>
      </p:sp>
      <p:sp>
        <p:nvSpPr>
          <p:cNvPr id="88" name="Google Shape;88;p13"/>
          <p:cNvSpPr txBox="1"/>
          <p:nvPr/>
        </p:nvSpPr>
        <p:spPr>
          <a:xfrm>
            <a:off x="4325837" y="8603493"/>
            <a:ext cx="4259313" cy="356616"/>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2400" u="none" cap="none" strike="noStrike">
                <a:solidFill>
                  <a:srgbClr val="FFFFFF"/>
                </a:solidFill>
                <a:latin typeface="Arial"/>
                <a:ea typeface="Arial"/>
                <a:cs typeface="Arial"/>
                <a:sym typeface="Arial"/>
              </a:rPr>
              <a:t>NOVEMBER 15,2023</a:t>
            </a:r>
            <a:endParaRPr/>
          </a:p>
        </p:txBody>
      </p:sp>
      <p:sp>
        <p:nvSpPr>
          <p:cNvPr id="89" name="Google Shape;89;p13"/>
          <p:cNvSpPr txBox="1"/>
          <p:nvPr/>
        </p:nvSpPr>
        <p:spPr>
          <a:xfrm>
            <a:off x="7014343" y="1933983"/>
            <a:ext cx="4259313" cy="267462"/>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1800" u="none" cap="none" strike="noStrike">
                <a:solidFill>
                  <a:srgbClr val="FFFFFF"/>
                </a:solidFill>
                <a:latin typeface="Arial"/>
                <a:ea typeface="Arial"/>
                <a:cs typeface="Arial"/>
                <a:sym typeface="Arial"/>
              </a:rPr>
              <a:t>VINTIQ </a:t>
            </a:r>
            <a:endParaRPr/>
          </a:p>
        </p:txBody>
      </p:sp>
      <p:sp>
        <p:nvSpPr>
          <p:cNvPr id="90" name="Google Shape;90;p13"/>
          <p:cNvSpPr txBox="1"/>
          <p:nvPr/>
        </p:nvSpPr>
        <p:spPr>
          <a:xfrm>
            <a:off x="9367612" y="8603493"/>
            <a:ext cx="4959081" cy="356616"/>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2400" u="none" cap="none" strike="noStrike">
                <a:solidFill>
                  <a:srgbClr val="FFFFFF"/>
                </a:solidFill>
                <a:latin typeface="Arial"/>
                <a:ea typeface="Arial"/>
                <a:cs typeface="Arial"/>
                <a:sym typeface="Arial"/>
              </a:rPr>
              <a:t>VINTIQ. COM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4242"/>
        </a:solidFill>
      </p:bgPr>
    </p:bg>
    <p:spTree>
      <p:nvGrpSpPr>
        <p:cNvPr id="94" name="Shape 94"/>
        <p:cNvGrpSpPr/>
        <p:nvPr/>
      </p:nvGrpSpPr>
      <p:grpSpPr>
        <a:xfrm>
          <a:off x="0" y="0"/>
          <a:ext cx="0" cy="0"/>
          <a:chOff x="0" y="0"/>
          <a:chExt cx="0" cy="0"/>
        </a:xfrm>
      </p:grpSpPr>
      <p:grpSp>
        <p:nvGrpSpPr>
          <p:cNvPr id="95" name="Google Shape;95;p14"/>
          <p:cNvGrpSpPr/>
          <p:nvPr/>
        </p:nvGrpSpPr>
        <p:grpSpPr>
          <a:xfrm>
            <a:off x="3828881" y="-976461"/>
            <a:ext cx="10630237" cy="7821098"/>
            <a:chOff x="0" y="-257175"/>
            <a:chExt cx="2799733" cy="2059878"/>
          </a:xfrm>
        </p:grpSpPr>
        <p:sp>
          <p:nvSpPr>
            <p:cNvPr id="96" name="Google Shape;96;p14"/>
            <p:cNvSpPr/>
            <p:nvPr/>
          </p:nvSpPr>
          <p:spPr>
            <a:xfrm>
              <a:off x="0" y="0"/>
              <a:ext cx="2799733" cy="1802703"/>
            </a:xfrm>
            <a:custGeom>
              <a:rect b="b" l="l" r="r" t="t"/>
              <a:pathLst>
                <a:path extrusionOk="0" h="1802703" w="2799733">
                  <a:moveTo>
                    <a:pt x="0" y="0"/>
                  </a:moveTo>
                  <a:lnTo>
                    <a:pt x="2799733" y="0"/>
                  </a:lnTo>
                  <a:lnTo>
                    <a:pt x="2799733" y="1802703"/>
                  </a:lnTo>
                  <a:lnTo>
                    <a:pt x="0" y="1802703"/>
                  </a:lnTo>
                  <a:close/>
                </a:path>
              </a:pathLst>
            </a:custGeom>
            <a:solidFill>
              <a:srgbClr val="1C0D08"/>
            </a:solidFill>
            <a:ln>
              <a:noFill/>
            </a:ln>
          </p:spPr>
        </p:sp>
        <p:sp>
          <p:nvSpPr>
            <p:cNvPr id="97" name="Google Shape;97;p14"/>
            <p:cNvSpPr txBox="1"/>
            <p:nvPr/>
          </p:nvSpPr>
          <p:spPr>
            <a:xfrm>
              <a:off x="0" y="-257175"/>
              <a:ext cx="2799733" cy="2059878"/>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98" name="Google Shape;98;p14"/>
          <p:cNvPicPr preferRelativeResize="0"/>
          <p:nvPr/>
        </p:nvPicPr>
        <p:blipFill rotWithShape="1">
          <a:blip r:embed="rId3">
            <a:alphaModFix/>
          </a:blip>
          <a:srcRect b="9355" l="26694" r="27901" t="37258"/>
          <a:stretch/>
        </p:blipFill>
        <p:spPr>
          <a:xfrm>
            <a:off x="13216943" y="3858526"/>
            <a:ext cx="4100396" cy="6428474"/>
          </a:xfrm>
          <a:prstGeom prst="rect">
            <a:avLst/>
          </a:prstGeom>
          <a:noFill/>
          <a:ln>
            <a:noFill/>
          </a:ln>
        </p:spPr>
      </p:pic>
      <p:pic>
        <p:nvPicPr>
          <p:cNvPr id="99" name="Google Shape;99;p14"/>
          <p:cNvPicPr preferRelativeResize="0"/>
          <p:nvPr/>
        </p:nvPicPr>
        <p:blipFill rotWithShape="1">
          <a:blip r:embed="rId4">
            <a:alphaModFix/>
          </a:blip>
          <a:srcRect b="25535" l="24857" r="15528" t="32405"/>
          <a:stretch/>
        </p:blipFill>
        <p:spPr>
          <a:xfrm>
            <a:off x="968510" y="3858526"/>
            <a:ext cx="4100396" cy="6428474"/>
          </a:xfrm>
          <a:prstGeom prst="rect">
            <a:avLst/>
          </a:prstGeom>
          <a:noFill/>
          <a:ln>
            <a:noFill/>
          </a:ln>
        </p:spPr>
      </p:pic>
      <p:pic>
        <p:nvPicPr>
          <p:cNvPr id="100" name="Google Shape;100;p14"/>
          <p:cNvPicPr preferRelativeResize="0"/>
          <p:nvPr/>
        </p:nvPicPr>
        <p:blipFill rotWithShape="1">
          <a:blip r:embed="rId5">
            <a:alphaModFix/>
          </a:blip>
          <a:srcRect b="0" l="27004" r="27004" t="0"/>
          <a:stretch/>
        </p:blipFill>
        <p:spPr>
          <a:xfrm>
            <a:off x="7093802" y="3858526"/>
            <a:ext cx="4100396" cy="6428474"/>
          </a:xfrm>
          <a:prstGeom prst="rect">
            <a:avLst/>
          </a:prstGeom>
          <a:noFill/>
          <a:ln>
            <a:noFill/>
          </a:ln>
        </p:spPr>
      </p:pic>
      <p:sp>
        <p:nvSpPr>
          <p:cNvPr id="101" name="Google Shape;101;p14"/>
          <p:cNvSpPr/>
          <p:nvPr/>
        </p:nvSpPr>
        <p:spPr>
          <a:xfrm>
            <a:off x="-1975999" y="-4806287"/>
            <a:ext cx="8198739" cy="8229600"/>
          </a:xfrm>
          <a:custGeom>
            <a:rect b="b" l="l" r="r" t="t"/>
            <a:pathLst>
              <a:path extrusionOk="0" h="8229600" w="8198739">
                <a:moveTo>
                  <a:pt x="0" y="0"/>
                </a:moveTo>
                <a:lnTo>
                  <a:pt x="8198739" y="0"/>
                </a:lnTo>
                <a:lnTo>
                  <a:pt x="8198739" y="8229600"/>
                </a:lnTo>
                <a:lnTo>
                  <a:pt x="0" y="8229600"/>
                </a:lnTo>
                <a:lnTo>
                  <a:pt x="0" y="0"/>
                </a:lnTo>
                <a:close/>
              </a:path>
            </a:pathLst>
          </a:custGeom>
          <a:blipFill rotWithShape="1">
            <a:blip r:embed="rId6">
              <a:alphaModFix/>
            </a:blip>
            <a:stretch>
              <a:fillRect b="0" l="0" r="0" t="0"/>
            </a:stretch>
          </a:blipFill>
          <a:ln>
            <a:noFill/>
          </a:ln>
        </p:spPr>
      </p:sp>
      <p:sp>
        <p:nvSpPr>
          <p:cNvPr id="102" name="Google Shape;102;p14"/>
          <p:cNvSpPr/>
          <p:nvPr/>
        </p:nvSpPr>
        <p:spPr>
          <a:xfrm flipH="1">
            <a:off x="12065260" y="-4806287"/>
            <a:ext cx="8198739" cy="8229600"/>
          </a:xfrm>
          <a:custGeom>
            <a:rect b="b" l="l" r="r" t="t"/>
            <a:pathLst>
              <a:path extrusionOk="0" h="8229600" w="8198739">
                <a:moveTo>
                  <a:pt x="8198739" y="0"/>
                </a:moveTo>
                <a:lnTo>
                  <a:pt x="0" y="0"/>
                </a:lnTo>
                <a:lnTo>
                  <a:pt x="0" y="8229600"/>
                </a:lnTo>
                <a:lnTo>
                  <a:pt x="8198739" y="8229600"/>
                </a:lnTo>
                <a:lnTo>
                  <a:pt x="8198739" y="0"/>
                </a:lnTo>
                <a:close/>
              </a:path>
            </a:pathLst>
          </a:custGeom>
          <a:blipFill rotWithShape="1">
            <a:blip r:embed="rId6">
              <a:alphaModFix/>
            </a:blip>
            <a:stretch>
              <a:fillRect b="0" l="0" r="0" t="0"/>
            </a:stretch>
          </a:blipFill>
          <a:ln>
            <a:noFill/>
          </a:ln>
        </p:spPr>
      </p:sp>
      <p:grpSp>
        <p:nvGrpSpPr>
          <p:cNvPr id="103" name="Google Shape;103;p14"/>
          <p:cNvGrpSpPr/>
          <p:nvPr/>
        </p:nvGrpSpPr>
        <p:grpSpPr>
          <a:xfrm>
            <a:off x="3562702" y="5347073"/>
            <a:ext cx="3207250" cy="2689772"/>
            <a:chOff x="0" y="-257175"/>
            <a:chExt cx="747987" cy="627303"/>
          </a:xfrm>
        </p:grpSpPr>
        <p:sp>
          <p:nvSpPr>
            <p:cNvPr id="104" name="Google Shape;104;p14"/>
            <p:cNvSpPr/>
            <p:nvPr/>
          </p:nvSpPr>
          <p:spPr>
            <a:xfrm>
              <a:off x="0" y="0"/>
              <a:ext cx="747987" cy="370128"/>
            </a:xfrm>
            <a:custGeom>
              <a:rect b="b" l="l" r="r" t="t"/>
              <a:pathLst>
                <a:path extrusionOk="0" h="370128" w="747987">
                  <a:moveTo>
                    <a:pt x="0" y="0"/>
                  </a:moveTo>
                  <a:lnTo>
                    <a:pt x="747987" y="0"/>
                  </a:lnTo>
                  <a:lnTo>
                    <a:pt x="747987" y="370128"/>
                  </a:lnTo>
                  <a:lnTo>
                    <a:pt x="0" y="370128"/>
                  </a:lnTo>
                  <a:close/>
                </a:path>
              </a:pathLst>
            </a:custGeom>
            <a:solidFill>
              <a:srgbClr val="372926"/>
            </a:solidFill>
            <a:ln>
              <a:noFill/>
            </a:ln>
          </p:spPr>
        </p:sp>
        <p:sp>
          <p:nvSpPr>
            <p:cNvPr id="105" name="Google Shape;105;p14"/>
            <p:cNvSpPr txBox="1"/>
            <p:nvPr/>
          </p:nvSpPr>
          <p:spPr>
            <a:xfrm>
              <a:off x="0" y="-257175"/>
              <a:ext cx="747987" cy="627303"/>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14"/>
          <p:cNvGrpSpPr/>
          <p:nvPr/>
        </p:nvGrpSpPr>
        <p:grpSpPr>
          <a:xfrm>
            <a:off x="5395581" y="7254641"/>
            <a:ext cx="3224993" cy="2704653"/>
            <a:chOff x="0" y="-257175"/>
            <a:chExt cx="747987" cy="627303"/>
          </a:xfrm>
        </p:grpSpPr>
        <p:sp>
          <p:nvSpPr>
            <p:cNvPr id="107" name="Google Shape;107;p14"/>
            <p:cNvSpPr/>
            <p:nvPr/>
          </p:nvSpPr>
          <p:spPr>
            <a:xfrm>
              <a:off x="0" y="0"/>
              <a:ext cx="747987" cy="370128"/>
            </a:xfrm>
            <a:custGeom>
              <a:rect b="b" l="l" r="r" t="t"/>
              <a:pathLst>
                <a:path extrusionOk="0" h="370128" w="747987">
                  <a:moveTo>
                    <a:pt x="0" y="0"/>
                  </a:moveTo>
                  <a:lnTo>
                    <a:pt x="747987" y="0"/>
                  </a:lnTo>
                  <a:lnTo>
                    <a:pt x="747987" y="370128"/>
                  </a:lnTo>
                  <a:lnTo>
                    <a:pt x="0" y="370128"/>
                  </a:lnTo>
                  <a:close/>
                </a:path>
              </a:pathLst>
            </a:custGeom>
            <a:solidFill>
              <a:srgbClr val="372926"/>
            </a:solidFill>
            <a:ln>
              <a:noFill/>
            </a:ln>
          </p:spPr>
        </p:sp>
        <p:sp>
          <p:nvSpPr>
            <p:cNvPr id="108" name="Google Shape;108;p14"/>
            <p:cNvSpPr txBox="1"/>
            <p:nvPr/>
          </p:nvSpPr>
          <p:spPr>
            <a:xfrm>
              <a:off x="0" y="-257175"/>
              <a:ext cx="747987" cy="627303"/>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 name="Google Shape;109;p14"/>
          <p:cNvGrpSpPr/>
          <p:nvPr/>
        </p:nvGrpSpPr>
        <p:grpSpPr>
          <a:xfrm>
            <a:off x="11518048" y="5607743"/>
            <a:ext cx="3206387" cy="2689048"/>
            <a:chOff x="0" y="-257175"/>
            <a:chExt cx="747987" cy="627303"/>
          </a:xfrm>
        </p:grpSpPr>
        <p:sp>
          <p:nvSpPr>
            <p:cNvPr id="110" name="Google Shape;110;p14"/>
            <p:cNvSpPr/>
            <p:nvPr/>
          </p:nvSpPr>
          <p:spPr>
            <a:xfrm>
              <a:off x="0" y="0"/>
              <a:ext cx="747987" cy="370128"/>
            </a:xfrm>
            <a:custGeom>
              <a:rect b="b" l="l" r="r" t="t"/>
              <a:pathLst>
                <a:path extrusionOk="0" h="370128" w="747987">
                  <a:moveTo>
                    <a:pt x="0" y="0"/>
                  </a:moveTo>
                  <a:lnTo>
                    <a:pt x="747987" y="0"/>
                  </a:lnTo>
                  <a:lnTo>
                    <a:pt x="747987" y="370128"/>
                  </a:lnTo>
                  <a:lnTo>
                    <a:pt x="0" y="370128"/>
                  </a:lnTo>
                  <a:close/>
                </a:path>
              </a:pathLst>
            </a:custGeom>
            <a:solidFill>
              <a:srgbClr val="372926"/>
            </a:solidFill>
            <a:ln>
              <a:noFill/>
            </a:ln>
          </p:spPr>
        </p:sp>
        <p:sp>
          <p:nvSpPr>
            <p:cNvPr id="111" name="Google Shape;111;p14"/>
            <p:cNvSpPr txBox="1"/>
            <p:nvPr/>
          </p:nvSpPr>
          <p:spPr>
            <a:xfrm>
              <a:off x="0" y="-257175"/>
              <a:ext cx="747987" cy="627303"/>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 name="Google Shape;112;p14"/>
          <p:cNvGrpSpPr/>
          <p:nvPr/>
        </p:nvGrpSpPr>
        <p:grpSpPr>
          <a:xfrm>
            <a:off x="3733481" y="5704669"/>
            <a:ext cx="2865692" cy="2157667"/>
            <a:chOff x="0" y="-257175"/>
            <a:chExt cx="801387" cy="603388"/>
          </a:xfrm>
        </p:grpSpPr>
        <p:sp>
          <p:nvSpPr>
            <p:cNvPr id="113" name="Google Shape;113;p14"/>
            <p:cNvSpPr/>
            <p:nvPr/>
          </p:nvSpPr>
          <p:spPr>
            <a:xfrm>
              <a:off x="0" y="0"/>
              <a:ext cx="801387" cy="346213"/>
            </a:xfrm>
            <a:custGeom>
              <a:rect b="b" l="l" r="r" t="t"/>
              <a:pathLst>
                <a:path extrusionOk="0" h="346213" w="801387">
                  <a:moveTo>
                    <a:pt x="0" y="0"/>
                  </a:moveTo>
                  <a:lnTo>
                    <a:pt x="801387" y="0"/>
                  </a:lnTo>
                  <a:lnTo>
                    <a:pt x="801387" y="346213"/>
                  </a:lnTo>
                  <a:lnTo>
                    <a:pt x="0" y="346213"/>
                  </a:lnTo>
                  <a:close/>
                </a:path>
              </a:pathLst>
            </a:custGeom>
            <a:solidFill>
              <a:srgbClr val="000000">
                <a:alpha val="0"/>
              </a:srgbClr>
            </a:solidFill>
            <a:ln cap="sq" cmpd="sng" w="28575">
              <a:solidFill>
                <a:srgbClr val="FFFFFF"/>
              </a:solidFill>
              <a:prstDash val="lgDash"/>
              <a:miter lim="8000"/>
              <a:headEnd len="sm" w="sm" type="none"/>
              <a:tailEnd len="sm" w="sm" type="none"/>
            </a:ln>
          </p:spPr>
        </p:sp>
        <p:sp>
          <p:nvSpPr>
            <p:cNvPr id="114" name="Google Shape;114;p14"/>
            <p:cNvSpPr txBox="1"/>
            <p:nvPr/>
          </p:nvSpPr>
          <p:spPr>
            <a:xfrm>
              <a:off x="0" y="-257175"/>
              <a:ext cx="801387" cy="603388"/>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 name="Google Shape;115;p14"/>
          <p:cNvGrpSpPr/>
          <p:nvPr/>
        </p:nvGrpSpPr>
        <p:grpSpPr>
          <a:xfrm>
            <a:off x="5567304" y="7614214"/>
            <a:ext cx="2881546" cy="2169606"/>
            <a:chOff x="0" y="-257175"/>
            <a:chExt cx="801387" cy="603388"/>
          </a:xfrm>
        </p:grpSpPr>
        <p:sp>
          <p:nvSpPr>
            <p:cNvPr id="116" name="Google Shape;116;p14"/>
            <p:cNvSpPr/>
            <p:nvPr/>
          </p:nvSpPr>
          <p:spPr>
            <a:xfrm>
              <a:off x="0" y="0"/>
              <a:ext cx="801387" cy="346213"/>
            </a:xfrm>
            <a:custGeom>
              <a:rect b="b" l="l" r="r" t="t"/>
              <a:pathLst>
                <a:path extrusionOk="0" h="346213" w="801387">
                  <a:moveTo>
                    <a:pt x="0" y="0"/>
                  </a:moveTo>
                  <a:lnTo>
                    <a:pt x="801387" y="0"/>
                  </a:lnTo>
                  <a:lnTo>
                    <a:pt x="801387" y="346213"/>
                  </a:lnTo>
                  <a:lnTo>
                    <a:pt x="0" y="346213"/>
                  </a:lnTo>
                  <a:close/>
                </a:path>
              </a:pathLst>
            </a:custGeom>
            <a:solidFill>
              <a:srgbClr val="000000">
                <a:alpha val="0"/>
              </a:srgbClr>
            </a:solidFill>
            <a:ln cap="sq" cmpd="sng" w="28575">
              <a:solidFill>
                <a:srgbClr val="FFFFFF"/>
              </a:solidFill>
              <a:prstDash val="lgDash"/>
              <a:miter lim="8000"/>
              <a:headEnd len="sm" w="sm" type="none"/>
              <a:tailEnd len="sm" w="sm" type="none"/>
            </a:ln>
          </p:spPr>
        </p:sp>
        <p:sp>
          <p:nvSpPr>
            <p:cNvPr id="117" name="Google Shape;117;p14"/>
            <p:cNvSpPr txBox="1"/>
            <p:nvPr/>
          </p:nvSpPr>
          <p:spPr>
            <a:xfrm>
              <a:off x="0" y="-257175"/>
              <a:ext cx="801387" cy="603388"/>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p14"/>
          <p:cNvGrpSpPr/>
          <p:nvPr/>
        </p:nvGrpSpPr>
        <p:grpSpPr>
          <a:xfrm>
            <a:off x="11688781" y="5965242"/>
            <a:ext cx="2864921" cy="2157087"/>
            <a:chOff x="0" y="-257175"/>
            <a:chExt cx="801387" cy="603388"/>
          </a:xfrm>
        </p:grpSpPr>
        <p:sp>
          <p:nvSpPr>
            <p:cNvPr id="119" name="Google Shape;119;p14"/>
            <p:cNvSpPr/>
            <p:nvPr/>
          </p:nvSpPr>
          <p:spPr>
            <a:xfrm>
              <a:off x="0" y="0"/>
              <a:ext cx="801387" cy="346213"/>
            </a:xfrm>
            <a:custGeom>
              <a:rect b="b" l="l" r="r" t="t"/>
              <a:pathLst>
                <a:path extrusionOk="0" h="346213" w="801387">
                  <a:moveTo>
                    <a:pt x="0" y="0"/>
                  </a:moveTo>
                  <a:lnTo>
                    <a:pt x="801387" y="0"/>
                  </a:lnTo>
                  <a:lnTo>
                    <a:pt x="801387" y="346213"/>
                  </a:lnTo>
                  <a:lnTo>
                    <a:pt x="0" y="346213"/>
                  </a:lnTo>
                  <a:close/>
                </a:path>
              </a:pathLst>
            </a:custGeom>
            <a:solidFill>
              <a:srgbClr val="000000">
                <a:alpha val="0"/>
              </a:srgbClr>
            </a:solidFill>
            <a:ln cap="sq" cmpd="sng" w="28575">
              <a:solidFill>
                <a:srgbClr val="FFFFFF"/>
              </a:solidFill>
              <a:prstDash val="lgDash"/>
              <a:miter lim="8000"/>
              <a:headEnd len="sm" w="sm" type="none"/>
              <a:tailEnd len="sm" w="sm" type="none"/>
            </a:ln>
          </p:spPr>
        </p:sp>
        <p:sp>
          <p:nvSpPr>
            <p:cNvPr id="120" name="Google Shape;120;p14"/>
            <p:cNvSpPr txBox="1"/>
            <p:nvPr/>
          </p:nvSpPr>
          <p:spPr>
            <a:xfrm>
              <a:off x="0" y="-257175"/>
              <a:ext cx="801387" cy="603388"/>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14"/>
          <p:cNvSpPr txBox="1"/>
          <p:nvPr/>
        </p:nvSpPr>
        <p:spPr>
          <a:xfrm>
            <a:off x="5068906" y="1454949"/>
            <a:ext cx="8150188" cy="1236765"/>
          </a:xfrm>
          <a:prstGeom prst="rect">
            <a:avLst/>
          </a:prstGeom>
          <a:noFill/>
          <a:ln>
            <a:noFill/>
          </a:ln>
        </p:spPr>
        <p:txBody>
          <a:bodyPr anchorCtr="0" anchor="t" bIns="0" lIns="0" spcFirstLastPara="1" rIns="0" wrap="square" tIns="0">
            <a:spAutoFit/>
          </a:bodyPr>
          <a:lstStyle/>
          <a:p>
            <a:pPr indent="0" lvl="0" marL="0" marR="0" rtl="0" algn="ctr">
              <a:lnSpc>
                <a:spcPct val="91000"/>
              </a:lnSpc>
              <a:spcBef>
                <a:spcPts val="0"/>
              </a:spcBef>
              <a:spcAft>
                <a:spcPts val="0"/>
              </a:spcAft>
              <a:buNone/>
            </a:pPr>
            <a:r>
              <a:rPr b="1" i="0" lang="en-US" sz="10045" u="none" cap="none" strike="noStrike">
                <a:solidFill>
                  <a:srgbClr val="FFFFFF"/>
                </a:solidFill>
                <a:latin typeface="Montserrat Black"/>
                <a:ea typeface="Montserrat Black"/>
                <a:cs typeface="Montserrat Black"/>
                <a:sym typeface="Montserrat Black"/>
              </a:rPr>
              <a:t>OUR TEAM</a:t>
            </a:r>
            <a:endParaRPr/>
          </a:p>
        </p:txBody>
      </p:sp>
      <p:sp>
        <p:nvSpPr>
          <p:cNvPr id="122" name="Google Shape;122;p14"/>
          <p:cNvSpPr txBox="1"/>
          <p:nvPr/>
        </p:nvSpPr>
        <p:spPr>
          <a:xfrm>
            <a:off x="3733481" y="6992686"/>
            <a:ext cx="2865692" cy="246888"/>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1800" u="none" cap="none" strike="noStrike">
                <a:solidFill>
                  <a:srgbClr val="FFFFFF"/>
                </a:solidFill>
                <a:latin typeface="Open Sans"/>
                <a:ea typeface="Open Sans"/>
                <a:cs typeface="Open Sans"/>
                <a:sym typeface="Open Sans"/>
              </a:rPr>
              <a:t>Sumaiya binte mizan </a:t>
            </a:r>
            <a:endParaRPr/>
          </a:p>
        </p:txBody>
      </p:sp>
      <p:sp>
        <p:nvSpPr>
          <p:cNvPr id="123" name="Google Shape;123;p14"/>
          <p:cNvSpPr txBox="1"/>
          <p:nvPr/>
        </p:nvSpPr>
        <p:spPr>
          <a:xfrm>
            <a:off x="5739295" y="8910745"/>
            <a:ext cx="2537565" cy="295706"/>
          </a:xfrm>
          <a:prstGeom prst="rect">
            <a:avLst/>
          </a:prstGeom>
          <a:noFill/>
          <a:ln>
            <a:noFill/>
          </a:ln>
        </p:spPr>
        <p:txBody>
          <a:bodyPr anchorCtr="0" anchor="t" bIns="0" lIns="0" spcFirstLastPara="1" rIns="0" wrap="square" tIns="0">
            <a:spAutoFit/>
          </a:bodyPr>
          <a:lstStyle/>
          <a:p>
            <a:pPr indent="0" lvl="0" marL="0" marR="0" rtl="0" algn="ctr">
              <a:lnSpc>
                <a:spcPct val="112007"/>
              </a:lnSpc>
              <a:spcBef>
                <a:spcPts val="0"/>
              </a:spcBef>
              <a:spcAft>
                <a:spcPts val="0"/>
              </a:spcAft>
              <a:buNone/>
            </a:pPr>
            <a:r>
              <a:rPr b="1" i="0" lang="en-US" sz="2082" u="none" cap="none" strike="noStrike">
                <a:solidFill>
                  <a:srgbClr val="FFFFFF"/>
                </a:solidFill>
                <a:latin typeface="Open Sans"/>
                <a:ea typeface="Open Sans"/>
                <a:cs typeface="Open Sans"/>
                <a:sym typeface="Open Sans"/>
              </a:rPr>
              <a:t>Md. Abir hasan</a:t>
            </a:r>
            <a:endParaRPr/>
          </a:p>
        </p:txBody>
      </p:sp>
      <p:sp>
        <p:nvSpPr>
          <p:cNvPr id="124" name="Google Shape;124;p14"/>
          <p:cNvSpPr txBox="1"/>
          <p:nvPr/>
        </p:nvSpPr>
        <p:spPr>
          <a:xfrm>
            <a:off x="11852459" y="7252846"/>
            <a:ext cx="2537565" cy="295706"/>
          </a:xfrm>
          <a:prstGeom prst="rect">
            <a:avLst/>
          </a:prstGeom>
          <a:noFill/>
          <a:ln>
            <a:noFill/>
          </a:ln>
        </p:spPr>
        <p:txBody>
          <a:bodyPr anchorCtr="0" anchor="t" bIns="0" lIns="0" spcFirstLastPara="1" rIns="0" wrap="square" tIns="0">
            <a:spAutoFit/>
          </a:bodyPr>
          <a:lstStyle/>
          <a:p>
            <a:pPr indent="0" lvl="0" marL="0" marR="0" rtl="0" algn="ctr">
              <a:lnSpc>
                <a:spcPct val="112007"/>
              </a:lnSpc>
              <a:spcBef>
                <a:spcPts val="0"/>
              </a:spcBef>
              <a:spcAft>
                <a:spcPts val="0"/>
              </a:spcAft>
              <a:buNone/>
            </a:pPr>
            <a:r>
              <a:rPr b="1" i="0" lang="en-US" sz="2082" u="none" cap="none" strike="noStrike">
                <a:solidFill>
                  <a:srgbClr val="FFFFFF"/>
                </a:solidFill>
                <a:latin typeface="Open Sans"/>
                <a:ea typeface="Open Sans"/>
                <a:cs typeface="Open Sans"/>
                <a:sym typeface="Open Sans"/>
              </a:rPr>
              <a:t>Siam akter mim</a:t>
            </a:r>
            <a:endParaRPr/>
          </a:p>
        </p:txBody>
      </p:sp>
      <p:sp>
        <p:nvSpPr>
          <p:cNvPr id="125" name="Google Shape;125;p14"/>
          <p:cNvSpPr txBox="1"/>
          <p:nvPr/>
        </p:nvSpPr>
        <p:spPr>
          <a:xfrm>
            <a:off x="3897545" y="7297917"/>
            <a:ext cx="2537565" cy="215089"/>
          </a:xfrm>
          <a:prstGeom prst="rect">
            <a:avLst/>
          </a:prstGeom>
          <a:noFill/>
          <a:ln>
            <a:noFill/>
          </a:ln>
        </p:spPr>
        <p:txBody>
          <a:bodyPr anchorCtr="0" anchor="t" bIns="0" lIns="0" spcFirstLastPara="1" rIns="0" wrap="square" tIns="0">
            <a:spAutoFit/>
          </a:bodyPr>
          <a:lstStyle/>
          <a:p>
            <a:pPr indent="0" lvl="0" marL="0" marR="0" rtl="0" algn="ctr">
              <a:lnSpc>
                <a:spcPct val="112010"/>
              </a:lnSpc>
              <a:spcBef>
                <a:spcPts val="0"/>
              </a:spcBef>
              <a:spcAft>
                <a:spcPts val="0"/>
              </a:spcAft>
              <a:buNone/>
            </a:pPr>
            <a:r>
              <a:rPr b="0" i="0" lang="en-US" sz="1482" u="none" cap="none" strike="noStrike">
                <a:solidFill>
                  <a:srgbClr val="FFFFFF"/>
                </a:solidFill>
                <a:latin typeface="Open Sans"/>
                <a:ea typeface="Open Sans"/>
                <a:cs typeface="Open Sans"/>
                <a:sym typeface="Open Sans"/>
              </a:rPr>
              <a:t>221-15-5077</a:t>
            </a:r>
            <a:endParaRPr/>
          </a:p>
        </p:txBody>
      </p:sp>
      <p:sp>
        <p:nvSpPr>
          <p:cNvPr id="126" name="Google Shape;126;p14"/>
          <p:cNvSpPr txBox="1"/>
          <p:nvPr/>
        </p:nvSpPr>
        <p:spPr>
          <a:xfrm>
            <a:off x="5739295" y="9215976"/>
            <a:ext cx="2537565" cy="215089"/>
          </a:xfrm>
          <a:prstGeom prst="rect">
            <a:avLst/>
          </a:prstGeom>
          <a:noFill/>
          <a:ln>
            <a:noFill/>
          </a:ln>
        </p:spPr>
        <p:txBody>
          <a:bodyPr anchorCtr="0" anchor="t" bIns="0" lIns="0" spcFirstLastPara="1" rIns="0" wrap="square" tIns="0">
            <a:spAutoFit/>
          </a:bodyPr>
          <a:lstStyle/>
          <a:p>
            <a:pPr indent="0" lvl="0" marL="0" marR="0" rtl="0" algn="ctr">
              <a:lnSpc>
                <a:spcPct val="112010"/>
              </a:lnSpc>
              <a:spcBef>
                <a:spcPts val="0"/>
              </a:spcBef>
              <a:spcAft>
                <a:spcPts val="0"/>
              </a:spcAft>
              <a:buNone/>
            </a:pPr>
            <a:r>
              <a:rPr b="0" i="0" lang="en-US" sz="1482" u="none" cap="none" strike="noStrike">
                <a:solidFill>
                  <a:srgbClr val="FFFFFF"/>
                </a:solidFill>
                <a:latin typeface="Open Sans"/>
                <a:ea typeface="Open Sans"/>
                <a:cs typeface="Open Sans"/>
                <a:sym typeface="Open Sans"/>
              </a:rPr>
              <a:t>221- 15 - 5459</a:t>
            </a:r>
            <a:endParaRPr/>
          </a:p>
        </p:txBody>
      </p:sp>
      <p:sp>
        <p:nvSpPr>
          <p:cNvPr id="127" name="Google Shape;127;p14"/>
          <p:cNvSpPr txBox="1"/>
          <p:nvPr/>
        </p:nvSpPr>
        <p:spPr>
          <a:xfrm>
            <a:off x="11852459" y="7558077"/>
            <a:ext cx="2537565" cy="215089"/>
          </a:xfrm>
          <a:prstGeom prst="rect">
            <a:avLst/>
          </a:prstGeom>
          <a:noFill/>
          <a:ln>
            <a:noFill/>
          </a:ln>
        </p:spPr>
        <p:txBody>
          <a:bodyPr anchorCtr="0" anchor="t" bIns="0" lIns="0" spcFirstLastPara="1" rIns="0" wrap="square" tIns="0">
            <a:spAutoFit/>
          </a:bodyPr>
          <a:lstStyle/>
          <a:p>
            <a:pPr indent="0" lvl="0" marL="0" marR="0" rtl="0" algn="ctr">
              <a:lnSpc>
                <a:spcPct val="112010"/>
              </a:lnSpc>
              <a:spcBef>
                <a:spcPts val="0"/>
              </a:spcBef>
              <a:spcAft>
                <a:spcPts val="0"/>
              </a:spcAft>
              <a:buNone/>
            </a:pPr>
            <a:r>
              <a:rPr b="0" i="0" lang="en-US" sz="1482" u="none" cap="none" strike="noStrike">
                <a:solidFill>
                  <a:srgbClr val="FFFFFF"/>
                </a:solidFill>
                <a:latin typeface="Open Sans"/>
                <a:ea typeface="Open Sans"/>
                <a:cs typeface="Open Sans"/>
                <a:sym typeface="Open Sans"/>
              </a:rPr>
              <a:t>221 - 15 - 5924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8887" l="0" r="0" t="-8887"/>
            </a:stretch>
          </a:blipFill>
          <a:ln>
            <a:noFill/>
          </a:ln>
        </p:spPr>
      </p:sp>
      <p:grpSp>
        <p:nvGrpSpPr>
          <p:cNvPr id="133" name="Google Shape;133;p15"/>
          <p:cNvGrpSpPr/>
          <p:nvPr/>
        </p:nvGrpSpPr>
        <p:grpSpPr>
          <a:xfrm>
            <a:off x="9144000" y="-79031"/>
            <a:ext cx="9144000" cy="10413658"/>
            <a:chOff x="0" y="-38100"/>
            <a:chExt cx="4408231" cy="5020320"/>
          </a:xfrm>
        </p:grpSpPr>
        <p:sp>
          <p:nvSpPr>
            <p:cNvPr id="134" name="Google Shape;134;p15"/>
            <p:cNvSpPr/>
            <p:nvPr/>
          </p:nvSpPr>
          <p:spPr>
            <a:xfrm>
              <a:off x="0" y="0"/>
              <a:ext cx="4408231" cy="4982220"/>
            </a:xfrm>
            <a:custGeom>
              <a:rect b="b" l="l" r="r" t="t"/>
              <a:pathLst>
                <a:path extrusionOk="0" h="4982220" w="4408231">
                  <a:moveTo>
                    <a:pt x="0" y="0"/>
                  </a:moveTo>
                  <a:lnTo>
                    <a:pt x="4408231" y="0"/>
                  </a:lnTo>
                  <a:lnTo>
                    <a:pt x="4408231" y="4982220"/>
                  </a:lnTo>
                  <a:lnTo>
                    <a:pt x="0" y="4982220"/>
                  </a:lnTo>
                  <a:close/>
                </a:path>
              </a:pathLst>
            </a:custGeom>
            <a:solidFill>
              <a:srgbClr val="E6DACE"/>
            </a:solidFill>
            <a:ln>
              <a:noFill/>
            </a:ln>
          </p:spPr>
        </p:sp>
        <p:sp>
          <p:nvSpPr>
            <p:cNvPr id="135" name="Google Shape;135;p15"/>
            <p:cNvSpPr txBox="1"/>
            <p:nvPr/>
          </p:nvSpPr>
          <p:spPr>
            <a:xfrm>
              <a:off x="0" y="-38100"/>
              <a:ext cx="4408231" cy="5020319"/>
            </a:xfrm>
            <a:prstGeom prst="rect">
              <a:avLst/>
            </a:prstGeom>
            <a:noFill/>
            <a:ln>
              <a:noFill/>
            </a:ln>
          </p:spPr>
          <p:txBody>
            <a:bodyPr anchorCtr="0" anchor="ctr" bIns="50800" lIns="50800" spcFirstLastPara="1" rIns="50800" wrap="square" tIns="50800">
              <a:noAutofit/>
            </a:bodyPr>
            <a:lstStyle/>
            <a:p>
              <a:pPr indent="0" lvl="0" marL="0" marR="0" rtl="0" algn="ctr">
                <a:lnSpc>
                  <a:spcPct val="159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 name="Google Shape;136;p15"/>
          <p:cNvGrpSpPr/>
          <p:nvPr/>
        </p:nvGrpSpPr>
        <p:grpSpPr>
          <a:xfrm>
            <a:off x="1028700" y="1028700"/>
            <a:ext cx="16230600" cy="8229600"/>
            <a:chOff x="0" y="0"/>
            <a:chExt cx="4274726" cy="2167467"/>
          </a:xfrm>
        </p:grpSpPr>
        <p:sp>
          <p:nvSpPr>
            <p:cNvPr id="137" name="Google Shape;137;p15"/>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solidFill>
              <a:srgbClr val="181818"/>
            </a:solidFill>
            <a:ln>
              <a:noFill/>
            </a:ln>
          </p:spPr>
        </p:sp>
        <p:sp>
          <p:nvSpPr>
            <p:cNvPr id="138" name="Google Shape;138;p15"/>
            <p:cNvSpPr txBox="1"/>
            <p:nvPr/>
          </p:nvSpPr>
          <p:spPr>
            <a:xfrm>
              <a:off x="0" y="19050"/>
              <a:ext cx="4274726" cy="2148417"/>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 name="Google Shape;139;p15"/>
          <p:cNvSpPr/>
          <p:nvPr/>
        </p:nvSpPr>
        <p:spPr>
          <a:xfrm>
            <a:off x="10528516" y="7105360"/>
            <a:ext cx="1974766" cy="283873"/>
          </a:xfrm>
          <a:custGeom>
            <a:rect b="b" l="l" r="r" t="t"/>
            <a:pathLst>
              <a:path extrusionOk="0" h="283873" w="1974766">
                <a:moveTo>
                  <a:pt x="0" y="0"/>
                </a:moveTo>
                <a:lnTo>
                  <a:pt x="1974766" y="0"/>
                </a:lnTo>
                <a:lnTo>
                  <a:pt x="1974766" y="283872"/>
                </a:lnTo>
                <a:lnTo>
                  <a:pt x="0" y="283872"/>
                </a:lnTo>
                <a:lnTo>
                  <a:pt x="0" y="0"/>
                </a:lnTo>
                <a:close/>
              </a:path>
            </a:pathLst>
          </a:custGeom>
          <a:blipFill rotWithShape="1">
            <a:blip r:embed="rId4">
              <a:alphaModFix/>
            </a:blip>
            <a:stretch>
              <a:fillRect b="0" l="0" r="0" t="0"/>
            </a:stretch>
          </a:blipFill>
          <a:ln>
            <a:noFill/>
          </a:ln>
        </p:spPr>
      </p:sp>
      <p:grpSp>
        <p:nvGrpSpPr>
          <p:cNvPr id="140" name="Google Shape;140;p15"/>
          <p:cNvGrpSpPr/>
          <p:nvPr/>
        </p:nvGrpSpPr>
        <p:grpSpPr>
          <a:xfrm>
            <a:off x="13502403" y="2718849"/>
            <a:ext cx="1508127" cy="4615017"/>
            <a:chOff x="0" y="-47625"/>
            <a:chExt cx="379146" cy="1160225"/>
          </a:xfrm>
        </p:grpSpPr>
        <p:sp>
          <p:nvSpPr>
            <p:cNvPr id="141" name="Google Shape;141;p15"/>
            <p:cNvSpPr/>
            <p:nvPr/>
          </p:nvSpPr>
          <p:spPr>
            <a:xfrm>
              <a:off x="0" y="0"/>
              <a:ext cx="379146" cy="1112600"/>
            </a:xfrm>
            <a:custGeom>
              <a:rect b="b" l="l" r="r" t="t"/>
              <a:pathLst>
                <a:path extrusionOk="0" h="1112600" w="379146">
                  <a:moveTo>
                    <a:pt x="0" y="0"/>
                  </a:moveTo>
                  <a:lnTo>
                    <a:pt x="379146" y="0"/>
                  </a:lnTo>
                  <a:lnTo>
                    <a:pt x="379146" y="1112600"/>
                  </a:lnTo>
                  <a:lnTo>
                    <a:pt x="0" y="1112600"/>
                  </a:lnTo>
                  <a:close/>
                </a:path>
              </a:pathLst>
            </a:custGeom>
            <a:solidFill>
              <a:srgbClr val="D4D4D4"/>
            </a:solidFill>
            <a:ln>
              <a:noFill/>
            </a:ln>
          </p:spPr>
        </p:sp>
        <p:sp>
          <p:nvSpPr>
            <p:cNvPr id="142" name="Google Shape;142;p15"/>
            <p:cNvSpPr txBox="1"/>
            <p:nvPr/>
          </p:nvSpPr>
          <p:spPr>
            <a:xfrm>
              <a:off x="0" y="-47625"/>
              <a:ext cx="379146" cy="1160225"/>
            </a:xfrm>
            <a:prstGeom prst="rect">
              <a:avLst/>
            </a:prstGeom>
            <a:noFill/>
            <a:ln>
              <a:noFill/>
            </a:ln>
          </p:spPr>
          <p:txBody>
            <a:bodyPr anchorCtr="0" anchor="ctr" bIns="50800" lIns="50800" spcFirstLastPara="1" rIns="50800" wrap="square" tIns="50800">
              <a:noAutofit/>
            </a:bodyPr>
            <a:lstStyle/>
            <a:p>
              <a:pPr indent="0" lvl="0" marL="0" marR="0" rtl="0" algn="ctr">
                <a:lnSpc>
                  <a:spcPct val="185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3" name="Google Shape;143;p15"/>
          <p:cNvGrpSpPr/>
          <p:nvPr/>
        </p:nvGrpSpPr>
        <p:grpSpPr>
          <a:xfrm>
            <a:off x="8324790" y="2741273"/>
            <a:ext cx="1497836" cy="4615017"/>
            <a:chOff x="0" y="-47625"/>
            <a:chExt cx="376559" cy="1160225"/>
          </a:xfrm>
        </p:grpSpPr>
        <p:sp>
          <p:nvSpPr>
            <p:cNvPr id="144" name="Google Shape;144;p15"/>
            <p:cNvSpPr/>
            <p:nvPr/>
          </p:nvSpPr>
          <p:spPr>
            <a:xfrm>
              <a:off x="0" y="0"/>
              <a:ext cx="376559" cy="1112600"/>
            </a:xfrm>
            <a:custGeom>
              <a:rect b="b" l="l" r="r" t="t"/>
              <a:pathLst>
                <a:path extrusionOk="0" h="1112600" w="376559">
                  <a:moveTo>
                    <a:pt x="0" y="0"/>
                  </a:moveTo>
                  <a:lnTo>
                    <a:pt x="376559" y="0"/>
                  </a:lnTo>
                  <a:lnTo>
                    <a:pt x="376559" y="1112600"/>
                  </a:lnTo>
                  <a:lnTo>
                    <a:pt x="0" y="1112600"/>
                  </a:lnTo>
                  <a:close/>
                </a:path>
              </a:pathLst>
            </a:custGeom>
            <a:solidFill>
              <a:srgbClr val="D4D4D4"/>
            </a:solidFill>
            <a:ln>
              <a:noFill/>
            </a:ln>
          </p:spPr>
        </p:sp>
        <p:sp>
          <p:nvSpPr>
            <p:cNvPr id="145" name="Google Shape;145;p15"/>
            <p:cNvSpPr txBox="1"/>
            <p:nvPr/>
          </p:nvSpPr>
          <p:spPr>
            <a:xfrm>
              <a:off x="0" y="-47625"/>
              <a:ext cx="376559" cy="1160225"/>
            </a:xfrm>
            <a:prstGeom prst="rect">
              <a:avLst/>
            </a:prstGeom>
            <a:noFill/>
            <a:ln>
              <a:noFill/>
            </a:ln>
          </p:spPr>
          <p:txBody>
            <a:bodyPr anchorCtr="0" anchor="ctr" bIns="50800" lIns="50800" spcFirstLastPara="1" rIns="50800" wrap="square" tIns="50800">
              <a:noAutofit/>
            </a:bodyPr>
            <a:lstStyle/>
            <a:p>
              <a:pPr indent="0" lvl="0" marL="0" marR="0" rtl="0" algn="ctr">
                <a:lnSpc>
                  <a:spcPct val="185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6" name="Google Shape;146;p15"/>
          <p:cNvGrpSpPr/>
          <p:nvPr/>
        </p:nvGrpSpPr>
        <p:grpSpPr>
          <a:xfrm>
            <a:off x="13560093" y="2329667"/>
            <a:ext cx="1050405" cy="5408006"/>
            <a:chOff x="0" y="-47625"/>
            <a:chExt cx="227742" cy="1172528"/>
          </a:xfrm>
        </p:grpSpPr>
        <p:sp>
          <p:nvSpPr>
            <p:cNvPr id="147" name="Google Shape;147;p15"/>
            <p:cNvSpPr/>
            <p:nvPr/>
          </p:nvSpPr>
          <p:spPr>
            <a:xfrm>
              <a:off x="0" y="0"/>
              <a:ext cx="227742" cy="1124903"/>
            </a:xfrm>
            <a:custGeom>
              <a:rect b="b" l="l" r="r" t="t"/>
              <a:pathLst>
                <a:path extrusionOk="0" h="1124903" w="227742">
                  <a:moveTo>
                    <a:pt x="0" y="0"/>
                  </a:moveTo>
                  <a:lnTo>
                    <a:pt x="227742" y="0"/>
                  </a:lnTo>
                  <a:lnTo>
                    <a:pt x="227742" y="1124903"/>
                  </a:lnTo>
                  <a:lnTo>
                    <a:pt x="0" y="1124903"/>
                  </a:lnTo>
                  <a:close/>
                </a:path>
              </a:pathLst>
            </a:custGeom>
            <a:solidFill>
              <a:srgbClr val="EFECEC"/>
            </a:solidFill>
            <a:ln>
              <a:noFill/>
            </a:ln>
          </p:spPr>
        </p:sp>
        <p:sp>
          <p:nvSpPr>
            <p:cNvPr id="148" name="Google Shape;148;p15"/>
            <p:cNvSpPr txBox="1"/>
            <p:nvPr/>
          </p:nvSpPr>
          <p:spPr>
            <a:xfrm>
              <a:off x="0" y="-47625"/>
              <a:ext cx="227742" cy="1172528"/>
            </a:xfrm>
            <a:prstGeom prst="rect">
              <a:avLst/>
            </a:prstGeom>
            <a:noFill/>
            <a:ln>
              <a:noFill/>
            </a:ln>
          </p:spPr>
          <p:txBody>
            <a:bodyPr anchorCtr="0" anchor="ctr" bIns="50800" lIns="50800" spcFirstLastPara="1" rIns="50800" wrap="square" tIns="50800">
              <a:noAutofit/>
            </a:bodyPr>
            <a:lstStyle/>
            <a:p>
              <a:pPr indent="0" lvl="0" marL="0" marR="0" rtl="0" algn="ctr">
                <a:lnSpc>
                  <a:spcPct val="185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p15"/>
          <p:cNvGrpSpPr/>
          <p:nvPr/>
        </p:nvGrpSpPr>
        <p:grpSpPr>
          <a:xfrm>
            <a:off x="8721301" y="2307244"/>
            <a:ext cx="1050996" cy="5408006"/>
            <a:chOff x="0" y="-47625"/>
            <a:chExt cx="227870" cy="1172528"/>
          </a:xfrm>
        </p:grpSpPr>
        <p:sp>
          <p:nvSpPr>
            <p:cNvPr id="150" name="Google Shape;150;p15"/>
            <p:cNvSpPr/>
            <p:nvPr/>
          </p:nvSpPr>
          <p:spPr>
            <a:xfrm>
              <a:off x="0" y="0"/>
              <a:ext cx="227870" cy="1124903"/>
            </a:xfrm>
            <a:custGeom>
              <a:rect b="b" l="l" r="r" t="t"/>
              <a:pathLst>
                <a:path extrusionOk="0" h="1124903" w="227870">
                  <a:moveTo>
                    <a:pt x="0" y="0"/>
                  </a:moveTo>
                  <a:lnTo>
                    <a:pt x="227870" y="0"/>
                  </a:lnTo>
                  <a:lnTo>
                    <a:pt x="227870" y="1124903"/>
                  </a:lnTo>
                  <a:lnTo>
                    <a:pt x="0" y="1124903"/>
                  </a:lnTo>
                  <a:close/>
                </a:path>
              </a:pathLst>
            </a:custGeom>
            <a:solidFill>
              <a:srgbClr val="EFECEC"/>
            </a:solidFill>
            <a:ln>
              <a:noFill/>
            </a:ln>
          </p:spPr>
        </p:sp>
        <p:sp>
          <p:nvSpPr>
            <p:cNvPr id="151" name="Google Shape;151;p15"/>
            <p:cNvSpPr txBox="1"/>
            <p:nvPr/>
          </p:nvSpPr>
          <p:spPr>
            <a:xfrm>
              <a:off x="0" y="-47625"/>
              <a:ext cx="227870" cy="1172528"/>
            </a:xfrm>
            <a:prstGeom prst="rect">
              <a:avLst/>
            </a:prstGeom>
            <a:noFill/>
            <a:ln>
              <a:noFill/>
            </a:ln>
          </p:spPr>
          <p:txBody>
            <a:bodyPr anchorCtr="0" anchor="ctr" bIns="50800" lIns="50800" spcFirstLastPara="1" rIns="50800" wrap="square" tIns="50800">
              <a:noAutofit/>
            </a:bodyPr>
            <a:lstStyle/>
            <a:p>
              <a:pPr indent="0" lvl="0" marL="0" marR="0" rtl="0" algn="ctr">
                <a:lnSpc>
                  <a:spcPct val="185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 name="Google Shape;152;p15"/>
          <p:cNvGrpSpPr/>
          <p:nvPr/>
        </p:nvGrpSpPr>
        <p:grpSpPr>
          <a:xfrm>
            <a:off x="9073708" y="2075675"/>
            <a:ext cx="5182758" cy="5907424"/>
            <a:chOff x="0" y="-47625"/>
            <a:chExt cx="1081512" cy="1232731"/>
          </a:xfrm>
        </p:grpSpPr>
        <p:sp>
          <p:nvSpPr>
            <p:cNvPr id="153" name="Google Shape;153;p15"/>
            <p:cNvSpPr/>
            <p:nvPr/>
          </p:nvSpPr>
          <p:spPr>
            <a:xfrm>
              <a:off x="0" y="0"/>
              <a:ext cx="1081512" cy="1185106"/>
            </a:xfrm>
            <a:custGeom>
              <a:rect b="b" l="l" r="r" t="t"/>
              <a:pathLst>
                <a:path extrusionOk="0" h="1185106" w="1081512">
                  <a:moveTo>
                    <a:pt x="0" y="0"/>
                  </a:moveTo>
                  <a:lnTo>
                    <a:pt x="1081512" y="0"/>
                  </a:lnTo>
                  <a:lnTo>
                    <a:pt x="1081512" y="1185106"/>
                  </a:lnTo>
                  <a:lnTo>
                    <a:pt x="0" y="1185106"/>
                  </a:lnTo>
                  <a:close/>
                </a:path>
              </a:pathLst>
            </a:custGeom>
            <a:solidFill>
              <a:srgbClr val="FFFFFF"/>
            </a:solidFill>
            <a:ln>
              <a:noFill/>
            </a:ln>
          </p:spPr>
        </p:sp>
        <p:sp>
          <p:nvSpPr>
            <p:cNvPr id="154" name="Google Shape;154;p15"/>
            <p:cNvSpPr txBox="1"/>
            <p:nvPr/>
          </p:nvSpPr>
          <p:spPr>
            <a:xfrm>
              <a:off x="0" y="-47625"/>
              <a:ext cx="1081512" cy="1232731"/>
            </a:xfrm>
            <a:prstGeom prst="rect">
              <a:avLst/>
            </a:prstGeom>
            <a:noFill/>
            <a:ln>
              <a:noFill/>
            </a:ln>
          </p:spPr>
          <p:txBody>
            <a:bodyPr anchorCtr="0" anchor="ctr" bIns="50800" lIns="50800" spcFirstLastPara="1" rIns="50800" wrap="square" tIns="50800">
              <a:noAutofit/>
            </a:bodyPr>
            <a:lstStyle/>
            <a:p>
              <a:pPr indent="0" lvl="0" marL="0" marR="0" rtl="0" algn="ctr">
                <a:lnSpc>
                  <a:spcPct val="185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5" name="Google Shape;155;p15"/>
          <p:cNvSpPr/>
          <p:nvPr/>
        </p:nvSpPr>
        <p:spPr>
          <a:xfrm>
            <a:off x="10096147" y="2930711"/>
            <a:ext cx="3137882" cy="3137869"/>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5">
              <a:alphaModFix/>
            </a:blip>
            <a:stretch>
              <a:fillRect b="-43790" l="-14660" r="-7102" t="-7267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flipH="1">
            <a:off x="7023332" y="4816621"/>
            <a:ext cx="653758" cy="653758"/>
          </a:xfrm>
          <a:custGeom>
            <a:rect b="b" l="l" r="r" t="t"/>
            <a:pathLst>
              <a:path extrusionOk="0" h="653758" w="653758">
                <a:moveTo>
                  <a:pt x="653758" y="0"/>
                </a:moveTo>
                <a:lnTo>
                  <a:pt x="0" y="0"/>
                </a:lnTo>
                <a:lnTo>
                  <a:pt x="0" y="653758"/>
                </a:lnTo>
                <a:lnTo>
                  <a:pt x="653758" y="653758"/>
                </a:lnTo>
                <a:lnTo>
                  <a:pt x="653758" y="0"/>
                </a:lnTo>
                <a:close/>
              </a:path>
            </a:pathLst>
          </a:custGeom>
          <a:blipFill rotWithShape="1">
            <a:blip r:embed="rId6">
              <a:alphaModFix/>
            </a:blip>
            <a:stretch>
              <a:fillRect b="0" l="0" r="0" t="0"/>
            </a:stretch>
          </a:blipFill>
          <a:ln>
            <a:noFill/>
          </a:ln>
        </p:spPr>
      </p:sp>
      <p:sp>
        <p:nvSpPr>
          <p:cNvPr id="157" name="Google Shape;157;p15"/>
          <p:cNvSpPr/>
          <p:nvPr/>
        </p:nvSpPr>
        <p:spPr>
          <a:xfrm>
            <a:off x="15658230" y="4816621"/>
            <a:ext cx="653758" cy="653758"/>
          </a:xfrm>
          <a:custGeom>
            <a:rect b="b" l="l" r="r" t="t"/>
            <a:pathLst>
              <a:path extrusionOk="0" h="653758" w="653758">
                <a:moveTo>
                  <a:pt x="0" y="0"/>
                </a:moveTo>
                <a:lnTo>
                  <a:pt x="653759" y="0"/>
                </a:lnTo>
                <a:lnTo>
                  <a:pt x="653759" y="653758"/>
                </a:lnTo>
                <a:lnTo>
                  <a:pt x="0" y="653758"/>
                </a:lnTo>
                <a:lnTo>
                  <a:pt x="0" y="0"/>
                </a:lnTo>
                <a:close/>
              </a:path>
            </a:pathLst>
          </a:custGeom>
          <a:blipFill rotWithShape="1">
            <a:blip r:embed="rId6">
              <a:alphaModFix/>
            </a:blip>
            <a:stretch>
              <a:fillRect b="0" l="0" r="0" t="0"/>
            </a:stretch>
          </a:blipFill>
          <a:ln>
            <a:noFill/>
          </a:ln>
        </p:spPr>
      </p:sp>
      <p:sp>
        <p:nvSpPr>
          <p:cNvPr id="158" name="Google Shape;158;p15"/>
          <p:cNvSpPr/>
          <p:nvPr/>
        </p:nvSpPr>
        <p:spPr>
          <a:xfrm>
            <a:off x="1976011" y="7010768"/>
            <a:ext cx="484843" cy="484843"/>
          </a:xfrm>
          <a:custGeom>
            <a:rect b="b" l="l" r="r" t="t"/>
            <a:pathLst>
              <a:path extrusionOk="0" h="484843" w="484843">
                <a:moveTo>
                  <a:pt x="0" y="0"/>
                </a:moveTo>
                <a:lnTo>
                  <a:pt x="484844" y="0"/>
                </a:lnTo>
                <a:lnTo>
                  <a:pt x="484844" y="484843"/>
                </a:lnTo>
                <a:lnTo>
                  <a:pt x="0" y="484843"/>
                </a:lnTo>
                <a:lnTo>
                  <a:pt x="0" y="0"/>
                </a:lnTo>
                <a:close/>
              </a:path>
            </a:pathLst>
          </a:custGeom>
          <a:blipFill rotWithShape="1">
            <a:blip r:embed="rId7">
              <a:alphaModFix/>
            </a:blip>
            <a:stretch>
              <a:fillRect b="0" l="0" r="0" t="0"/>
            </a:stretch>
          </a:blipFill>
          <a:ln>
            <a:noFill/>
          </a:ln>
        </p:spPr>
      </p:sp>
      <p:sp>
        <p:nvSpPr>
          <p:cNvPr id="159" name="Google Shape;159;p15"/>
          <p:cNvSpPr txBox="1"/>
          <p:nvPr/>
        </p:nvSpPr>
        <p:spPr>
          <a:xfrm>
            <a:off x="1976011" y="2896164"/>
            <a:ext cx="5047320" cy="15517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966" u="none" cap="none" strike="noStrike">
                <a:solidFill>
                  <a:srgbClr val="FFFFFF"/>
                </a:solidFill>
                <a:latin typeface="Montserrat"/>
                <a:ea typeface="Montserrat"/>
                <a:cs typeface="Montserrat"/>
                <a:sym typeface="Montserrat"/>
              </a:rPr>
              <a:t>SUBMITTED TO</a:t>
            </a:r>
            <a:endParaRPr/>
          </a:p>
        </p:txBody>
      </p:sp>
      <p:sp>
        <p:nvSpPr>
          <p:cNvPr id="160" name="Google Shape;160;p15"/>
          <p:cNvSpPr txBox="1"/>
          <p:nvPr/>
        </p:nvSpPr>
        <p:spPr>
          <a:xfrm>
            <a:off x="9665307" y="6444776"/>
            <a:ext cx="3999561" cy="527681"/>
          </a:xfrm>
          <a:prstGeom prst="rect">
            <a:avLst/>
          </a:prstGeom>
          <a:noFill/>
          <a:ln>
            <a:noFill/>
          </a:ln>
        </p:spPr>
        <p:txBody>
          <a:bodyPr anchorCtr="0" anchor="t" bIns="0" lIns="0" spcFirstLastPara="1" rIns="0" wrap="square" tIns="0">
            <a:spAutoFit/>
          </a:bodyPr>
          <a:lstStyle/>
          <a:p>
            <a:pPr indent="0" lvl="0" marL="0" marR="0" rtl="0" algn="ctr">
              <a:lnSpc>
                <a:spcPct val="112014"/>
              </a:lnSpc>
              <a:spcBef>
                <a:spcPts val="0"/>
              </a:spcBef>
              <a:spcAft>
                <a:spcPts val="0"/>
              </a:spcAft>
              <a:buNone/>
            </a:pPr>
            <a:r>
              <a:rPr b="1" i="0" lang="en-US" sz="3762" u="none" cap="none" strike="noStrike">
                <a:solidFill>
                  <a:srgbClr val="000000"/>
                </a:solidFill>
                <a:latin typeface="Open Sans"/>
                <a:ea typeface="Open Sans"/>
                <a:cs typeface="Open Sans"/>
                <a:sym typeface="Open Sans"/>
              </a:rPr>
              <a:t>Mustofa ahmed</a:t>
            </a:r>
            <a:endParaRPr/>
          </a:p>
        </p:txBody>
      </p:sp>
      <p:sp>
        <p:nvSpPr>
          <p:cNvPr id="161" name="Google Shape;161;p15"/>
          <p:cNvSpPr txBox="1"/>
          <p:nvPr/>
        </p:nvSpPr>
        <p:spPr>
          <a:xfrm>
            <a:off x="2755427" y="7054752"/>
            <a:ext cx="3061368" cy="3492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000" u="none" cap="none" strike="noStrike">
                <a:solidFill>
                  <a:srgbClr val="FFFFFF"/>
                </a:solidFill>
                <a:latin typeface="Open Sans"/>
                <a:ea typeface="Open Sans"/>
                <a:cs typeface="Open Sans"/>
                <a:sym typeface="Open Sans"/>
              </a:rPr>
              <a:t>CSE 226</a:t>
            </a:r>
            <a:endParaRPr/>
          </a:p>
        </p:txBody>
      </p:sp>
      <p:sp>
        <p:nvSpPr>
          <p:cNvPr id="162" name="Google Shape;162;p15"/>
          <p:cNvSpPr txBox="1"/>
          <p:nvPr/>
        </p:nvSpPr>
        <p:spPr>
          <a:xfrm>
            <a:off x="1976011" y="5433947"/>
            <a:ext cx="3466461" cy="10795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0" i="0" lang="en-US" sz="2000" u="none" cap="none" strike="noStrike">
                <a:solidFill>
                  <a:srgbClr val="FFFFFF"/>
                </a:solidFill>
                <a:latin typeface="Open Sans"/>
                <a:ea typeface="Open Sans"/>
                <a:cs typeface="Open Sans"/>
                <a:sym typeface="Open Sans"/>
              </a:rPr>
              <a:t>Lecturer</a:t>
            </a:r>
            <a:endParaRPr/>
          </a:p>
          <a:p>
            <a:pPr indent="0" lvl="0" marL="0" marR="0" rtl="0" algn="just">
              <a:lnSpc>
                <a:spcPct val="145000"/>
              </a:lnSpc>
              <a:spcBef>
                <a:spcPts val="0"/>
              </a:spcBef>
              <a:spcAft>
                <a:spcPts val="0"/>
              </a:spcAft>
              <a:buNone/>
            </a:pPr>
            <a:r>
              <a:rPr b="0" i="0" lang="en-US" sz="2000" u="none" cap="none" strike="noStrike">
                <a:solidFill>
                  <a:srgbClr val="FFFFFF"/>
                </a:solidFill>
                <a:latin typeface="Open Sans"/>
                <a:ea typeface="Open Sans"/>
                <a:cs typeface="Open Sans"/>
                <a:sym typeface="Open Sans"/>
              </a:rPr>
              <a:t>Daffodil international university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166" name="Shape 166"/>
        <p:cNvGrpSpPr/>
        <p:nvPr/>
      </p:nvGrpSpPr>
      <p:grpSpPr>
        <a:xfrm>
          <a:off x="0" y="0"/>
          <a:ext cx="0" cy="0"/>
          <a:chOff x="0" y="0"/>
          <a:chExt cx="0" cy="0"/>
        </a:xfrm>
      </p:grpSpPr>
      <p:pic>
        <p:nvPicPr>
          <p:cNvPr id="167" name="Google Shape;167;p16"/>
          <p:cNvPicPr preferRelativeResize="0"/>
          <p:nvPr/>
        </p:nvPicPr>
        <p:blipFill rotWithShape="1">
          <a:blip r:embed="rId3">
            <a:alphaModFix/>
          </a:blip>
          <a:srcRect b="33502" l="0" r="0" t="33503"/>
          <a:stretch/>
        </p:blipFill>
        <p:spPr>
          <a:xfrm>
            <a:off x="29327" y="0"/>
            <a:ext cx="18258637" cy="3388542"/>
          </a:xfrm>
          <a:prstGeom prst="rect">
            <a:avLst/>
          </a:prstGeom>
          <a:noFill/>
          <a:ln>
            <a:noFill/>
          </a:ln>
        </p:spPr>
      </p:pic>
      <p:grpSp>
        <p:nvGrpSpPr>
          <p:cNvPr id="168" name="Google Shape;168;p16"/>
          <p:cNvGrpSpPr/>
          <p:nvPr/>
        </p:nvGrpSpPr>
        <p:grpSpPr>
          <a:xfrm>
            <a:off x="15846742" y="-129881"/>
            <a:ext cx="2441258" cy="2555692"/>
            <a:chOff x="0" y="-38100"/>
            <a:chExt cx="812800" cy="850900"/>
          </a:xfrm>
        </p:grpSpPr>
        <p:sp>
          <p:nvSpPr>
            <p:cNvPr id="169" name="Google Shape;169;p1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170" name="Google Shape;170;p16"/>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16"/>
          <p:cNvSpPr txBox="1"/>
          <p:nvPr/>
        </p:nvSpPr>
        <p:spPr>
          <a:xfrm>
            <a:off x="8281139" y="3942953"/>
            <a:ext cx="1471839" cy="103363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01.</a:t>
            </a:r>
            <a:endParaRPr/>
          </a:p>
        </p:txBody>
      </p:sp>
      <p:sp>
        <p:nvSpPr>
          <p:cNvPr id="172" name="Google Shape;172;p16"/>
          <p:cNvSpPr txBox="1"/>
          <p:nvPr/>
        </p:nvSpPr>
        <p:spPr>
          <a:xfrm>
            <a:off x="8281139" y="5002014"/>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02.</a:t>
            </a:r>
            <a:endParaRPr/>
          </a:p>
        </p:txBody>
      </p:sp>
      <p:sp>
        <p:nvSpPr>
          <p:cNvPr id="173" name="Google Shape;173;p16"/>
          <p:cNvSpPr txBox="1"/>
          <p:nvPr/>
        </p:nvSpPr>
        <p:spPr>
          <a:xfrm>
            <a:off x="12924320" y="3944068"/>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06.</a:t>
            </a:r>
            <a:endParaRPr/>
          </a:p>
        </p:txBody>
      </p:sp>
      <p:sp>
        <p:nvSpPr>
          <p:cNvPr id="174" name="Google Shape;174;p16"/>
          <p:cNvSpPr txBox="1"/>
          <p:nvPr/>
        </p:nvSpPr>
        <p:spPr>
          <a:xfrm>
            <a:off x="8281139" y="6062630"/>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03.</a:t>
            </a:r>
            <a:endParaRPr/>
          </a:p>
        </p:txBody>
      </p:sp>
      <p:sp>
        <p:nvSpPr>
          <p:cNvPr id="175" name="Google Shape;175;p16"/>
          <p:cNvSpPr txBox="1"/>
          <p:nvPr/>
        </p:nvSpPr>
        <p:spPr>
          <a:xfrm>
            <a:off x="12924320" y="5002014"/>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07.</a:t>
            </a:r>
            <a:endParaRPr/>
          </a:p>
        </p:txBody>
      </p:sp>
      <p:sp>
        <p:nvSpPr>
          <p:cNvPr id="176" name="Google Shape;176;p16"/>
          <p:cNvSpPr txBox="1"/>
          <p:nvPr/>
        </p:nvSpPr>
        <p:spPr>
          <a:xfrm>
            <a:off x="8281139" y="7280036"/>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04.</a:t>
            </a:r>
            <a:endParaRPr/>
          </a:p>
        </p:txBody>
      </p:sp>
      <p:sp>
        <p:nvSpPr>
          <p:cNvPr id="177" name="Google Shape;177;p16"/>
          <p:cNvSpPr txBox="1"/>
          <p:nvPr/>
        </p:nvSpPr>
        <p:spPr>
          <a:xfrm>
            <a:off x="8281139" y="8325272"/>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05.</a:t>
            </a:r>
            <a:endParaRPr/>
          </a:p>
        </p:txBody>
      </p:sp>
      <p:sp>
        <p:nvSpPr>
          <p:cNvPr id="178" name="Google Shape;178;p16"/>
          <p:cNvSpPr txBox="1"/>
          <p:nvPr/>
        </p:nvSpPr>
        <p:spPr>
          <a:xfrm>
            <a:off x="12924320" y="7163195"/>
            <a:ext cx="1583511" cy="1150788"/>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en-US" sz="5693" u="none" cap="none" strike="noStrike">
                <a:solidFill>
                  <a:srgbClr val="FFFFFF"/>
                </a:solidFill>
                <a:latin typeface="Arial"/>
                <a:ea typeface="Arial"/>
                <a:cs typeface="Arial"/>
                <a:sym typeface="Arial"/>
              </a:rPr>
              <a:t>09.</a:t>
            </a:r>
            <a:endParaRPr/>
          </a:p>
        </p:txBody>
      </p:sp>
      <p:sp>
        <p:nvSpPr>
          <p:cNvPr id="179" name="Google Shape;179;p16"/>
          <p:cNvSpPr txBox="1"/>
          <p:nvPr/>
        </p:nvSpPr>
        <p:spPr>
          <a:xfrm>
            <a:off x="12924320" y="8210982"/>
            <a:ext cx="1471839" cy="1145686"/>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en-US" sz="5693" u="none" cap="none" strike="noStrike">
                <a:solidFill>
                  <a:srgbClr val="FFFFFF"/>
                </a:solidFill>
                <a:latin typeface="Arial"/>
                <a:ea typeface="Arial"/>
                <a:cs typeface="Arial"/>
                <a:sym typeface="Arial"/>
              </a:rPr>
              <a:t>10.</a:t>
            </a:r>
            <a:endParaRPr/>
          </a:p>
        </p:txBody>
      </p:sp>
      <p:sp>
        <p:nvSpPr>
          <p:cNvPr id="180" name="Google Shape;180;p16"/>
          <p:cNvSpPr txBox="1"/>
          <p:nvPr/>
        </p:nvSpPr>
        <p:spPr>
          <a:xfrm>
            <a:off x="12924320" y="6062630"/>
            <a:ext cx="1471839" cy="1031406"/>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FFFFFF"/>
                </a:solidFill>
                <a:latin typeface="Arial"/>
                <a:ea typeface="Arial"/>
                <a:cs typeface="Arial"/>
                <a:sym typeface="Arial"/>
              </a:rPr>
              <a:t>08.</a:t>
            </a:r>
            <a:endParaRPr/>
          </a:p>
        </p:txBody>
      </p:sp>
      <p:cxnSp>
        <p:nvCxnSpPr>
          <p:cNvPr id="181" name="Google Shape;181;p16"/>
          <p:cNvCxnSpPr/>
          <p:nvPr/>
        </p:nvCxnSpPr>
        <p:spPr>
          <a:xfrm>
            <a:off x="8281139" y="4971882"/>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2" name="Google Shape;182;p16"/>
          <p:cNvCxnSpPr/>
          <p:nvPr/>
        </p:nvCxnSpPr>
        <p:spPr>
          <a:xfrm>
            <a:off x="12924320" y="4962917"/>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3" name="Google Shape;183;p16"/>
          <p:cNvCxnSpPr/>
          <p:nvPr/>
        </p:nvCxnSpPr>
        <p:spPr>
          <a:xfrm>
            <a:off x="8281139" y="6020863"/>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4" name="Google Shape;184;p16"/>
          <p:cNvCxnSpPr/>
          <p:nvPr/>
        </p:nvCxnSpPr>
        <p:spPr>
          <a:xfrm>
            <a:off x="8281139" y="7181017"/>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5" name="Google Shape;185;p16"/>
          <p:cNvCxnSpPr/>
          <p:nvPr/>
        </p:nvCxnSpPr>
        <p:spPr>
          <a:xfrm>
            <a:off x="8281139" y="8278647"/>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6" name="Google Shape;186;p16"/>
          <p:cNvCxnSpPr/>
          <p:nvPr/>
        </p:nvCxnSpPr>
        <p:spPr>
          <a:xfrm>
            <a:off x="8281139" y="9399786"/>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7" name="Google Shape;187;p16"/>
          <p:cNvCxnSpPr/>
          <p:nvPr/>
        </p:nvCxnSpPr>
        <p:spPr>
          <a:xfrm>
            <a:off x="12924320" y="8278647"/>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8" name="Google Shape;188;p16"/>
          <p:cNvCxnSpPr/>
          <p:nvPr/>
        </p:nvCxnSpPr>
        <p:spPr>
          <a:xfrm>
            <a:off x="12924320" y="9399786"/>
            <a:ext cx="3902610" cy="0"/>
          </a:xfrm>
          <a:prstGeom prst="straightConnector1">
            <a:avLst/>
          </a:prstGeom>
          <a:noFill/>
          <a:ln cap="flat" cmpd="sng" w="19050">
            <a:solidFill>
              <a:srgbClr val="B58E5B"/>
            </a:solidFill>
            <a:prstDash val="solid"/>
            <a:round/>
            <a:headEnd len="sm" w="sm" type="none"/>
            <a:tailEnd len="sm" w="sm" type="none"/>
          </a:ln>
        </p:spPr>
      </p:cxnSp>
      <p:cxnSp>
        <p:nvCxnSpPr>
          <p:cNvPr id="189" name="Google Shape;189;p16"/>
          <p:cNvCxnSpPr/>
          <p:nvPr/>
        </p:nvCxnSpPr>
        <p:spPr>
          <a:xfrm>
            <a:off x="12924320" y="6011898"/>
            <a:ext cx="3902610" cy="0"/>
          </a:xfrm>
          <a:prstGeom prst="straightConnector1">
            <a:avLst/>
          </a:prstGeom>
          <a:noFill/>
          <a:ln cap="flat" cmpd="sng" w="19050">
            <a:solidFill>
              <a:srgbClr val="B58E5B"/>
            </a:solidFill>
            <a:prstDash val="solid"/>
            <a:round/>
            <a:headEnd len="sm" w="sm" type="none"/>
            <a:tailEnd len="sm" w="sm" type="none"/>
          </a:ln>
        </p:spPr>
      </p:cxnSp>
      <p:cxnSp>
        <p:nvCxnSpPr>
          <p:cNvPr id="190" name="Google Shape;190;p16"/>
          <p:cNvCxnSpPr/>
          <p:nvPr/>
        </p:nvCxnSpPr>
        <p:spPr>
          <a:xfrm>
            <a:off x="12924320" y="7181017"/>
            <a:ext cx="3902610" cy="0"/>
          </a:xfrm>
          <a:prstGeom prst="straightConnector1">
            <a:avLst/>
          </a:prstGeom>
          <a:noFill/>
          <a:ln cap="flat" cmpd="sng" w="19050">
            <a:solidFill>
              <a:srgbClr val="B58E5B"/>
            </a:solidFill>
            <a:prstDash val="solid"/>
            <a:round/>
            <a:headEnd len="sm" w="sm" type="none"/>
            <a:tailEnd len="sm" w="sm" type="none"/>
          </a:ln>
        </p:spPr>
      </p:cxnSp>
      <p:sp>
        <p:nvSpPr>
          <p:cNvPr id="191" name="Google Shape;191;p16"/>
          <p:cNvSpPr/>
          <p:nvPr/>
        </p:nvSpPr>
        <p:spPr>
          <a:xfrm>
            <a:off x="16449675" y="587486"/>
            <a:ext cx="1235392" cy="1235392"/>
          </a:xfrm>
          <a:custGeom>
            <a:rect b="b" l="l" r="r" t="t"/>
            <a:pathLst>
              <a:path extrusionOk="0" h="1235392" w="1235392">
                <a:moveTo>
                  <a:pt x="0" y="0"/>
                </a:moveTo>
                <a:lnTo>
                  <a:pt x="1235392" y="0"/>
                </a:lnTo>
                <a:lnTo>
                  <a:pt x="1235392" y="1235392"/>
                </a:lnTo>
                <a:lnTo>
                  <a:pt x="0" y="1235392"/>
                </a:lnTo>
                <a:lnTo>
                  <a:pt x="0" y="0"/>
                </a:lnTo>
                <a:close/>
              </a:path>
            </a:pathLst>
          </a:custGeom>
          <a:blipFill rotWithShape="1">
            <a:blip r:embed="rId4">
              <a:alphaModFix/>
            </a:blip>
            <a:stretch>
              <a:fillRect b="0" l="0" r="0" t="0"/>
            </a:stretch>
          </a:blipFill>
          <a:ln>
            <a:noFill/>
          </a:ln>
        </p:spPr>
      </p:sp>
      <p:sp>
        <p:nvSpPr>
          <p:cNvPr id="192" name="Google Shape;192;p16"/>
          <p:cNvSpPr txBox="1"/>
          <p:nvPr/>
        </p:nvSpPr>
        <p:spPr>
          <a:xfrm>
            <a:off x="1028700" y="753589"/>
            <a:ext cx="3195262" cy="267462"/>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800" u="none" cap="none" strike="noStrike">
                <a:solidFill>
                  <a:srgbClr val="FFFFFF"/>
                </a:solidFill>
                <a:latin typeface="Arial"/>
                <a:ea typeface="Arial"/>
                <a:cs typeface="Arial"/>
                <a:sym typeface="Arial"/>
              </a:rPr>
              <a:t>VINTIQ. COM</a:t>
            </a:r>
            <a:endParaRPr/>
          </a:p>
        </p:txBody>
      </p:sp>
      <p:sp>
        <p:nvSpPr>
          <p:cNvPr id="193" name="Google Shape;193;p16"/>
          <p:cNvSpPr txBox="1"/>
          <p:nvPr/>
        </p:nvSpPr>
        <p:spPr>
          <a:xfrm>
            <a:off x="8281139" y="753589"/>
            <a:ext cx="3195262" cy="267462"/>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800" u="none" cap="none" strike="noStrike">
                <a:solidFill>
                  <a:srgbClr val="FFFFFF"/>
                </a:solidFill>
                <a:latin typeface="Arial"/>
                <a:ea typeface="Arial"/>
                <a:cs typeface="Arial"/>
                <a:sym typeface="Arial"/>
              </a:rPr>
              <a:t>VINTIQ </a:t>
            </a:r>
            <a:endParaRPr/>
          </a:p>
        </p:txBody>
      </p:sp>
      <p:grpSp>
        <p:nvGrpSpPr>
          <p:cNvPr id="194" name="Google Shape;194;p16"/>
          <p:cNvGrpSpPr/>
          <p:nvPr/>
        </p:nvGrpSpPr>
        <p:grpSpPr>
          <a:xfrm>
            <a:off x="1581609" y="8319935"/>
            <a:ext cx="917503" cy="917503"/>
            <a:chOff x="0" y="0"/>
            <a:chExt cx="812800" cy="812800"/>
          </a:xfrm>
        </p:grpSpPr>
        <p:sp>
          <p:nvSpPr>
            <p:cNvPr id="195" name="Google Shape;195;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D0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16"/>
          <p:cNvGrpSpPr/>
          <p:nvPr/>
        </p:nvGrpSpPr>
        <p:grpSpPr>
          <a:xfrm>
            <a:off x="2860310" y="8319935"/>
            <a:ext cx="917503" cy="917503"/>
            <a:chOff x="0" y="0"/>
            <a:chExt cx="812800" cy="812800"/>
          </a:xfrm>
        </p:grpSpPr>
        <p:sp>
          <p:nvSpPr>
            <p:cNvPr id="198" name="Google Shape;198;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C6E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16"/>
          <p:cNvGrpSpPr/>
          <p:nvPr/>
        </p:nvGrpSpPr>
        <p:grpSpPr>
          <a:xfrm>
            <a:off x="942259" y="8319935"/>
            <a:ext cx="917503" cy="917503"/>
            <a:chOff x="0" y="0"/>
            <a:chExt cx="812800" cy="812800"/>
          </a:xfrm>
        </p:grpSpPr>
        <p:sp>
          <p:nvSpPr>
            <p:cNvPr id="201" name="Google Shape;201;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p16"/>
          <p:cNvGrpSpPr/>
          <p:nvPr/>
        </p:nvGrpSpPr>
        <p:grpSpPr>
          <a:xfrm>
            <a:off x="2220960" y="8319935"/>
            <a:ext cx="917503" cy="917503"/>
            <a:chOff x="0" y="0"/>
            <a:chExt cx="812800" cy="812800"/>
          </a:xfrm>
        </p:grpSpPr>
        <p:sp>
          <p:nvSpPr>
            <p:cNvPr id="204" name="Google Shape;204;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16"/>
          <p:cNvGrpSpPr/>
          <p:nvPr/>
        </p:nvGrpSpPr>
        <p:grpSpPr>
          <a:xfrm>
            <a:off x="3499660" y="8319935"/>
            <a:ext cx="917503" cy="917503"/>
            <a:chOff x="0" y="0"/>
            <a:chExt cx="812800" cy="812800"/>
          </a:xfrm>
        </p:grpSpPr>
        <p:sp>
          <p:nvSpPr>
            <p:cNvPr id="207" name="Google Shape;207;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16"/>
          <p:cNvSpPr txBox="1"/>
          <p:nvPr/>
        </p:nvSpPr>
        <p:spPr>
          <a:xfrm>
            <a:off x="942259" y="4062642"/>
            <a:ext cx="6355098" cy="2401442"/>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Table Of Contents</a:t>
            </a:r>
            <a:endParaRPr/>
          </a:p>
        </p:txBody>
      </p:sp>
      <p:sp>
        <p:nvSpPr>
          <p:cNvPr id="210" name="Google Shape;210;p16"/>
          <p:cNvSpPr txBox="1"/>
          <p:nvPr/>
        </p:nvSpPr>
        <p:spPr>
          <a:xfrm>
            <a:off x="9864650" y="4324897"/>
            <a:ext cx="2319099" cy="406562"/>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400" u="none" cap="none" strike="noStrike">
                <a:solidFill>
                  <a:srgbClr val="FFFFFF"/>
                </a:solidFill>
                <a:latin typeface="Arial"/>
                <a:ea typeface="Arial"/>
                <a:cs typeface="Arial"/>
                <a:sym typeface="Arial"/>
              </a:rPr>
              <a:t>Welcome</a:t>
            </a:r>
            <a:endParaRPr/>
          </a:p>
        </p:txBody>
      </p:sp>
      <p:sp>
        <p:nvSpPr>
          <p:cNvPr id="211" name="Google Shape;211;p16"/>
          <p:cNvSpPr txBox="1"/>
          <p:nvPr/>
        </p:nvSpPr>
        <p:spPr>
          <a:xfrm>
            <a:off x="9797975" y="5404949"/>
            <a:ext cx="2512286"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Other applications </a:t>
            </a:r>
            <a:endParaRPr/>
          </a:p>
        </p:txBody>
      </p:sp>
      <p:sp>
        <p:nvSpPr>
          <p:cNvPr id="212" name="Google Shape;212;p16"/>
          <p:cNvSpPr txBox="1"/>
          <p:nvPr/>
        </p:nvSpPr>
        <p:spPr>
          <a:xfrm>
            <a:off x="14507831" y="4347003"/>
            <a:ext cx="275146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Target audience </a:t>
            </a:r>
            <a:endParaRPr/>
          </a:p>
        </p:txBody>
      </p:sp>
      <p:sp>
        <p:nvSpPr>
          <p:cNvPr id="213" name="Google Shape;213;p16"/>
          <p:cNvSpPr txBox="1"/>
          <p:nvPr/>
        </p:nvSpPr>
        <p:spPr>
          <a:xfrm>
            <a:off x="9752977" y="8740586"/>
            <a:ext cx="231909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Vision &amp; Mission</a:t>
            </a:r>
            <a:endParaRPr/>
          </a:p>
        </p:txBody>
      </p:sp>
      <p:sp>
        <p:nvSpPr>
          <p:cNvPr id="214" name="Google Shape;214;p16"/>
          <p:cNvSpPr txBox="1"/>
          <p:nvPr/>
        </p:nvSpPr>
        <p:spPr>
          <a:xfrm>
            <a:off x="14507831" y="5404949"/>
            <a:ext cx="2677822"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Business model</a:t>
            </a:r>
            <a:endParaRPr/>
          </a:p>
        </p:txBody>
      </p:sp>
      <p:sp>
        <p:nvSpPr>
          <p:cNvPr id="215" name="Google Shape;215;p16"/>
          <p:cNvSpPr txBox="1"/>
          <p:nvPr/>
        </p:nvSpPr>
        <p:spPr>
          <a:xfrm>
            <a:off x="9752977" y="6257834"/>
            <a:ext cx="2319099" cy="669429"/>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Problem in other applications </a:t>
            </a:r>
            <a:endParaRPr/>
          </a:p>
        </p:txBody>
      </p:sp>
      <p:sp>
        <p:nvSpPr>
          <p:cNvPr id="216" name="Google Shape;216;p16"/>
          <p:cNvSpPr txBox="1"/>
          <p:nvPr/>
        </p:nvSpPr>
        <p:spPr>
          <a:xfrm>
            <a:off x="14564981" y="7682971"/>
            <a:ext cx="231909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Costs</a:t>
            </a:r>
            <a:endParaRPr/>
          </a:p>
        </p:txBody>
      </p:sp>
      <p:sp>
        <p:nvSpPr>
          <p:cNvPr id="217" name="Google Shape;217;p16"/>
          <p:cNvSpPr txBox="1"/>
          <p:nvPr/>
        </p:nvSpPr>
        <p:spPr>
          <a:xfrm>
            <a:off x="14507831" y="8728207"/>
            <a:ext cx="231909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Conclusion </a:t>
            </a:r>
            <a:endParaRPr/>
          </a:p>
        </p:txBody>
      </p:sp>
      <p:sp>
        <p:nvSpPr>
          <p:cNvPr id="218" name="Google Shape;218;p16"/>
          <p:cNvSpPr txBox="1"/>
          <p:nvPr/>
        </p:nvSpPr>
        <p:spPr>
          <a:xfrm>
            <a:off x="14526881" y="6425985"/>
            <a:ext cx="275146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Revenues </a:t>
            </a:r>
            <a:endParaRPr/>
          </a:p>
        </p:txBody>
      </p:sp>
      <p:sp>
        <p:nvSpPr>
          <p:cNvPr id="219" name="Google Shape;219;p16"/>
          <p:cNvSpPr txBox="1"/>
          <p:nvPr/>
        </p:nvSpPr>
        <p:spPr>
          <a:xfrm>
            <a:off x="9752977" y="7694213"/>
            <a:ext cx="2319099" cy="355104"/>
          </a:xfrm>
          <a:prstGeom prst="rect">
            <a:avLst/>
          </a:prstGeom>
          <a:noFill/>
          <a:ln>
            <a:noFill/>
          </a:ln>
        </p:spPr>
        <p:txBody>
          <a:bodyPr anchorCtr="0" anchor="t" bIns="0" lIns="0" spcFirstLastPara="1" rIns="0" wrap="square" tIns="0">
            <a:spAutoFit/>
          </a:bodyPr>
          <a:lstStyle/>
          <a:p>
            <a:pPr indent="0" lvl="0" marL="0" marR="0" rtl="0" algn="l">
              <a:lnSpc>
                <a:spcPct val="119013"/>
              </a:lnSpc>
              <a:spcBef>
                <a:spcPts val="0"/>
              </a:spcBef>
              <a:spcAft>
                <a:spcPts val="0"/>
              </a:spcAft>
              <a:buNone/>
            </a:pPr>
            <a:r>
              <a:rPr b="0" i="0" lang="en-US" sz="2109" u="none" cap="none" strike="noStrike">
                <a:solidFill>
                  <a:srgbClr val="FFFFFF"/>
                </a:solidFill>
                <a:latin typeface="Arial"/>
                <a:ea typeface="Arial"/>
                <a:cs typeface="Arial"/>
                <a:sym typeface="Arial"/>
              </a:rPr>
              <a:t>Introduction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0942" l="-24753" r="0" t="-50836"/>
            </a:stretch>
          </a:blipFill>
          <a:ln>
            <a:noFill/>
          </a:ln>
        </p:spPr>
      </p:sp>
      <p:sp>
        <p:nvSpPr>
          <p:cNvPr id="225" name="Google Shape;225;p17"/>
          <p:cNvSpPr txBox="1"/>
          <p:nvPr/>
        </p:nvSpPr>
        <p:spPr>
          <a:xfrm>
            <a:off x="10984509" y="6821916"/>
            <a:ext cx="5934057" cy="12687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D6D6D6"/>
                </a:solidFill>
                <a:latin typeface="Poppins"/>
                <a:ea typeface="Poppins"/>
                <a:cs typeface="Poppins"/>
                <a:sym typeface="Poppins"/>
              </a:rPr>
              <a:t>Every cup of coffee should be as unique as the person who drinks it. Coffee is more than just an ordinary drink. It's about the experience, the ritual, and the pursuit of perfection.</a:t>
            </a:r>
            <a:endParaRPr/>
          </a:p>
        </p:txBody>
      </p:sp>
      <p:pic>
        <p:nvPicPr>
          <p:cNvPr id="226" name="Google Shape;226;p17"/>
          <p:cNvPicPr preferRelativeResize="0"/>
          <p:nvPr/>
        </p:nvPicPr>
        <p:blipFill rotWithShape="1">
          <a:blip r:embed="rId4">
            <a:alphaModFix/>
          </a:blip>
          <a:srcRect b="0" l="7894" r="7894" t="0"/>
          <a:stretch/>
        </p:blipFill>
        <p:spPr>
          <a:xfrm>
            <a:off x="942259" y="585447"/>
            <a:ext cx="7303455" cy="8672853"/>
          </a:xfrm>
          <a:prstGeom prst="rect">
            <a:avLst/>
          </a:prstGeom>
          <a:noFill/>
          <a:ln>
            <a:noFill/>
          </a:ln>
        </p:spPr>
      </p:pic>
      <p:sp>
        <p:nvSpPr>
          <p:cNvPr id="227" name="Google Shape;227;p17"/>
          <p:cNvSpPr txBox="1"/>
          <p:nvPr/>
        </p:nvSpPr>
        <p:spPr>
          <a:xfrm>
            <a:off x="10984509" y="5153025"/>
            <a:ext cx="5389692" cy="144429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3600" u="none" cap="none" strike="noStrike">
                <a:solidFill>
                  <a:srgbClr val="FFFFFF"/>
                </a:solidFill>
                <a:latin typeface="Arial"/>
                <a:ea typeface="Arial"/>
                <a:cs typeface="Arial"/>
                <a:sym typeface="Arial"/>
              </a:rPr>
              <a:t>If you're ready for a perfect cup of coffee, let's get started.</a:t>
            </a:r>
            <a:endParaRPr/>
          </a:p>
        </p:txBody>
      </p:sp>
      <p:sp>
        <p:nvSpPr>
          <p:cNvPr id="228" name="Google Shape;228;p17"/>
          <p:cNvSpPr txBox="1"/>
          <p:nvPr/>
        </p:nvSpPr>
        <p:spPr>
          <a:xfrm>
            <a:off x="9158646" y="1932832"/>
            <a:ext cx="7390174" cy="2401442"/>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Welcome</a:t>
            </a:r>
            <a:endParaRPr/>
          </a:p>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Message</a:t>
            </a:r>
            <a:endParaRPr/>
          </a:p>
        </p:txBody>
      </p:sp>
      <p:cxnSp>
        <p:nvCxnSpPr>
          <p:cNvPr id="229" name="Google Shape;229;p17"/>
          <p:cNvCxnSpPr/>
          <p:nvPr/>
        </p:nvCxnSpPr>
        <p:spPr>
          <a:xfrm>
            <a:off x="9158646" y="1118784"/>
            <a:ext cx="2267684" cy="0"/>
          </a:xfrm>
          <a:prstGeom prst="straightConnector1">
            <a:avLst/>
          </a:prstGeom>
          <a:noFill/>
          <a:ln cap="rnd" cmpd="sng" w="28575">
            <a:solidFill>
              <a:srgbClr val="FFC259"/>
            </a:solidFill>
            <a:prstDash val="solid"/>
            <a:round/>
            <a:headEnd len="sm" w="sm" type="none"/>
            <a:tailEnd len="sm" w="sm" type="none"/>
          </a:ln>
        </p:spPr>
      </p:cxnSp>
      <p:cxnSp>
        <p:nvCxnSpPr>
          <p:cNvPr id="230" name="Google Shape;230;p17"/>
          <p:cNvCxnSpPr/>
          <p:nvPr/>
        </p:nvCxnSpPr>
        <p:spPr>
          <a:xfrm>
            <a:off x="3734545" y="8739456"/>
            <a:ext cx="13524755" cy="0"/>
          </a:xfrm>
          <a:prstGeom prst="straightConnector1">
            <a:avLst/>
          </a:prstGeom>
          <a:noFill/>
          <a:ln cap="rnd" cmpd="sng" w="28575">
            <a:solidFill>
              <a:srgbClr val="FFC259"/>
            </a:solidFill>
            <a:prstDash val="solid"/>
            <a:round/>
            <a:headEnd len="sm" w="sm" type="none"/>
            <a:tailEnd len="sm" w="sm" type="none"/>
          </a:ln>
        </p:spPr>
      </p:cxnSp>
      <p:grpSp>
        <p:nvGrpSpPr>
          <p:cNvPr id="231" name="Google Shape;231;p17"/>
          <p:cNvGrpSpPr/>
          <p:nvPr/>
        </p:nvGrpSpPr>
        <p:grpSpPr>
          <a:xfrm>
            <a:off x="942259" y="6847146"/>
            <a:ext cx="2303192" cy="2411154"/>
            <a:chOff x="0" y="-38100"/>
            <a:chExt cx="812800" cy="850900"/>
          </a:xfrm>
        </p:grpSpPr>
        <p:sp>
          <p:nvSpPr>
            <p:cNvPr id="232" name="Google Shape;232;p17"/>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233" name="Google Shape;233;p17"/>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4" name="Google Shape;234;p17"/>
          <p:cNvSpPr/>
          <p:nvPr/>
        </p:nvSpPr>
        <p:spPr>
          <a:xfrm>
            <a:off x="9144000" y="5143500"/>
            <a:ext cx="1292953" cy="1010855"/>
          </a:xfrm>
          <a:custGeom>
            <a:rect b="b" l="l" r="r" t="t"/>
            <a:pathLst>
              <a:path extrusionOk="0" h="1010855" w="1292953">
                <a:moveTo>
                  <a:pt x="0" y="0"/>
                </a:moveTo>
                <a:lnTo>
                  <a:pt x="1292953" y="0"/>
                </a:lnTo>
                <a:lnTo>
                  <a:pt x="1292953" y="1010855"/>
                </a:lnTo>
                <a:lnTo>
                  <a:pt x="0" y="1010855"/>
                </a:lnTo>
                <a:lnTo>
                  <a:pt x="0" y="0"/>
                </a:lnTo>
                <a:close/>
              </a:path>
            </a:pathLst>
          </a:custGeom>
          <a:blipFill rotWithShape="1">
            <a:blip r:embed="rId5">
              <a:alphaModFix/>
            </a:blip>
            <a:stretch>
              <a:fillRect b="0" l="0" r="0" t="0"/>
            </a:stretch>
          </a:blipFill>
          <a:ln>
            <a:noFill/>
          </a:ln>
        </p:spPr>
      </p:sp>
      <p:sp>
        <p:nvSpPr>
          <p:cNvPr id="235" name="Google Shape;235;p17"/>
          <p:cNvSpPr/>
          <p:nvPr/>
        </p:nvSpPr>
        <p:spPr>
          <a:xfrm>
            <a:off x="1432527" y="7445377"/>
            <a:ext cx="1322655" cy="1322655"/>
          </a:xfrm>
          <a:custGeom>
            <a:rect b="b" l="l" r="r" t="t"/>
            <a:pathLst>
              <a:path extrusionOk="0" h="1322655" w="1322655">
                <a:moveTo>
                  <a:pt x="0" y="0"/>
                </a:moveTo>
                <a:lnTo>
                  <a:pt x="1322655" y="0"/>
                </a:lnTo>
                <a:lnTo>
                  <a:pt x="1322655" y="1322654"/>
                </a:lnTo>
                <a:lnTo>
                  <a:pt x="0" y="1322654"/>
                </a:lnTo>
                <a:lnTo>
                  <a:pt x="0" y="0"/>
                </a:lnTo>
                <a:close/>
              </a:path>
            </a:pathLst>
          </a:custGeom>
          <a:blipFill rotWithShape="1">
            <a:blip r:embed="rId6">
              <a:alphaModFix/>
            </a:blip>
            <a:stretch>
              <a:fillRect b="0" l="0" r="0" t="0"/>
            </a:stretch>
          </a:blipFill>
          <a:ln>
            <a:noFill/>
          </a:ln>
        </p:spPr>
      </p:sp>
      <p:sp>
        <p:nvSpPr>
          <p:cNvPr id="236" name="Google Shape;236;p17"/>
          <p:cNvSpPr txBox="1"/>
          <p:nvPr/>
        </p:nvSpPr>
        <p:spPr>
          <a:xfrm>
            <a:off x="3734545" y="7637322"/>
            <a:ext cx="6055932" cy="464111"/>
          </a:xfrm>
          <a:prstGeom prst="rect">
            <a:avLst/>
          </a:prstGeom>
          <a:noFill/>
          <a:ln>
            <a:noFill/>
          </a:ln>
        </p:spPr>
        <p:txBody>
          <a:bodyPr anchorCtr="0" anchor="t" bIns="0" lIns="0" spcFirstLastPara="1" rIns="0" wrap="square" tIns="0">
            <a:spAutoFit/>
          </a:bodyPr>
          <a:lstStyle/>
          <a:p>
            <a:pPr indent="0" lvl="0" marL="0" marR="0" rtl="0" algn="l">
              <a:lnSpc>
                <a:spcPct val="119012"/>
              </a:lnSpc>
              <a:spcBef>
                <a:spcPts val="0"/>
              </a:spcBef>
              <a:spcAft>
                <a:spcPts val="0"/>
              </a:spcAft>
              <a:buNone/>
            </a:pPr>
            <a:r>
              <a:rPr b="0" i="0" lang="en-US" sz="2714" u="none" cap="none" strike="noStrike">
                <a:solidFill>
                  <a:srgbClr val="FFC259"/>
                </a:solidFill>
                <a:latin typeface="Arial"/>
                <a:ea typeface="Arial"/>
                <a:cs typeface="Arial"/>
                <a:sym typeface="Arial"/>
              </a:rPr>
              <a:t>Vintiq. Com</a:t>
            </a:r>
            <a:endParaRPr/>
          </a:p>
        </p:txBody>
      </p:sp>
      <p:sp>
        <p:nvSpPr>
          <p:cNvPr id="237" name="Google Shape;237;p17"/>
          <p:cNvSpPr txBox="1"/>
          <p:nvPr/>
        </p:nvSpPr>
        <p:spPr>
          <a:xfrm>
            <a:off x="3734545" y="8079108"/>
            <a:ext cx="4438711" cy="3257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D6D6D6"/>
                </a:solidFill>
                <a:latin typeface="Poppins"/>
                <a:ea typeface="Poppins"/>
                <a:cs typeface="Poppins"/>
                <a:sym typeface="Poppins"/>
              </a:rPr>
              <a:t>Coffee shop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241" name="Shape 241"/>
        <p:cNvGrpSpPr/>
        <p:nvPr/>
      </p:nvGrpSpPr>
      <p:grpSpPr>
        <a:xfrm>
          <a:off x="0" y="0"/>
          <a:ext cx="0" cy="0"/>
          <a:chOff x="0" y="0"/>
          <a:chExt cx="0" cy="0"/>
        </a:xfrm>
      </p:grpSpPr>
      <p:grpSp>
        <p:nvGrpSpPr>
          <p:cNvPr id="242" name="Google Shape;242;p18"/>
          <p:cNvGrpSpPr/>
          <p:nvPr/>
        </p:nvGrpSpPr>
        <p:grpSpPr>
          <a:xfrm>
            <a:off x="2241291" y="3687311"/>
            <a:ext cx="4000765" cy="2770900"/>
            <a:chOff x="0" y="0"/>
            <a:chExt cx="3429000" cy="2374900"/>
          </a:xfrm>
        </p:grpSpPr>
        <p:sp>
          <p:nvSpPr>
            <p:cNvPr id="243" name="Google Shape;243;p18"/>
            <p:cNvSpPr/>
            <p:nvPr/>
          </p:nvSpPr>
          <p:spPr>
            <a:xfrm>
              <a:off x="50800" y="76200"/>
              <a:ext cx="3340100" cy="2235200"/>
            </a:xfrm>
            <a:custGeom>
              <a:rect b="b" l="l" r="r" t="t"/>
              <a:pathLst>
                <a:path extrusionOk="0" h="2235200" w="3340100">
                  <a:moveTo>
                    <a:pt x="2171700" y="25400"/>
                  </a:moveTo>
                  <a:lnTo>
                    <a:pt x="2400300" y="0"/>
                  </a:lnTo>
                  <a:lnTo>
                    <a:pt x="2641600" y="38100"/>
                  </a:lnTo>
                  <a:lnTo>
                    <a:pt x="2984500" y="38100"/>
                  </a:lnTo>
                  <a:cubicBezTo>
                    <a:pt x="2984500" y="38100"/>
                    <a:pt x="3086100" y="12700"/>
                    <a:pt x="3098800" y="38100"/>
                  </a:cubicBezTo>
                  <a:cubicBezTo>
                    <a:pt x="3111500" y="63500"/>
                    <a:pt x="3162300" y="228600"/>
                    <a:pt x="3162300" y="228600"/>
                  </a:cubicBezTo>
                  <a:cubicBezTo>
                    <a:pt x="3162300" y="228600"/>
                    <a:pt x="3213100" y="304800"/>
                    <a:pt x="3200400" y="355600"/>
                  </a:cubicBezTo>
                  <a:cubicBezTo>
                    <a:pt x="3187700" y="406400"/>
                    <a:pt x="3225800" y="520700"/>
                    <a:pt x="3225800" y="520700"/>
                  </a:cubicBezTo>
                  <a:cubicBezTo>
                    <a:pt x="3225800" y="520700"/>
                    <a:pt x="3251200" y="571500"/>
                    <a:pt x="3225800" y="622300"/>
                  </a:cubicBezTo>
                  <a:cubicBezTo>
                    <a:pt x="3225800" y="622300"/>
                    <a:pt x="3213100" y="762000"/>
                    <a:pt x="3238500" y="812800"/>
                  </a:cubicBezTo>
                  <a:cubicBezTo>
                    <a:pt x="3238500" y="812800"/>
                    <a:pt x="3276600" y="838200"/>
                    <a:pt x="3251200" y="1003300"/>
                  </a:cubicBezTo>
                  <a:lnTo>
                    <a:pt x="3263900" y="1181100"/>
                  </a:lnTo>
                  <a:cubicBezTo>
                    <a:pt x="3263900" y="1181100"/>
                    <a:pt x="3238500" y="1257300"/>
                    <a:pt x="3251200" y="1308100"/>
                  </a:cubicBezTo>
                  <a:lnTo>
                    <a:pt x="3276600" y="1562100"/>
                  </a:lnTo>
                  <a:lnTo>
                    <a:pt x="3327400" y="1701800"/>
                  </a:lnTo>
                  <a:lnTo>
                    <a:pt x="3327400" y="1854200"/>
                  </a:lnTo>
                  <a:lnTo>
                    <a:pt x="3340100" y="1955800"/>
                  </a:lnTo>
                  <a:cubicBezTo>
                    <a:pt x="3340100" y="1955800"/>
                    <a:pt x="3314700" y="2019300"/>
                    <a:pt x="3213100" y="2044700"/>
                  </a:cubicBezTo>
                  <a:cubicBezTo>
                    <a:pt x="3213100" y="2044700"/>
                    <a:pt x="3149600" y="2044700"/>
                    <a:pt x="3098800" y="2082800"/>
                  </a:cubicBezTo>
                  <a:cubicBezTo>
                    <a:pt x="3048000" y="2120900"/>
                    <a:pt x="2933700" y="2197100"/>
                    <a:pt x="2870200" y="2184400"/>
                  </a:cubicBezTo>
                  <a:cubicBezTo>
                    <a:pt x="2870200" y="2184400"/>
                    <a:pt x="2717800" y="2171700"/>
                    <a:pt x="2692400" y="2146300"/>
                  </a:cubicBezTo>
                  <a:cubicBezTo>
                    <a:pt x="2692400" y="2146300"/>
                    <a:pt x="2590800" y="2133600"/>
                    <a:pt x="2565400" y="2133600"/>
                  </a:cubicBezTo>
                  <a:cubicBezTo>
                    <a:pt x="2540000" y="2133600"/>
                    <a:pt x="2476500" y="2146300"/>
                    <a:pt x="2476500" y="2146300"/>
                  </a:cubicBezTo>
                  <a:cubicBezTo>
                    <a:pt x="2476500" y="2146300"/>
                    <a:pt x="2400300" y="2171700"/>
                    <a:pt x="2362200" y="2159000"/>
                  </a:cubicBezTo>
                  <a:cubicBezTo>
                    <a:pt x="2324100" y="2146300"/>
                    <a:pt x="2298700" y="2146300"/>
                    <a:pt x="2222500" y="2159000"/>
                  </a:cubicBezTo>
                  <a:cubicBezTo>
                    <a:pt x="2222500" y="2159000"/>
                    <a:pt x="2197100" y="2184400"/>
                    <a:pt x="2019300" y="2184400"/>
                  </a:cubicBezTo>
                  <a:cubicBezTo>
                    <a:pt x="2019300" y="2184400"/>
                    <a:pt x="1866900" y="2235200"/>
                    <a:pt x="1790700" y="2184400"/>
                  </a:cubicBezTo>
                  <a:cubicBezTo>
                    <a:pt x="1790700" y="2184400"/>
                    <a:pt x="1765300" y="2146300"/>
                    <a:pt x="1549400" y="2159000"/>
                  </a:cubicBezTo>
                  <a:cubicBezTo>
                    <a:pt x="1549400" y="2159000"/>
                    <a:pt x="1397000" y="2171700"/>
                    <a:pt x="1371600" y="2159000"/>
                  </a:cubicBezTo>
                  <a:lnTo>
                    <a:pt x="1066800" y="2197100"/>
                  </a:lnTo>
                  <a:cubicBezTo>
                    <a:pt x="1066800" y="2197100"/>
                    <a:pt x="723900" y="2184400"/>
                    <a:pt x="673100" y="2171700"/>
                  </a:cubicBezTo>
                  <a:cubicBezTo>
                    <a:pt x="622300" y="2159000"/>
                    <a:pt x="419100" y="2120900"/>
                    <a:pt x="393700" y="2146300"/>
                  </a:cubicBezTo>
                  <a:cubicBezTo>
                    <a:pt x="368300" y="2171700"/>
                    <a:pt x="215900" y="2171700"/>
                    <a:pt x="190500" y="2159000"/>
                  </a:cubicBezTo>
                  <a:cubicBezTo>
                    <a:pt x="165100" y="2146300"/>
                    <a:pt x="127000" y="2044700"/>
                    <a:pt x="114300" y="1993900"/>
                  </a:cubicBezTo>
                  <a:cubicBezTo>
                    <a:pt x="101600" y="1943100"/>
                    <a:pt x="101600" y="1803400"/>
                    <a:pt x="101600" y="1778000"/>
                  </a:cubicBezTo>
                  <a:cubicBezTo>
                    <a:pt x="101600" y="1752600"/>
                    <a:pt x="63500" y="1714500"/>
                    <a:pt x="63500" y="1714500"/>
                  </a:cubicBezTo>
                  <a:lnTo>
                    <a:pt x="88900" y="1562100"/>
                  </a:lnTo>
                  <a:cubicBezTo>
                    <a:pt x="88900" y="1562100"/>
                    <a:pt x="88900" y="1435100"/>
                    <a:pt x="63500" y="1397000"/>
                  </a:cubicBezTo>
                  <a:cubicBezTo>
                    <a:pt x="38100" y="1358900"/>
                    <a:pt x="63500" y="1206500"/>
                    <a:pt x="63500" y="1206500"/>
                  </a:cubicBezTo>
                  <a:cubicBezTo>
                    <a:pt x="63500" y="1206500"/>
                    <a:pt x="38100" y="1079500"/>
                    <a:pt x="50800" y="1041400"/>
                  </a:cubicBezTo>
                  <a:cubicBezTo>
                    <a:pt x="63500" y="1003300"/>
                    <a:pt x="76200" y="939800"/>
                    <a:pt x="76200" y="901700"/>
                  </a:cubicBezTo>
                  <a:cubicBezTo>
                    <a:pt x="76200" y="863600"/>
                    <a:pt x="50800" y="673100"/>
                    <a:pt x="50800" y="673100"/>
                  </a:cubicBezTo>
                  <a:lnTo>
                    <a:pt x="25400" y="571500"/>
                  </a:lnTo>
                  <a:cubicBezTo>
                    <a:pt x="25400" y="571500"/>
                    <a:pt x="0" y="508000"/>
                    <a:pt x="12700" y="393700"/>
                  </a:cubicBezTo>
                  <a:cubicBezTo>
                    <a:pt x="25400" y="279400"/>
                    <a:pt x="12700" y="279400"/>
                    <a:pt x="12700" y="279400"/>
                  </a:cubicBezTo>
                  <a:lnTo>
                    <a:pt x="215900" y="190500"/>
                  </a:lnTo>
                  <a:cubicBezTo>
                    <a:pt x="215900" y="190500"/>
                    <a:pt x="317500" y="76200"/>
                    <a:pt x="482600" y="76200"/>
                  </a:cubicBezTo>
                  <a:lnTo>
                    <a:pt x="609600" y="114300"/>
                  </a:lnTo>
                  <a:cubicBezTo>
                    <a:pt x="609600" y="114300"/>
                    <a:pt x="660400" y="139700"/>
                    <a:pt x="749300" y="127000"/>
                  </a:cubicBezTo>
                  <a:cubicBezTo>
                    <a:pt x="838200" y="114300"/>
                    <a:pt x="914400" y="88900"/>
                    <a:pt x="914400" y="88900"/>
                  </a:cubicBezTo>
                  <a:cubicBezTo>
                    <a:pt x="914400" y="88900"/>
                    <a:pt x="1003300" y="114300"/>
                    <a:pt x="1066800" y="88900"/>
                  </a:cubicBezTo>
                  <a:lnTo>
                    <a:pt x="1117600" y="76200"/>
                  </a:lnTo>
                  <a:lnTo>
                    <a:pt x="1143000" y="76200"/>
                  </a:lnTo>
                  <a:cubicBezTo>
                    <a:pt x="1143000" y="76200"/>
                    <a:pt x="1181100" y="50800"/>
                    <a:pt x="1206500" y="76200"/>
                  </a:cubicBezTo>
                  <a:cubicBezTo>
                    <a:pt x="1206500" y="76200"/>
                    <a:pt x="1231900" y="50800"/>
                    <a:pt x="1270000" y="63500"/>
                  </a:cubicBezTo>
                  <a:cubicBezTo>
                    <a:pt x="1270000" y="63500"/>
                    <a:pt x="1346200" y="38100"/>
                    <a:pt x="1346200" y="38100"/>
                  </a:cubicBezTo>
                  <a:cubicBezTo>
                    <a:pt x="1346200" y="38100"/>
                    <a:pt x="1435100" y="38100"/>
                    <a:pt x="1435100" y="38100"/>
                  </a:cubicBezTo>
                  <a:lnTo>
                    <a:pt x="1524000" y="63500"/>
                  </a:lnTo>
                  <a:lnTo>
                    <a:pt x="1765300" y="63500"/>
                  </a:lnTo>
                  <a:lnTo>
                    <a:pt x="1892300" y="50800"/>
                  </a:lnTo>
                  <a:lnTo>
                    <a:pt x="1943100" y="76200"/>
                  </a:lnTo>
                  <a:lnTo>
                    <a:pt x="2019300" y="50800"/>
                  </a:lnTo>
                  <a:lnTo>
                    <a:pt x="2171700" y="25400"/>
                  </a:lnTo>
                  <a:close/>
                </a:path>
              </a:pathLst>
            </a:custGeom>
            <a:blipFill rotWithShape="1">
              <a:blip r:embed="rId3">
                <a:alphaModFix/>
              </a:blip>
              <a:stretch>
                <a:fillRect b="-2935" l="0" r="0" t="-2936"/>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0" y="0"/>
              <a:ext cx="3429000" cy="2374900"/>
            </a:xfrm>
            <a:custGeom>
              <a:rect b="b" l="l" r="r" t="t"/>
              <a:pathLst>
                <a:path extrusionOk="0" h="2374900" w="3429000">
                  <a:moveTo>
                    <a:pt x="3429000" y="2374900"/>
                  </a:moveTo>
                  <a:lnTo>
                    <a:pt x="0" y="2374900"/>
                  </a:lnTo>
                  <a:lnTo>
                    <a:pt x="0" y="0"/>
                  </a:lnTo>
                  <a:lnTo>
                    <a:pt x="3429000" y="0"/>
                  </a:lnTo>
                  <a:lnTo>
                    <a:pt x="3429000" y="2374900"/>
                  </a:lnTo>
                  <a:close/>
                </a:path>
              </a:pathLst>
            </a:custGeom>
            <a:blipFill rotWithShape="1">
              <a:blip r:embed="rId4">
                <a:alphaModFix/>
              </a:blip>
              <a:stretch>
                <a:fillRect b="-11123" l="-2901" r="-2490" t="-10995"/>
              </a:stretch>
            </a:blipFill>
            <a:ln>
              <a:noFill/>
            </a:ln>
          </p:spPr>
        </p:sp>
      </p:grpSp>
      <p:grpSp>
        <p:nvGrpSpPr>
          <p:cNvPr id="245" name="Google Shape;245;p18"/>
          <p:cNvGrpSpPr/>
          <p:nvPr/>
        </p:nvGrpSpPr>
        <p:grpSpPr>
          <a:xfrm>
            <a:off x="7143618" y="3687311"/>
            <a:ext cx="4000765" cy="2770900"/>
            <a:chOff x="0" y="0"/>
            <a:chExt cx="3429000" cy="2374900"/>
          </a:xfrm>
        </p:grpSpPr>
        <p:sp>
          <p:nvSpPr>
            <p:cNvPr id="246" name="Google Shape;246;p18"/>
            <p:cNvSpPr/>
            <p:nvPr/>
          </p:nvSpPr>
          <p:spPr>
            <a:xfrm>
              <a:off x="50800" y="76200"/>
              <a:ext cx="3340100" cy="2235200"/>
            </a:xfrm>
            <a:custGeom>
              <a:rect b="b" l="l" r="r" t="t"/>
              <a:pathLst>
                <a:path extrusionOk="0" h="2235200" w="3340100">
                  <a:moveTo>
                    <a:pt x="2171700" y="25400"/>
                  </a:moveTo>
                  <a:lnTo>
                    <a:pt x="2400300" y="0"/>
                  </a:lnTo>
                  <a:lnTo>
                    <a:pt x="2641600" y="38100"/>
                  </a:lnTo>
                  <a:lnTo>
                    <a:pt x="2984500" y="38100"/>
                  </a:lnTo>
                  <a:cubicBezTo>
                    <a:pt x="2984500" y="38100"/>
                    <a:pt x="3086100" y="12700"/>
                    <a:pt x="3098800" y="38100"/>
                  </a:cubicBezTo>
                  <a:cubicBezTo>
                    <a:pt x="3111500" y="63500"/>
                    <a:pt x="3162300" y="228600"/>
                    <a:pt x="3162300" y="228600"/>
                  </a:cubicBezTo>
                  <a:cubicBezTo>
                    <a:pt x="3162300" y="228600"/>
                    <a:pt x="3213100" y="304800"/>
                    <a:pt x="3200400" y="355600"/>
                  </a:cubicBezTo>
                  <a:cubicBezTo>
                    <a:pt x="3187700" y="406400"/>
                    <a:pt x="3225800" y="520700"/>
                    <a:pt x="3225800" y="520700"/>
                  </a:cubicBezTo>
                  <a:cubicBezTo>
                    <a:pt x="3225800" y="520700"/>
                    <a:pt x="3251200" y="571500"/>
                    <a:pt x="3225800" y="622300"/>
                  </a:cubicBezTo>
                  <a:cubicBezTo>
                    <a:pt x="3225800" y="622300"/>
                    <a:pt x="3213100" y="762000"/>
                    <a:pt x="3238500" y="812800"/>
                  </a:cubicBezTo>
                  <a:cubicBezTo>
                    <a:pt x="3238500" y="812800"/>
                    <a:pt x="3276600" y="838200"/>
                    <a:pt x="3251200" y="1003300"/>
                  </a:cubicBezTo>
                  <a:lnTo>
                    <a:pt x="3263900" y="1181100"/>
                  </a:lnTo>
                  <a:cubicBezTo>
                    <a:pt x="3263900" y="1181100"/>
                    <a:pt x="3238500" y="1257300"/>
                    <a:pt x="3251200" y="1308100"/>
                  </a:cubicBezTo>
                  <a:lnTo>
                    <a:pt x="3276600" y="1562100"/>
                  </a:lnTo>
                  <a:lnTo>
                    <a:pt x="3327400" y="1701800"/>
                  </a:lnTo>
                  <a:lnTo>
                    <a:pt x="3327400" y="1854200"/>
                  </a:lnTo>
                  <a:lnTo>
                    <a:pt x="3340100" y="1955800"/>
                  </a:lnTo>
                  <a:cubicBezTo>
                    <a:pt x="3340100" y="1955800"/>
                    <a:pt x="3314700" y="2019300"/>
                    <a:pt x="3213100" y="2044700"/>
                  </a:cubicBezTo>
                  <a:cubicBezTo>
                    <a:pt x="3213100" y="2044700"/>
                    <a:pt x="3149600" y="2044700"/>
                    <a:pt x="3098800" y="2082800"/>
                  </a:cubicBezTo>
                  <a:cubicBezTo>
                    <a:pt x="3048000" y="2120900"/>
                    <a:pt x="2933700" y="2197100"/>
                    <a:pt x="2870200" y="2184400"/>
                  </a:cubicBezTo>
                  <a:cubicBezTo>
                    <a:pt x="2870200" y="2184400"/>
                    <a:pt x="2717800" y="2171700"/>
                    <a:pt x="2692400" y="2146300"/>
                  </a:cubicBezTo>
                  <a:cubicBezTo>
                    <a:pt x="2692400" y="2146300"/>
                    <a:pt x="2590800" y="2133600"/>
                    <a:pt x="2565400" y="2133600"/>
                  </a:cubicBezTo>
                  <a:cubicBezTo>
                    <a:pt x="2540000" y="2133600"/>
                    <a:pt x="2476500" y="2146300"/>
                    <a:pt x="2476500" y="2146300"/>
                  </a:cubicBezTo>
                  <a:cubicBezTo>
                    <a:pt x="2476500" y="2146300"/>
                    <a:pt x="2400300" y="2171700"/>
                    <a:pt x="2362200" y="2159000"/>
                  </a:cubicBezTo>
                  <a:cubicBezTo>
                    <a:pt x="2324100" y="2146300"/>
                    <a:pt x="2298700" y="2146300"/>
                    <a:pt x="2222500" y="2159000"/>
                  </a:cubicBezTo>
                  <a:cubicBezTo>
                    <a:pt x="2222500" y="2159000"/>
                    <a:pt x="2197100" y="2184400"/>
                    <a:pt x="2019300" y="2184400"/>
                  </a:cubicBezTo>
                  <a:cubicBezTo>
                    <a:pt x="2019300" y="2184400"/>
                    <a:pt x="1866900" y="2235200"/>
                    <a:pt x="1790700" y="2184400"/>
                  </a:cubicBezTo>
                  <a:cubicBezTo>
                    <a:pt x="1790700" y="2184400"/>
                    <a:pt x="1765300" y="2146300"/>
                    <a:pt x="1549400" y="2159000"/>
                  </a:cubicBezTo>
                  <a:cubicBezTo>
                    <a:pt x="1549400" y="2159000"/>
                    <a:pt x="1397000" y="2171700"/>
                    <a:pt x="1371600" y="2159000"/>
                  </a:cubicBezTo>
                  <a:lnTo>
                    <a:pt x="1066800" y="2197100"/>
                  </a:lnTo>
                  <a:cubicBezTo>
                    <a:pt x="1066800" y="2197100"/>
                    <a:pt x="723900" y="2184400"/>
                    <a:pt x="673100" y="2171700"/>
                  </a:cubicBezTo>
                  <a:cubicBezTo>
                    <a:pt x="622300" y="2159000"/>
                    <a:pt x="419100" y="2120900"/>
                    <a:pt x="393700" y="2146300"/>
                  </a:cubicBezTo>
                  <a:cubicBezTo>
                    <a:pt x="368300" y="2171700"/>
                    <a:pt x="215900" y="2171700"/>
                    <a:pt x="190500" y="2159000"/>
                  </a:cubicBezTo>
                  <a:cubicBezTo>
                    <a:pt x="165100" y="2146300"/>
                    <a:pt x="127000" y="2044700"/>
                    <a:pt x="114300" y="1993900"/>
                  </a:cubicBezTo>
                  <a:cubicBezTo>
                    <a:pt x="101600" y="1943100"/>
                    <a:pt x="101600" y="1803400"/>
                    <a:pt x="101600" y="1778000"/>
                  </a:cubicBezTo>
                  <a:cubicBezTo>
                    <a:pt x="101600" y="1752600"/>
                    <a:pt x="63500" y="1714500"/>
                    <a:pt x="63500" y="1714500"/>
                  </a:cubicBezTo>
                  <a:lnTo>
                    <a:pt x="88900" y="1562100"/>
                  </a:lnTo>
                  <a:cubicBezTo>
                    <a:pt x="88900" y="1562100"/>
                    <a:pt x="88900" y="1435100"/>
                    <a:pt x="63500" y="1397000"/>
                  </a:cubicBezTo>
                  <a:cubicBezTo>
                    <a:pt x="38100" y="1358900"/>
                    <a:pt x="63500" y="1206500"/>
                    <a:pt x="63500" y="1206500"/>
                  </a:cubicBezTo>
                  <a:cubicBezTo>
                    <a:pt x="63500" y="1206500"/>
                    <a:pt x="38100" y="1079500"/>
                    <a:pt x="50800" y="1041400"/>
                  </a:cubicBezTo>
                  <a:cubicBezTo>
                    <a:pt x="63500" y="1003300"/>
                    <a:pt x="76200" y="939800"/>
                    <a:pt x="76200" y="901700"/>
                  </a:cubicBezTo>
                  <a:cubicBezTo>
                    <a:pt x="76200" y="863600"/>
                    <a:pt x="50800" y="673100"/>
                    <a:pt x="50800" y="673100"/>
                  </a:cubicBezTo>
                  <a:lnTo>
                    <a:pt x="25400" y="571500"/>
                  </a:lnTo>
                  <a:cubicBezTo>
                    <a:pt x="25400" y="571500"/>
                    <a:pt x="0" y="508000"/>
                    <a:pt x="12700" y="393700"/>
                  </a:cubicBezTo>
                  <a:cubicBezTo>
                    <a:pt x="25400" y="279400"/>
                    <a:pt x="12700" y="279400"/>
                    <a:pt x="12700" y="279400"/>
                  </a:cubicBezTo>
                  <a:lnTo>
                    <a:pt x="215900" y="190500"/>
                  </a:lnTo>
                  <a:cubicBezTo>
                    <a:pt x="215900" y="190500"/>
                    <a:pt x="317500" y="76200"/>
                    <a:pt x="482600" y="76200"/>
                  </a:cubicBezTo>
                  <a:lnTo>
                    <a:pt x="609600" y="114300"/>
                  </a:lnTo>
                  <a:cubicBezTo>
                    <a:pt x="609600" y="114300"/>
                    <a:pt x="660400" y="139700"/>
                    <a:pt x="749300" y="127000"/>
                  </a:cubicBezTo>
                  <a:cubicBezTo>
                    <a:pt x="838200" y="114300"/>
                    <a:pt x="914400" y="88900"/>
                    <a:pt x="914400" y="88900"/>
                  </a:cubicBezTo>
                  <a:cubicBezTo>
                    <a:pt x="914400" y="88900"/>
                    <a:pt x="1003300" y="114300"/>
                    <a:pt x="1066800" y="88900"/>
                  </a:cubicBezTo>
                  <a:lnTo>
                    <a:pt x="1117600" y="76200"/>
                  </a:lnTo>
                  <a:lnTo>
                    <a:pt x="1143000" y="76200"/>
                  </a:lnTo>
                  <a:cubicBezTo>
                    <a:pt x="1143000" y="76200"/>
                    <a:pt x="1181100" y="50800"/>
                    <a:pt x="1206500" y="76200"/>
                  </a:cubicBezTo>
                  <a:cubicBezTo>
                    <a:pt x="1206500" y="76200"/>
                    <a:pt x="1231900" y="50800"/>
                    <a:pt x="1270000" y="63500"/>
                  </a:cubicBezTo>
                  <a:cubicBezTo>
                    <a:pt x="1270000" y="63500"/>
                    <a:pt x="1346200" y="38100"/>
                    <a:pt x="1346200" y="38100"/>
                  </a:cubicBezTo>
                  <a:cubicBezTo>
                    <a:pt x="1346200" y="38100"/>
                    <a:pt x="1435100" y="38100"/>
                    <a:pt x="1435100" y="38100"/>
                  </a:cubicBezTo>
                  <a:lnTo>
                    <a:pt x="1524000" y="63500"/>
                  </a:lnTo>
                  <a:lnTo>
                    <a:pt x="1765300" y="63500"/>
                  </a:lnTo>
                  <a:lnTo>
                    <a:pt x="1892300" y="50800"/>
                  </a:lnTo>
                  <a:lnTo>
                    <a:pt x="1943100" y="76200"/>
                  </a:lnTo>
                  <a:lnTo>
                    <a:pt x="2019300" y="50800"/>
                  </a:lnTo>
                  <a:lnTo>
                    <a:pt x="2171700" y="25400"/>
                  </a:lnTo>
                  <a:close/>
                </a:path>
              </a:pathLst>
            </a:custGeom>
            <a:blipFill rotWithShape="1">
              <a:blip r:embed="rId5">
                <a:alphaModFix/>
              </a:blip>
              <a:stretch>
                <a:fillRect b="-33320" l="-48702" r="-50219" t="-3576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0" y="0"/>
              <a:ext cx="3429000" cy="2374900"/>
            </a:xfrm>
            <a:custGeom>
              <a:rect b="b" l="l" r="r" t="t"/>
              <a:pathLst>
                <a:path extrusionOk="0" h="2374900" w="3429000">
                  <a:moveTo>
                    <a:pt x="3429000" y="2374900"/>
                  </a:moveTo>
                  <a:lnTo>
                    <a:pt x="0" y="2374900"/>
                  </a:lnTo>
                  <a:lnTo>
                    <a:pt x="0" y="0"/>
                  </a:lnTo>
                  <a:lnTo>
                    <a:pt x="3429000" y="0"/>
                  </a:lnTo>
                  <a:lnTo>
                    <a:pt x="3429000" y="2374900"/>
                  </a:lnTo>
                  <a:close/>
                </a:path>
              </a:pathLst>
            </a:custGeom>
            <a:blipFill rotWithShape="1">
              <a:blip r:embed="rId4">
                <a:alphaModFix/>
              </a:blip>
              <a:stretch>
                <a:fillRect b="-11123" l="-2901" r="-2490" t="-10995"/>
              </a:stretch>
            </a:blipFill>
            <a:ln>
              <a:noFill/>
            </a:ln>
          </p:spPr>
        </p:sp>
      </p:grpSp>
      <p:grpSp>
        <p:nvGrpSpPr>
          <p:cNvPr id="248" name="Google Shape;248;p18"/>
          <p:cNvGrpSpPr/>
          <p:nvPr/>
        </p:nvGrpSpPr>
        <p:grpSpPr>
          <a:xfrm>
            <a:off x="12045944" y="3687311"/>
            <a:ext cx="4000765" cy="2770900"/>
            <a:chOff x="0" y="0"/>
            <a:chExt cx="3429000" cy="2374900"/>
          </a:xfrm>
        </p:grpSpPr>
        <p:sp>
          <p:nvSpPr>
            <p:cNvPr id="249" name="Google Shape;249;p18"/>
            <p:cNvSpPr/>
            <p:nvPr/>
          </p:nvSpPr>
          <p:spPr>
            <a:xfrm>
              <a:off x="50800" y="76200"/>
              <a:ext cx="3340100" cy="2235200"/>
            </a:xfrm>
            <a:custGeom>
              <a:rect b="b" l="l" r="r" t="t"/>
              <a:pathLst>
                <a:path extrusionOk="0" h="2235200" w="3340100">
                  <a:moveTo>
                    <a:pt x="2171700" y="25400"/>
                  </a:moveTo>
                  <a:lnTo>
                    <a:pt x="2400300" y="0"/>
                  </a:lnTo>
                  <a:lnTo>
                    <a:pt x="2641600" y="38100"/>
                  </a:lnTo>
                  <a:lnTo>
                    <a:pt x="2984500" y="38100"/>
                  </a:lnTo>
                  <a:cubicBezTo>
                    <a:pt x="2984500" y="38100"/>
                    <a:pt x="3086100" y="12700"/>
                    <a:pt x="3098800" y="38100"/>
                  </a:cubicBezTo>
                  <a:cubicBezTo>
                    <a:pt x="3111500" y="63500"/>
                    <a:pt x="3162300" y="228600"/>
                    <a:pt x="3162300" y="228600"/>
                  </a:cubicBezTo>
                  <a:cubicBezTo>
                    <a:pt x="3162300" y="228600"/>
                    <a:pt x="3213100" y="304800"/>
                    <a:pt x="3200400" y="355600"/>
                  </a:cubicBezTo>
                  <a:cubicBezTo>
                    <a:pt x="3187700" y="406400"/>
                    <a:pt x="3225800" y="520700"/>
                    <a:pt x="3225800" y="520700"/>
                  </a:cubicBezTo>
                  <a:cubicBezTo>
                    <a:pt x="3225800" y="520700"/>
                    <a:pt x="3251200" y="571500"/>
                    <a:pt x="3225800" y="622300"/>
                  </a:cubicBezTo>
                  <a:cubicBezTo>
                    <a:pt x="3225800" y="622300"/>
                    <a:pt x="3213100" y="762000"/>
                    <a:pt x="3238500" y="812800"/>
                  </a:cubicBezTo>
                  <a:cubicBezTo>
                    <a:pt x="3238500" y="812800"/>
                    <a:pt x="3276600" y="838200"/>
                    <a:pt x="3251200" y="1003300"/>
                  </a:cubicBezTo>
                  <a:lnTo>
                    <a:pt x="3263900" y="1181100"/>
                  </a:lnTo>
                  <a:cubicBezTo>
                    <a:pt x="3263900" y="1181100"/>
                    <a:pt x="3238500" y="1257300"/>
                    <a:pt x="3251200" y="1308100"/>
                  </a:cubicBezTo>
                  <a:lnTo>
                    <a:pt x="3276600" y="1562100"/>
                  </a:lnTo>
                  <a:lnTo>
                    <a:pt x="3327400" y="1701800"/>
                  </a:lnTo>
                  <a:lnTo>
                    <a:pt x="3327400" y="1854200"/>
                  </a:lnTo>
                  <a:lnTo>
                    <a:pt x="3340100" y="1955800"/>
                  </a:lnTo>
                  <a:cubicBezTo>
                    <a:pt x="3340100" y="1955800"/>
                    <a:pt x="3314700" y="2019300"/>
                    <a:pt x="3213100" y="2044700"/>
                  </a:cubicBezTo>
                  <a:cubicBezTo>
                    <a:pt x="3213100" y="2044700"/>
                    <a:pt x="3149600" y="2044700"/>
                    <a:pt x="3098800" y="2082800"/>
                  </a:cubicBezTo>
                  <a:cubicBezTo>
                    <a:pt x="3048000" y="2120900"/>
                    <a:pt x="2933700" y="2197100"/>
                    <a:pt x="2870200" y="2184400"/>
                  </a:cubicBezTo>
                  <a:cubicBezTo>
                    <a:pt x="2870200" y="2184400"/>
                    <a:pt x="2717800" y="2171700"/>
                    <a:pt x="2692400" y="2146300"/>
                  </a:cubicBezTo>
                  <a:cubicBezTo>
                    <a:pt x="2692400" y="2146300"/>
                    <a:pt x="2590800" y="2133600"/>
                    <a:pt x="2565400" y="2133600"/>
                  </a:cubicBezTo>
                  <a:cubicBezTo>
                    <a:pt x="2540000" y="2133600"/>
                    <a:pt x="2476500" y="2146300"/>
                    <a:pt x="2476500" y="2146300"/>
                  </a:cubicBezTo>
                  <a:cubicBezTo>
                    <a:pt x="2476500" y="2146300"/>
                    <a:pt x="2400300" y="2171700"/>
                    <a:pt x="2362200" y="2159000"/>
                  </a:cubicBezTo>
                  <a:cubicBezTo>
                    <a:pt x="2324100" y="2146300"/>
                    <a:pt x="2298700" y="2146300"/>
                    <a:pt x="2222500" y="2159000"/>
                  </a:cubicBezTo>
                  <a:cubicBezTo>
                    <a:pt x="2222500" y="2159000"/>
                    <a:pt x="2197100" y="2184400"/>
                    <a:pt x="2019300" y="2184400"/>
                  </a:cubicBezTo>
                  <a:cubicBezTo>
                    <a:pt x="2019300" y="2184400"/>
                    <a:pt x="1866900" y="2235200"/>
                    <a:pt x="1790700" y="2184400"/>
                  </a:cubicBezTo>
                  <a:cubicBezTo>
                    <a:pt x="1790700" y="2184400"/>
                    <a:pt x="1765300" y="2146300"/>
                    <a:pt x="1549400" y="2159000"/>
                  </a:cubicBezTo>
                  <a:cubicBezTo>
                    <a:pt x="1549400" y="2159000"/>
                    <a:pt x="1397000" y="2171700"/>
                    <a:pt x="1371600" y="2159000"/>
                  </a:cubicBezTo>
                  <a:lnTo>
                    <a:pt x="1066800" y="2197100"/>
                  </a:lnTo>
                  <a:cubicBezTo>
                    <a:pt x="1066800" y="2197100"/>
                    <a:pt x="723900" y="2184400"/>
                    <a:pt x="673100" y="2171700"/>
                  </a:cubicBezTo>
                  <a:cubicBezTo>
                    <a:pt x="622300" y="2159000"/>
                    <a:pt x="419100" y="2120900"/>
                    <a:pt x="393700" y="2146300"/>
                  </a:cubicBezTo>
                  <a:cubicBezTo>
                    <a:pt x="368300" y="2171700"/>
                    <a:pt x="215900" y="2171700"/>
                    <a:pt x="190500" y="2159000"/>
                  </a:cubicBezTo>
                  <a:cubicBezTo>
                    <a:pt x="165100" y="2146300"/>
                    <a:pt x="127000" y="2044700"/>
                    <a:pt x="114300" y="1993900"/>
                  </a:cubicBezTo>
                  <a:cubicBezTo>
                    <a:pt x="101600" y="1943100"/>
                    <a:pt x="101600" y="1803400"/>
                    <a:pt x="101600" y="1778000"/>
                  </a:cubicBezTo>
                  <a:cubicBezTo>
                    <a:pt x="101600" y="1752600"/>
                    <a:pt x="63500" y="1714500"/>
                    <a:pt x="63500" y="1714500"/>
                  </a:cubicBezTo>
                  <a:lnTo>
                    <a:pt x="88900" y="1562100"/>
                  </a:lnTo>
                  <a:cubicBezTo>
                    <a:pt x="88900" y="1562100"/>
                    <a:pt x="88900" y="1435100"/>
                    <a:pt x="63500" y="1397000"/>
                  </a:cubicBezTo>
                  <a:cubicBezTo>
                    <a:pt x="38100" y="1358900"/>
                    <a:pt x="63500" y="1206500"/>
                    <a:pt x="63500" y="1206500"/>
                  </a:cubicBezTo>
                  <a:cubicBezTo>
                    <a:pt x="63500" y="1206500"/>
                    <a:pt x="38100" y="1079500"/>
                    <a:pt x="50800" y="1041400"/>
                  </a:cubicBezTo>
                  <a:cubicBezTo>
                    <a:pt x="63500" y="1003300"/>
                    <a:pt x="76200" y="939800"/>
                    <a:pt x="76200" y="901700"/>
                  </a:cubicBezTo>
                  <a:cubicBezTo>
                    <a:pt x="76200" y="863600"/>
                    <a:pt x="50800" y="673100"/>
                    <a:pt x="50800" y="673100"/>
                  </a:cubicBezTo>
                  <a:lnTo>
                    <a:pt x="25400" y="571500"/>
                  </a:lnTo>
                  <a:cubicBezTo>
                    <a:pt x="25400" y="571500"/>
                    <a:pt x="0" y="508000"/>
                    <a:pt x="12700" y="393700"/>
                  </a:cubicBezTo>
                  <a:cubicBezTo>
                    <a:pt x="25400" y="279400"/>
                    <a:pt x="12700" y="279400"/>
                    <a:pt x="12700" y="279400"/>
                  </a:cubicBezTo>
                  <a:lnTo>
                    <a:pt x="215900" y="190500"/>
                  </a:lnTo>
                  <a:cubicBezTo>
                    <a:pt x="215900" y="190500"/>
                    <a:pt x="317500" y="76200"/>
                    <a:pt x="482600" y="76200"/>
                  </a:cubicBezTo>
                  <a:lnTo>
                    <a:pt x="609600" y="114300"/>
                  </a:lnTo>
                  <a:cubicBezTo>
                    <a:pt x="609600" y="114300"/>
                    <a:pt x="660400" y="139700"/>
                    <a:pt x="749300" y="127000"/>
                  </a:cubicBezTo>
                  <a:cubicBezTo>
                    <a:pt x="838200" y="114300"/>
                    <a:pt x="914400" y="88900"/>
                    <a:pt x="914400" y="88900"/>
                  </a:cubicBezTo>
                  <a:cubicBezTo>
                    <a:pt x="914400" y="88900"/>
                    <a:pt x="1003300" y="114300"/>
                    <a:pt x="1066800" y="88900"/>
                  </a:cubicBezTo>
                  <a:lnTo>
                    <a:pt x="1117600" y="76200"/>
                  </a:lnTo>
                  <a:lnTo>
                    <a:pt x="1143000" y="76200"/>
                  </a:lnTo>
                  <a:cubicBezTo>
                    <a:pt x="1143000" y="76200"/>
                    <a:pt x="1181100" y="50800"/>
                    <a:pt x="1206500" y="76200"/>
                  </a:cubicBezTo>
                  <a:cubicBezTo>
                    <a:pt x="1206500" y="76200"/>
                    <a:pt x="1231900" y="50800"/>
                    <a:pt x="1270000" y="63500"/>
                  </a:cubicBezTo>
                  <a:cubicBezTo>
                    <a:pt x="1270000" y="63500"/>
                    <a:pt x="1346200" y="38100"/>
                    <a:pt x="1346200" y="38100"/>
                  </a:cubicBezTo>
                  <a:cubicBezTo>
                    <a:pt x="1346200" y="38100"/>
                    <a:pt x="1435100" y="38100"/>
                    <a:pt x="1435100" y="38100"/>
                  </a:cubicBezTo>
                  <a:lnTo>
                    <a:pt x="1524000" y="63500"/>
                  </a:lnTo>
                  <a:lnTo>
                    <a:pt x="1765300" y="63500"/>
                  </a:lnTo>
                  <a:lnTo>
                    <a:pt x="1892300" y="50800"/>
                  </a:lnTo>
                  <a:lnTo>
                    <a:pt x="1943100" y="76200"/>
                  </a:lnTo>
                  <a:lnTo>
                    <a:pt x="2019300" y="50800"/>
                  </a:lnTo>
                  <a:lnTo>
                    <a:pt x="2171700" y="25400"/>
                  </a:lnTo>
                  <a:close/>
                </a:path>
              </a:pathLst>
            </a:custGeom>
            <a:blipFill rotWithShape="1">
              <a:blip r:embed="rId6">
                <a:alphaModFix/>
              </a:blip>
              <a:stretch>
                <a:fillRect b="-86010" l="0" r="0" t="-8601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
            <p:cNvSpPr/>
            <p:nvPr/>
          </p:nvSpPr>
          <p:spPr>
            <a:xfrm>
              <a:off x="0" y="0"/>
              <a:ext cx="3429000" cy="2374900"/>
            </a:xfrm>
            <a:custGeom>
              <a:rect b="b" l="l" r="r" t="t"/>
              <a:pathLst>
                <a:path extrusionOk="0" h="2374900" w="3429000">
                  <a:moveTo>
                    <a:pt x="3429000" y="2374900"/>
                  </a:moveTo>
                  <a:lnTo>
                    <a:pt x="0" y="2374900"/>
                  </a:lnTo>
                  <a:lnTo>
                    <a:pt x="0" y="0"/>
                  </a:lnTo>
                  <a:lnTo>
                    <a:pt x="3429000" y="0"/>
                  </a:lnTo>
                  <a:lnTo>
                    <a:pt x="3429000" y="2374900"/>
                  </a:lnTo>
                  <a:close/>
                </a:path>
              </a:pathLst>
            </a:custGeom>
            <a:blipFill rotWithShape="1">
              <a:blip r:embed="rId4">
                <a:alphaModFix/>
              </a:blip>
              <a:stretch>
                <a:fillRect b="-11123" l="-2901" r="-2490" t="-10995"/>
              </a:stretch>
            </a:blipFill>
            <a:ln>
              <a:noFill/>
            </a:ln>
          </p:spPr>
        </p:sp>
      </p:grpSp>
      <p:sp>
        <p:nvSpPr>
          <p:cNvPr id="251" name="Google Shape;251;p18"/>
          <p:cNvSpPr/>
          <p:nvPr/>
        </p:nvSpPr>
        <p:spPr>
          <a:xfrm flipH="1">
            <a:off x="15756241" y="-779914"/>
            <a:ext cx="2655916" cy="4114800"/>
          </a:xfrm>
          <a:custGeom>
            <a:rect b="b" l="l" r="r" t="t"/>
            <a:pathLst>
              <a:path extrusionOk="0" h="4114800" w="2655916">
                <a:moveTo>
                  <a:pt x="0" y="4114800"/>
                </a:moveTo>
                <a:lnTo>
                  <a:pt x="2655916" y="4114800"/>
                </a:lnTo>
                <a:lnTo>
                  <a:pt x="2655916" y="0"/>
                </a:lnTo>
                <a:lnTo>
                  <a:pt x="0" y="0"/>
                </a:lnTo>
                <a:lnTo>
                  <a:pt x="0" y="4114800"/>
                </a:lnTo>
                <a:close/>
              </a:path>
            </a:pathLst>
          </a:custGeom>
          <a:blipFill rotWithShape="1">
            <a:blip r:embed="rId7">
              <a:alphaModFix/>
            </a:blip>
            <a:stretch>
              <a:fillRect b="0" l="0" r="0" t="0"/>
            </a:stretch>
          </a:blipFill>
          <a:ln>
            <a:noFill/>
          </a:ln>
        </p:spPr>
      </p:sp>
      <p:sp>
        <p:nvSpPr>
          <p:cNvPr id="252" name="Google Shape;252;p18"/>
          <p:cNvSpPr/>
          <p:nvPr/>
        </p:nvSpPr>
        <p:spPr>
          <a:xfrm rot="10800000">
            <a:off x="13465968" y="-456639"/>
            <a:ext cx="2110154" cy="2057400"/>
          </a:xfrm>
          <a:custGeom>
            <a:rect b="b" l="l" r="r" t="t"/>
            <a:pathLst>
              <a:path extrusionOk="0" h="2057400" w="2110154">
                <a:moveTo>
                  <a:pt x="0" y="0"/>
                </a:moveTo>
                <a:lnTo>
                  <a:pt x="2110153" y="0"/>
                </a:lnTo>
                <a:lnTo>
                  <a:pt x="2110153" y="2057400"/>
                </a:lnTo>
                <a:lnTo>
                  <a:pt x="0" y="2057400"/>
                </a:lnTo>
                <a:lnTo>
                  <a:pt x="0" y="0"/>
                </a:lnTo>
                <a:close/>
              </a:path>
            </a:pathLst>
          </a:custGeom>
          <a:blipFill rotWithShape="1">
            <a:blip r:embed="rId8">
              <a:alphaModFix/>
            </a:blip>
            <a:stretch>
              <a:fillRect b="0" l="0" r="0" t="0"/>
            </a:stretch>
          </a:blipFill>
          <a:ln>
            <a:noFill/>
          </a:ln>
        </p:spPr>
      </p:sp>
      <p:sp>
        <p:nvSpPr>
          <p:cNvPr id="253" name="Google Shape;253;p18"/>
          <p:cNvSpPr/>
          <p:nvPr/>
        </p:nvSpPr>
        <p:spPr>
          <a:xfrm>
            <a:off x="-124157" y="-779914"/>
            <a:ext cx="2655916" cy="4114800"/>
          </a:xfrm>
          <a:custGeom>
            <a:rect b="b" l="l" r="r" t="t"/>
            <a:pathLst>
              <a:path extrusionOk="0" h="4114800" w="2655916">
                <a:moveTo>
                  <a:pt x="2655916" y="4114800"/>
                </a:moveTo>
                <a:lnTo>
                  <a:pt x="0" y="4114800"/>
                </a:lnTo>
                <a:lnTo>
                  <a:pt x="0" y="0"/>
                </a:lnTo>
                <a:lnTo>
                  <a:pt x="2655916" y="0"/>
                </a:lnTo>
                <a:lnTo>
                  <a:pt x="2655916" y="4114800"/>
                </a:lnTo>
                <a:close/>
              </a:path>
            </a:pathLst>
          </a:custGeom>
          <a:blipFill rotWithShape="1">
            <a:blip r:embed="rId7">
              <a:alphaModFix/>
            </a:blip>
            <a:stretch>
              <a:fillRect b="0" l="0" r="0" t="0"/>
            </a:stretch>
          </a:blipFill>
          <a:ln>
            <a:noFill/>
          </a:ln>
        </p:spPr>
      </p:sp>
      <p:sp>
        <p:nvSpPr>
          <p:cNvPr id="254" name="Google Shape;254;p18"/>
          <p:cNvSpPr/>
          <p:nvPr/>
        </p:nvSpPr>
        <p:spPr>
          <a:xfrm flipH="1" rot="10800000">
            <a:off x="2711879" y="-456639"/>
            <a:ext cx="2110154" cy="2057400"/>
          </a:xfrm>
          <a:custGeom>
            <a:rect b="b" l="l" r="r" t="t"/>
            <a:pathLst>
              <a:path extrusionOk="0" h="2057400" w="2110154">
                <a:moveTo>
                  <a:pt x="2110153" y="0"/>
                </a:moveTo>
                <a:lnTo>
                  <a:pt x="0" y="0"/>
                </a:lnTo>
                <a:lnTo>
                  <a:pt x="0" y="2057400"/>
                </a:lnTo>
                <a:lnTo>
                  <a:pt x="2110153" y="2057400"/>
                </a:lnTo>
                <a:lnTo>
                  <a:pt x="2110153" y="0"/>
                </a:lnTo>
                <a:close/>
              </a:path>
            </a:pathLst>
          </a:custGeom>
          <a:blipFill rotWithShape="1">
            <a:blip r:embed="rId8">
              <a:alphaModFix/>
            </a:blip>
            <a:stretch>
              <a:fillRect b="0" l="0" r="0" t="0"/>
            </a:stretch>
          </a:blipFill>
          <a:ln>
            <a:noFill/>
          </a:ln>
        </p:spPr>
      </p:sp>
      <p:sp>
        <p:nvSpPr>
          <p:cNvPr id="255" name="Google Shape;255;p18"/>
          <p:cNvSpPr/>
          <p:nvPr/>
        </p:nvSpPr>
        <p:spPr>
          <a:xfrm>
            <a:off x="-124157" y="4514579"/>
            <a:ext cx="1611370" cy="1111845"/>
          </a:xfrm>
          <a:custGeom>
            <a:rect b="b" l="l" r="r" t="t"/>
            <a:pathLst>
              <a:path extrusionOk="0" h="1111845" w="1611370">
                <a:moveTo>
                  <a:pt x="0" y="0"/>
                </a:moveTo>
                <a:lnTo>
                  <a:pt x="1611369" y="0"/>
                </a:lnTo>
                <a:lnTo>
                  <a:pt x="1611369" y="1111845"/>
                </a:lnTo>
                <a:lnTo>
                  <a:pt x="0" y="1111845"/>
                </a:lnTo>
                <a:lnTo>
                  <a:pt x="0" y="0"/>
                </a:lnTo>
                <a:close/>
              </a:path>
            </a:pathLst>
          </a:custGeom>
          <a:blipFill rotWithShape="1">
            <a:blip r:embed="rId9">
              <a:alphaModFix/>
            </a:blip>
            <a:stretch>
              <a:fillRect b="0" l="0" r="0" t="0"/>
            </a:stretch>
          </a:blipFill>
          <a:ln>
            <a:noFill/>
          </a:ln>
        </p:spPr>
      </p:sp>
      <p:sp>
        <p:nvSpPr>
          <p:cNvPr id="256" name="Google Shape;256;p18"/>
          <p:cNvSpPr/>
          <p:nvPr/>
        </p:nvSpPr>
        <p:spPr>
          <a:xfrm flipH="1">
            <a:off x="16800788" y="4514579"/>
            <a:ext cx="1611370" cy="1111845"/>
          </a:xfrm>
          <a:custGeom>
            <a:rect b="b" l="l" r="r" t="t"/>
            <a:pathLst>
              <a:path extrusionOk="0" h="1111845" w="1611370">
                <a:moveTo>
                  <a:pt x="1611369" y="0"/>
                </a:moveTo>
                <a:lnTo>
                  <a:pt x="0" y="0"/>
                </a:lnTo>
                <a:lnTo>
                  <a:pt x="0" y="1111845"/>
                </a:lnTo>
                <a:lnTo>
                  <a:pt x="1611369" y="1111845"/>
                </a:lnTo>
                <a:lnTo>
                  <a:pt x="1611369" y="0"/>
                </a:lnTo>
                <a:close/>
              </a:path>
            </a:pathLst>
          </a:custGeom>
          <a:blipFill rotWithShape="1">
            <a:blip r:embed="rId9">
              <a:alphaModFix/>
            </a:blip>
            <a:stretch>
              <a:fillRect b="0" l="0" r="0" t="0"/>
            </a:stretch>
          </a:blipFill>
          <a:ln>
            <a:noFill/>
          </a:ln>
        </p:spPr>
      </p:sp>
      <p:sp>
        <p:nvSpPr>
          <p:cNvPr id="257" name="Google Shape;257;p18"/>
          <p:cNvSpPr txBox="1"/>
          <p:nvPr/>
        </p:nvSpPr>
        <p:spPr>
          <a:xfrm>
            <a:off x="3889655" y="1746893"/>
            <a:ext cx="10508690" cy="1247775"/>
          </a:xfrm>
          <a:prstGeom prst="rect">
            <a:avLst/>
          </a:prstGeom>
          <a:noFill/>
          <a:ln>
            <a:noFill/>
          </a:ln>
        </p:spPr>
        <p:txBody>
          <a:bodyPr anchorCtr="0" anchor="t" bIns="0" lIns="0" spcFirstLastPara="1" rIns="0" wrap="square" tIns="0">
            <a:spAutoFit/>
          </a:bodyPr>
          <a:lstStyle/>
          <a:p>
            <a:pPr indent="0" lvl="0" marL="0" marR="0" rtl="0" algn="ctr">
              <a:lnSpc>
                <a:spcPct val="136004"/>
              </a:lnSpc>
              <a:spcBef>
                <a:spcPts val="0"/>
              </a:spcBef>
              <a:spcAft>
                <a:spcPts val="0"/>
              </a:spcAft>
              <a:buNone/>
            </a:pPr>
            <a:r>
              <a:rPr b="1" i="0" lang="en-US" sz="7499" u="none" cap="none" strike="noStrike">
                <a:solidFill>
                  <a:srgbClr val="FFFFFF"/>
                </a:solidFill>
                <a:latin typeface="Bebas Neue"/>
                <a:ea typeface="Bebas Neue"/>
                <a:cs typeface="Bebas Neue"/>
                <a:sym typeface="Bebas Neue"/>
              </a:rPr>
              <a:t>Other Applications</a:t>
            </a:r>
            <a:endParaRPr/>
          </a:p>
        </p:txBody>
      </p:sp>
      <p:sp>
        <p:nvSpPr>
          <p:cNvPr id="258" name="Google Shape;258;p18"/>
          <p:cNvSpPr txBox="1"/>
          <p:nvPr/>
        </p:nvSpPr>
        <p:spPr>
          <a:xfrm>
            <a:off x="2401018" y="7238019"/>
            <a:ext cx="3896926" cy="136906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FFFFFF"/>
                </a:solidFill>
                <a:latin typeface="Open Sans"/>
                <a:ea typeface="Open Sans"/>
                <a:cs typeface="Open Sans"/>
                <a:sym typeface="Open Sans"/>
              </a:rPr>
              <a:t>North End Coffee Roasters, based in Dhaka, Bangladesh, specializes in premium single-origin and local blends, with a focus on quality roasting and community partnerships.</a:t>
            </a:r>
            <a:endParaRPr/>
          </a:p>
        </p:txBody>
      </p:sp>
      <p:sp>
        <p:nvSpPr>
          <p:cNvPr id="259" name="Google Shape;259;p18"/>
          <p:cNvSpPr txBox="1"/>
          <p:nvPr/>
        </p:nvSpPr>
        <p:spPr>
          <a:xfrm>
            <a:off x="2711879" y="6690000"/>
            <a:ext cx="3530177"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FFFFFF"/>
                </a:solidFill>
                <a:latin typeface="Open Sans"/>
                <a:ea typeface="Open Sans"/>
                <a:cs typeface="Open Sans"/>
                <a:sym typeface="Open Sans"/>
              </a:rPr>
              <a:t>North End Coffee Roasters</a:t>
            </a:r>
            <a:endParaRPr/>
          </a:p>
        </p:txBody>
      </p:sp>
      <p:sp>
        <p:nvSpPr>
          <p:cNvPr id="260" name="Google Shape;260;p18"/>
          <p:cNvSpPr txBox="1"/>
          <p:nvPr/>
        </p:nvSpPr>
        <p:spPr>
          <a:xfrm>
            <a:off x="7195537" y="7238019"/>
            <a:ext cx="3896926" cy="1092835"/>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FFFFFF"/>
                </a:solidFill>
                <a:latin typeface="Open Sans"/>
                <a:ea typeface="Open Sans"/>
                <a:cs typeface="Open Sans"/>
                <a:sym typeface="Open Sans"/>
              </a:rPr>
              <a:t>Tabaq, Dhaka's coolest coffee spot, serves the town's best Oreo cheesecake and offers a welcoming ambiance with excellent service.</a:t>
            </a:r>
            <a:endParaRPr/>
          </a:p>
        </p:txBody>
      </p:sp>
      <p:sp>
        <p:nvSpPr>
          <p:cNvPr id="261" name="Google Shape;261;p18"/>
          <p:cNvSpPr txBox="1"/>
          <p:nvPr/>
        </p:nvSpPr>
        <p:spPr>
          <a:xfrm>
            <a:off x="7869177" y="6768017"/>
            <a:ext cx="2549646"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FFFFFF"/>
                </a:solidFill>
                <a:latin typeface="Open Sans"/>
                <a:ea typeface="Open Sans"/>
                <a:cs typeface="Open Sans"/>
                <a:sym typeface="Open Sans"/>
              </a:rPr>
              <a:t>TABAQ COFFEE</a:t>
            </a:r>
            <a:endParaRPr/>
          </a:p>
        </p:txBody>
      </p:sp>
      <p:sp>
        <p:nvSpPr>
          <p:cNvPr id="262" name="Google Shape;262;p18"/>
          <p:cNvSpPr txBox="1"/>
          <p:nvPr/>
        </p:nvSpPr>
        <p:spPr>
          <a:xfrm>
            <a:off x="12097864" y="7238019"/>
            <a:ext cx="3896926" cy="1092835"/>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FFFFFF"/>
                </a:solidFill>
                <a:latin typeface="Open Sans"/>
                <a:ea typeface="Open Sans"/>
                <a:cs typeface="Open Sans"/>
                <a:sym typeface="Open Sans"/>
              </a:rPr>
              <a:t>Roll Xpress Café in Banani, Dhaka: the best rolls, heavenly desserts, and a cozy ambiance for quick bites or family dinners.</a:t>
            </a:r>
            <a:endParaRPr/>
          </a:p>
        </p:txBody>
      </p:sp>
      <p:sp>
        <p:nvSpPr>
          <p:cNvPr id="263" name="Google Shape;263;p18"/>
          <p:cNvSpPr txBox="1"/>
          <p:nvPr/>
        </p:nvSpPr>
        <p:spPr>
          <a:xfrm>
            <a:off x="12771504" y="6768017"/>
            <a:ext cx="2549646" cy="69215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US" sz="1999" u="none" cap="none" strike="noStrike">
                <a:solidFill>
                  <a:srgbClr val="FFFFFF"/>
                </a:solidFill>
                <a:latin typeface="Open Sans"/>
                <a:ea typeface="Open Sans"/>
                <a:cs typeface="Open Sans"/>
                <a:sym typeface="Open Sans"/>
              </a:rPr>
              <a:t>Roll Xpress Café</a:t>
            </a:r>
            <a:endParaRPr/>
          </a:p>
          <a:p>
            <a:pPr indent="0" lvl="0" marL="0" marR="0" rtl="0" algn="ctr">
              <a:lnSpc>
                <a:spcPct val="140020"/>
              </a:lnSpc>
              <a:spcBef>
                <a:spcPts val="0"/>
              </a:spcBef>
              <a:spcAft>
                <a:spcPts val="0"/>
              </a:spcAft>
              <a:buNone/>
            </a:pPr>
            <a:r>
              <a:t/>
            </a:r>
            <a:endParaRPr b="1" i="0" sz="1999" u="none" cap="none" strike="noStrike">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267" name="Shape 267"/>
        <p:cNvGrpSpPr/>
        <p:nvPr/>
      </p:nvGrpSpPr>
      <p:grpSpPr>
        <a:xfrm>
          <a:off x="0" y="0"/>
          <a:ext cx="0" cy="0"/>
          <a:chOff x="0" y="0"/>
          <a:chExt cx="0" cy="0"/>
        </a:xfrm>
      </p:grpSpPr>
      <p:grpSp>
        <p:nvGrpSpPr>
          <p:cNvPr id="268" name="Google Shape;268;p19"/>
          <p:cNvGrpSpPr/>
          <p:nvPr/>
        </p:nvGrpSpPr>
        <p:grpSpPr>
          <a:xfrm>
            <a:off x="1899415" y="1907846"/>
            <a:ext cx="6451973" cy="6462285"/>
            <a:chOff x="-2540" y="-25400"/>
            <a:chExt cx="12712700" cy="12733019"/>
          </a:xfrm>
        </p:grpSpPr>
        <p:sp>
          <p:nvSpPr>
            <p:cNvPr id="269" name="Google Shape;269;p19"/>
            <p:cNvSpPr/>
            <p:nvPr/>
          </p:nvSpPr>
          <p:spPr>
            <a:xfrm>
              <a:off x="3878580" y="-25400"/>
              <a:ext cx="8831580" cy="12733019"/>
            </a:xfrm>
            <a:custGeom>
              <a:rect b="b" l="l" r="r" t="t"/>
              <a:pathLst>
                <a:path extrusionOk="0" h="12733019" w="8831580">
                  <a:moveTo>
                    <a:pt x="8831580" y="2540"/>
                  </a:moveTo>
                  <a:cubicBezTo>
                    <a:pt x="8831580" y="2540"/>
                    <a:pt x="3810" y="5080"/>
                    <a:pt x="0" y="0"/>
                  </a:cubicBezTo>
                  <a:lnTo>
                    <a:pt x="568959" y="1257300"/>
                  </a:lnTo>
                  <a:lnTo>
                    <a:pt x="1337309" y="2103120"/>
                  </a:lnTo>
                  <a:lnTo>
                    <a:pt x="1522729" y="5595620"/>
                  </a:lnTo>
                  <a:lnTo>
                    <a:pt x="2012950" y="6838950"/>
                  </a:lnTo>
                  <a:lnTo>
                    <a:pt x="2171700" y="7791450"/>
                  </a:lnTo>
                  <a:lnTo>
                    <a:pt x="2701290" y="8426450"/>
                  </a:lnTo>
                  <a:lnTo>
                    <a:pt x="2926080" y="10383520"/>
                  </a:lnTo>
                  <a:lnTo>
                    <a:pt x="3138170" y="10873739"/>
                  </a:lnTo>
                  <a:lnTo>
                    <a:pt x="3721100" y="11534139"/>
                  </a:lnTo>
                  <a:lnTo>
                    <a:pt x="3972560" y="11878309"/>
                  </a:lnTo>
                  <a:lnTo>
                    <a:pt x="4038600" y="12090399"/>
                  </a:lnTo>
                  <a:lnTo>
                    <a:pt x="4263390" y="12461239"/>
                  </a:lnTo>
                  <a:lnTo>
                    <a:pt x="4309110" y="12564109"/>
                  </a:lnTo>
                  <a:lnTo>
                    <a:pt x="4325620" y="12622529"/>
                  </a:lnTo>
                  <a:lnTo>
                    <a:pt x="4345940" y="12733019"/>
                  </a:lnTo>
                  <a:lnTo>
                    <a:pt x="8830309" y="12733019"/>
                  </a:lnTo>
                </a:path>
              </a:pathLst>
            </a:custGeom>
            <a:blipFill rotWithShape="1">
              <a:blip r:embed="rId3">
                <a:alphaModFix/>
              </a:blip>
              <a:stretch>
                <a:fillRect b="0" l="0" r="-7927" t="-1228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2540" y="-25400"/>
              <a:ext cx="8227060" cy="12717780"/>
            </a:xfrm>
            <a:custGeom>
              <a:rect b="b" l="l" r="r" t="t"/>
              <a:pathLst>
                <a:path extrusionOk="0" h="12717780" w="8227060">
                  <a:moveTo>
                    <a:pt x="3881120" y="0"/>
                  </a:moveTo>
                  <a:lnTo>
                    <a:pt x="4450080" y="1256030"/>
                  </a:lnTo>
                  <a:lnTo>
                    <a:pt x="5218430" y="2100580"/>
                  </a:lnTo>
                  <a:lnTo>
                    <a:pt x="5403850" y="5589270"/>
                  </a:lnTo>
                  <a:lnTo>
                    <a:pt x="5894070" y="6831330"/>
                  </a:lnTo>
                  <a:lnTo>
                    <a:pt x="6052820" y="7782561"/>
                  </a:lnTo>
                  <a:lnTo>
                    <a:pt x="6582410" y="8417561"/>
                  </a:lnTo>
                  <a:lnTo>
                    <a:pt x="6807200" y="10372091"/>
                  </a:lnTo>
                  <a:lnTo>
                    <a:pt x="7019290" y="10861041"/>
                  </a:lnTo>
                  <a:lnTo>
                    <a:pt x="7602220" y="11521441"/>
                  </a:lnTo>
                  <a:lnTo>
                    <a:pt x="7853680" y="11864341"/>
                  </a:lnTo>
                  <a:lnTo>
                    <a:pt x="7919720" y="12076431"/>
                  </a:lnTo>
                  <a:lnTo>
                    <a:pt x="8144510" y="12446001"/>
                  </a:lnTo>
                  <a:lnTo>
                    <a:pt x="8190230" y="12548870"/>
                  </a:lnTo>
                  <a:lnTo>
                    <a:pt x="8206740" y="12607290"/>
                  </a:lnTo>
                  <a:lnTo>
                    <a:pt x="8227060" y="12717780"/>
                  </a:lnTo>
                  <a:lnTo>
                    <a:pt x="0" y="12717780"/>
                  </a:lnTo>
                  <a:lnTo>
                    <a:pt x="0" y="2540"/>
                  </a:lnTo>
                  <a:cubicBezTo>
                    <a:pt x="0" y="2540"/>
                    <a:pt x="3886200" y="5080"/>
                    <a:pt x="3881120" y="0"/>
                  </a:cubicBezTo>
                  <a:close/>
                </a:path>
              </a:pathLst>
            </a:custGeom>
            <a:blipFill rotWithShape="1">
              <a:blip r:embed="rId4">
                <a:alphaModFix/>
              </a:blip>
              <a:stretch>
                <a:fillRect b="-13607" l="-1708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4357370" y="1120140"/>
              <a:ext cx="3891280" cy="11572240"/>
            </a:xfrm>
            <a:custGeom>
              <a:rect b="b" l="l" r="r" t="t"/>
              <a:pathLst>
                <a:path extrusionOk="0" h="11572240" w="3891280">
                  <a:moveTo>
                    <a:pt x="0" y="0"/>
                  </a:moveTo>
                  <a:lnTo>
                    <a:pt x="3891280" y="0"/>
                  </a:lnTo>
                  <a:lnTo>
                    <a:pt x="3891280" y="11572240"/>
                  </a:lnTo>
                  <a:lnTo>
                    <a:pt x="0" y="11572240"/>
                  </a:lnTo>
                  <a:lnTo>
                    <a:pt x="0" y="0"/>
                  </a:lnTo>
                  <a:close/>
                </a:path>
              </a:pathLst>
            </a:custGeom>
            <a:blipFill rotWithShape="1">
              <a:blip r:embed="rId5">
                <a:alphaModFix/>
              </a:blip>
              <a:stretch>
                <a:fillRect b="-62" l="0" r="0" t="-61"/>
              </a:stretch>
            </a:blipFill>
            <a:ln>
              <a:noFill/>
            </a:ln>
          </p:spPr>
        </p:sp>
      </p:grpSp>
      <p:sp>
        <p:nvSpPr>
          <p:cNvPr id="272" name="Google Shape;272;p19"/>
          <p:cNvSpPr txBox="1"/>
          <p:nvPr/>
        </p:nvSpPr>
        <p:spPr>
          <a:xfrm>
            <a:off x="9441099" y="1688510"/>
            <a:ext cx="7818201" cy="1021080"/>
          </a:xfrm>
          <a:prstGeom prst="rect">
            <a:avLst/>
          </a:prstGeom>
          <a:noFill/>
          <a:ln>
            <a:noFill/>
          </a:ln>
        </p:spPr>
        <p:txBody>
          <a:bodyPr anchorCtr="0" anchor="t" bIns="0" lIns="0" spcFirstLastPara="1" rIns="0" wrap="square" tIns="0">
            <a:spAutoFit/>
          </a:bodyPr>
          <a:lstStyle/>
          <a:p>
            <a:pPr indent="0" lvl="0" marL="0" marR="0" rtl="0" algn="l">
              <a:lnSpc>
                <a:spcPct val="136000"/>
              </a:lnSpc>
              <a:spcBef>
                <a:spcPts val="0"/>
              </a:spcBef>
              <a:spcAft>
                <a:spcPts val="0"/>
              </a:spcAft>
              <a:buNone/>
            </a:pPr>
            <a:r>
              <a:rPr b="1" i="0" lang="en-US" sz="6000" u="none" cap="none" strike="noStrike">
                <a:solidFill>
                  <a:srgbClr val="FFFFFF"/>
                </a:solidFill>
                <a:latin typeface="Bebas Neue"/>
                <a:ea typeface="Bebas Neue"/>
                <a:cs typeface="Bebas Neue"/>
                <a:sym typeface="Bebas Neue"/>
              </a:rPr>
              <a:t>Problem in other applications </a:t>
            </a:r>
            <a:endParaRPr/>
          </a:p>
        </p:txBody>
      </p:sp>
      <p:sp>
        <p:nvSpPr>
          <p:cNvPr id="273" name="Google Shape;273;p19"/>
          <p:cNvSpPr txBox="1"/>
          <p:nvPr/>
        </p:nvSpPr>
        <p:spPr>
          <a:xfrm>
            <a:off x="10922018" y="3083104"/>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Website Navigation and Load Time</a:t>
            </a:r>
            <a:endParaRPr/>
          </a:p>
        </p:txBody>
      </p:sp>
      <p:sp>
        <p:nvSpPr>
          <p:cNvPr id="274" name="Google Shape;274;p19"/>
          <p:cNvSpPr txBox="1"/>
          <p:nvPr/>
        </p:nvSpPr>
        <p:spPr>
          <a:xfrm>
            <a:off x="10922018" y="4127884"/>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Mobile Responsiveness</a:t>
            </a:r>
            <a:endParaRPr/>
          </a:p>
        </p:txBody>
      </p:sp>
      <p:sp>
        <p:nvSpPr>
          <p:cNvPr id="275" name="Google Shape;275;p19"/>
          <p:cNvSpPr txBox="1"/>
          <p:nvPr/>
        </p:nvSpPr>
        <p:spPr>
          <a:xfrm>
            <a:off x="10922018" y="5173094"/>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Payment Options</a:t>
            </a:r>
            <a:endParaRPr/>
          </a:p>
        </p:txBody>
      </p:sp>
      <p:sp>
        <p:nvSpPr>
          <p:cNvPr id="276" name="Google Shape;276;p19"/>
          <p:cNvSpPr txBox="1"/>
          <p:nvPr/>
        </p:nvSpPr>
        <p:spPr>
          <a:xfrm>
            <a:off x="10922018" y="7369332"/>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Content Update &amp; Diverse Content</a:t>
            </a:r>
            <a:endParaRPr/>
          </a:p>
        </p:txBody>
      </p:sp>
      <p:sp>
        <p:nvSpPr>
          <p:cNvPr id="277" name="Google Shape;277;p19"/>
          <p:cNvSpPr/>
          <p:nvPr/>
        </p:nvSpPr>
        <p:spPr>
          <a:xfrm flipH="1" rot="10800000">
            <a:off x="-184762" y="7325510"/>
            <a:ext cx="2239632" cy="3469852"/>
          </a:xfrm>
          <a:custGeom>
            <a:rect b="b" l="l" r="r" t="t"/>
            <a:pathLst>
              <a:path extrusionOk="0" h="3469852" w="2239632">
                <a:moveTo>
                  <a:pt x="0" y="3469853"/>
                </a:moveTo>
                <a:lnTo>
                  <a:pt x="2239632" y="3469853"/>
                </a:lnTo>
                <a:lnTo>
                  <a:pt x="2239632" y="0"/>
                </a:lnTo>
                <a:lnTo>
                  <a:pt x="0" y="0"/>
                </a:lnTo>
                <a:lnTo>
                  <a:pt x="0" y="3469853"/>
                </a:lnTo>
                <a:close/>
              </a:path>
            </a:pathLst>
          </a:custGeom>
          <a:blipFill rotWithShape="1">
            <a:blip r:embed="rId6">
              <a:alphaModFix/>
            </a:blip>
            <a:stretch>
              <a:fillRect b="0" l="0" r="0" t="0"/>
            </a:stretch>
          </a:blipFill>
          <a:ln>
            <a:noFill/>
          </a:ln>
        </p:spPr>
      </p:sp>
      <p:sp>
        <p:nvSpPr>
          <p:cNvPr id="278" name="Google Shape;278;p19"/>
          <p:cNvSpPr/>
          <p:nvPr/>
        </p:nvSpPr>
        <p:spPr>
          <a:xfrm>
            <a:off x="2206758" y="8787831"/>
            <a:ext cx="1779411" cy="1734926"/>
          </a:xfrm>
          <a:custGeom>
            <a:rect b="b" l="l" r="r" t="t"/>
            <a:pathLst>
              <a:path extrusionOk="0" h="1734926" w="1779411">
                <a:moveTo>
                  <a:pt x="0" y="0"/>
                </a:moveTo>
                <a:lnTo>
                  <a:pt x="1779411" y="0"/>
                </a:lnTo>
                <a:lnTo>
                  <a:pt x="1779411" y="1734926"/>
                </a:lnTo>
                <a:lnTo>
                  <a:pt x="0" y="1734926"/>
                </a:lnTo>
                <a:lnTo>
                  <a:pt x="0" y="0"/>
                </a:lnTo>
                <a:close/>
              </a:path>
            </a:pathLst>
          </a:custGeom>
          <a:blipFill rotWithShape="1">
            <a:blip r:embed="rId7">
              <a:alphaModFix/>
            </a:blip>
            <a:stretch>
              <a:fillRect b="0" l="0" r="0" t="0"/>
            </a:stretch>
          </a:blipFill>
          <a:ln>
            <a:noFill/>
          </a:ln>
        </p:spPr>
      </p:sp>
      <p:sp>
        <p:nvSpPr>
          <p:cNvPr id="279" name="Google Shape;279;p19"/>
          <p:cNvSpPr/>
          <p:nvPr/>
        </p:nvSpPr>
        <p:spPr>
          <a:xfrm flipH="1">
            <a:off x="7157186" y="1075685"/>
            <a:ext cx="1703989" cy="1175753"/>
          </a:xfrm>
          <a:custGeom>
            <a:rect b="b" l="l" r="r" t="t"/>
            <a:pathLst>
              <a:path extrusionOk="0" h="1175753" w="1703989">
                <a:moveTo>
                  <a:pt x="1703989" y="0"/>
                </a:moveTo>
                <a:lnTo>
                  <a:pt x="0" y="0"/>
                </a:lnTo>
                <a:lnTo>
                  <a:pt x="0" y="1175753"/>
                </a:lnTo>
                <a:lnTo>
                  <a:pt x="1703989" y="1175753"/>
                </a:lnTo>
                <a:lnTo>
                  <a:pt x="1703989" y="0"/>
                </a:lnTo>
                <a:close/>
              </a:path>
            </a:pathLst>
          </a:custGeom>
          <a:blipFill rotWithShape="1">
            <a:blip r:embed="rId8">
              <a:alphaModFix/>
            </a:blip>
            <a:stretch>
              <a:fillRect b="0" l="0" r="0" t="0"/>
            </a:stretch>
          </a:blipFill>
          <a:ln>
            <a:noFill/>
          </a:ln>
        </p:spPr>
      </p:sp>
      <p:sp>
        <p:nvSpPr>
          <p:cNvPr id="280" name="Google Shape;280;p19"/>
          <p:cNvSpPr txBox="1"/>
          <p:nvPr/>
        </p:nvSpPr>
        <p:spPr>
          <a:xfrm>
            <a:off x="10922018" y="8330574"/>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Limited Online Presence</a:t>
            </a:r>
            <a:endParaRPr/>
          </a:p>
        </p:txBody>
      </p:sp>
      <p:sp>
        <p:nvSpPr>
          <p:cNvPr id="281" name="Google Shape;281;p19"/>
          <p:cNvSpPr txBox="1"/>
          <p:nvPr/>
        </p:nvSpPr>
        <p:spPr>
          <a:xfrm>
            <a:off x="10922018" y="6228023"/>
            <a:ext cx="5247098" cy="33972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FFFFFF"/>
                </a:solidFill>
                <a:latin typeface="Open Sans"/>
                <a:ea typeface="Open Sans"/>
                <a:cs typeface="Open Sans"/>
                <a:sym typeface="Open Sans"/>
              </a:rPr>
              <a:t>Online Ordering Clarity</a:t>
            </a:r>
            <a:endParaRPr/>
          </a:p>
        </p:txBody>
      </p:sp>
      <p:grpSp>
        <p:nvGrpSpPr>
          <p:cNvPr id="282" name="Google Shape;282;p19"/>
          <p:cNvGrpSpPr/>
          <p:nvPr/>
        </p:nvGrpSpPr>
        <p:grpSpPr>
          <a:xfrm>
            <a:off x="9764313" y="2821109"/>
            <a:ext cx="900298" cy="2925333"/>
            <a:chOff x="0" y="0"/>
            <a:chExt cx="1200397" cy="3900445"/>
          </a:xfrm>
        </p:grpSpPr>
        <p:grpSp>
          <p:nvGrpSpPr>
            <p:cNvPr id="283" name="Google Shape;283;p19"/>
            <p:cNvGrpSpPr/>
            <p:nvPr/>
          </p:nvGrpSpPr>
          <p:grpSpPr>
            <a:xfrm>
              <a:off x="0" y="0"/>
              <a:ext cx="1165673" cy="1165673"/>
              <a:chOff x="0" y="0"/>
              <a:chExt cx="812800" cy="812800"/>
            </a:xfrm>
          </p:grpSpPr>
          <p:sp>
            <p:nvSpPr>
              <p:cNvPr id="284" name="Google Shape;284;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19"/>
            <p:cNvSpPr txBox="1"/>
            <p:nvPr/>
          </p:nvSpPr>
          <p:spPr>
            <a:xfrm>
              <a:off x="0" y="261536"/>
              <a:ext cx="1165673" cy="52664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01</a:t>
              </a:r>
              <a:endParaRPr/>
            </a:p>
          </p:txBody>
        </p:sp>
        <p:grpSp>
          <p:nvGrpSpPr>
            <p:cNvPr id="287" name="Google Shape;287;p19"/>
            <p:cNvGrpSpPr/>
            <p:nvPr/>
          </p:nvGrpSpPr>
          <p:grpSpPr>
            <a:xfrm>
              <a:off x="0" y="1365899"/>
              <a:ext cx="1165673" cy="1165673"/>
              <a:chOff x="0" y="0"/>
              <a:chExt cx="812800" cy="812800"/>
            </a:xfrm>
          </p:grpSpPr>
          <p:sp>
            <p:nvSpPr>
              <p:cNvPr id="288" name="Google Shape;288;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9"/>
            <p:cNvSpPr txBox="1"/>
            <p:nvPr/>
          </p:nvSpPr>
          <p:spPr>
            <a:xfrm>
              <a:off x="0" y="1666361"/>
              <a:ext cx="1165673" cy="52664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02</a:t>
              </a:r>
              <a:endParaRPr/>
            </a:p>
          </p:txBody>
        </p:sp>
        <p:grpSp>
          <p:nvGrpSpPr>
            <p:cNvPr id="291" name="Google Shape;291;p19"/>
            <p:cNvGrpSpPr/>
            <p:nvPr/>
          </p:nvGrpSpPr>
          <p:grpSpPr>
            <a:xfrm>
              <a:off x="34724" y="2734772"/>
              <a:ext cx="1165673" cy="1165673"/>
              <a:chOff x="0" y="0"/>
              <a:chExt cx="812800" cy="812800"/>
            </a:xfrm>
          </p:grpSpPr>
          <p:sp>
            <p:nvSpPr>
              <p:cNvPr id="292" name="Google Shape;292;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94" name="Google Shape;294;p19"/>
          <p:cNvSpPr txBox="1"/>
          <p:nvPr/>
        </p:nvSpPr>
        <p:spPr>
          <a:xfrm>
            <a:off x="9764313" y="5105400"/>
            <a:ext cx="874255" cy="404511"/>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03</a:t>
            </a:r>
            <a:endParaRPr/>
          </a:p>
        </p:txBody>
      </p:sp>
      <p:grpSp>
        <p:nvGrpSpPr>
          <p:cNvPr id="295" name="Google Shape;295;p19"/>
          <p:cNvGrpSpPr/>
          <p:nvPr/>
        </p:nvGrpSpPr>
        <p:grpSpPr>
          <a:xfrm>
            <a:off x="9811938" y="5998260"/>
            <a:ext cx="874255" cy="874255"/>
            <a:chOff x="0" y="0"/>
            <a:chExt cx="812800" cy="812800"/>
          </a:xfrm>
        </p:grpSpPr>
        <p:sp>
          <p:nvSpPr>
            <p:cNvPr id="296" name="Google Shape;296;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19"/>
          <p:cNvSpPr txBox="1"/>
          <p:nvPr/>
        </p:nvSpPr>
        <p:spPr>
          <a:xfrm>
            <a:off x="9811938" y="6184887"/>
            <a:ext cx="874255" cy="404511"/>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04</a:t>
            </a:r>
            <a:endParaRPr/>
          </a:p>
        </p:txBody>
      </p:sp>
      <p:grpSp>
        <p:nvGrpSpPr>
          <p:cNvPr id="299" name="Google Shape;299;p19"/>
          <p:cNvGrpSpPr/>
          <p:nvPr/>
        </p:nvGrpSpPr>
        <p:grpSpPr>
          <a:xfrm>
            <a:off x="9811938" y="7022684"/>
            <a:ext cx="874255" cy="874255"/>
            <a:chOff x="0" y="0"/>
            <a:chExt cx="812800" cy="812800"/>
          </a:xfrm>
        </p:grpSpPr>
        <p:sp>
          <p:nvSpPr>
            <p:cNvPr id="300" name="Google Shape;300;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19"/>
          <p:cNvSpPr txBox="1"/>
          <p:nvPr/>
        </p:nvSpPr>
        <p:spPr>
          <a:xfrm>
            <a:off x="9811938" y="7238506"/>
            <a:ext cx="874255" cy="404511"/>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05</a:t>
            </a:r>
            <a:endParaRPr/>
          </a:p>
        </p:txBody>
      </p:sp>
      <p:grpSp>
        <p:nvGrpSpPr>
          <p:cNvPr id="303" name="Google Shape;303;p19"/>
          <p:cNvGrpSpPr/>
          <p:nvPr/>
        </p:nvGrpSpPr>
        <p:grpSpPr>
          <a:xfrm>
            <a:off x="9837980" y="8049339"/>
            <a:ext cx="874255" cy="874255"/>
            <a:chOff x="0" y="0"/>
            <a:chExt cx="812800" cy="812800"/>
          </a:xfrm>
        </p:grpSpPr>
        <p:sp>
          <p:nvSpPr>
            <p:cNvPr id="304" name="Google Shape;304;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8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19"/>
          <p:cNvSpPr txBox="1"/>
          <p:nvPr/>
        </p:nvSpPr>
        <p:spPr>
          <a:xfrm>
            <a:off x="9837980" y="8258889"/>
            <a:ext cx="874255" cy="404511"/>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49" u="none" cap="none" strike="noStrike">
                <a:solidFill>
                  <a:srgbClr val="FFFFFF"/>
                </a:solidFill>
                <a:latin typeface="Open Sans"/>
                <a:ea typeface="Open Sans"/>
                <a:cs typeface="Open Sans"/>
                <a:sym typeface="Open Sans"/>
              </a:rPr>
              <a:t>06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3" l="0" r="0" t="-38885"/>
            </a:stretch>
          </a:blipFill>
          <a:ln>
            <a:noFill/>
          </a:ln>
        </p:spPr>
      </p:sp>
      <p:grpSp>
        <p:nvGrpSpPr>
          <p:cNvPr id="312" name="Google Shape;312;p20"/>
          <p:cNvGrpSpPr/>
          <p:nvPr/>
        </p:nvGrpSpPr>
        <p:grpSpPr>
          <a:xfrm>
            <a:off x="1398725" y="169690"/>
            <a:ext cx="7303455" cy="8611282"/>
            <a:chOff x="0" y="-142875"/>
            <a:chExt cx="797874" cy="940749"/>
          </a:xfrm>
        </p:grpSpPr>
        <p:sp>
          <p:nvSpPr>
            <p:cNvPr id="313" name="Google Shape;313;p20"/>
            <p:cNvSpPr/>
            <p:nvPr/>
          </p:nvSpPr>
          <p:spPr>
            <a:xfrm>
              <a:off x="0" y="0"/>
              <a:ext cx="797874" cy="797874"/>
            </a:xfrm>
            <a:custGeom>
              <a:rect b="b" l="l" r="r" t="t"/>
              <a:pathLst>
                <a:path extrusionOk="0" h="797874" w="797874">
                  <a:moveTo>
                    <a:pt x="0" y="0"/>
                  </a:moveTo>
                  <a:lnTo>
                    <a:pt x="797874" y="0"/>
                  </a:lnTo>
                  <a:lnTo>
                    <a:pt x="797874" y="797874"/>
                  </a:lnTo>
                  <a:lnTo>
                    <a:pt x="0" y="797874"/>
                  </a:lnTo>
                  <a:close/>
                </a:path>
              </a:pathLst>
            </a:custGeom>
            <a:solidFill>
              <a:srgbClr val="FFC259"/>
            </a:solidFill>
            <a:ln>
              <a:noFill/>
            </a:ln>
          </p:spPr>
        </p:sp>
        <p:sp>
          <p:nvSpPr>
            <p:cNvPr id="314" name="Google Shape;314;p20"/>
            <p:cNvSpPr txBox="1"/>
            <p:nvPr/>
          </p:nvSpPr>
          <p:spPr>
            <a:xfrm>
              <a:off x="0" y="-142875"/>
              <a:ext cx="797874" cy="940749"/>
            </a:xfrm>
            <a:prstGeom prst="rect">
              <a:avLst/>
            </a:prstGeom>
            <a:noFill/>
            <a:ln>
              <a:noFill/>
            </a:ln>
          </p:spPr>
          <p:txBody>
            <a:bodyPr anchorCtr="0" anchor="ctr" bIns="50800" lIns="50800" spcFirstLastPara="1" rIns="50800" wrap="square" tIns="50800">
              <a:noAutofit/>
            </a:bodyPr>
            <a:lstStyle/>
            <a:p>
              <a:pPr indent="0" lvl="0" marL="0" marR="0" rtl="0" algn="ctr">
                <a:lnSpc>
                  <a:spcPct val="176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20"/>
          <p:cNvGrpSpPr/>
          <p:nvPr/>
        </p:nvGrpSpPr>
        <p:grpSpPr>
          <a:xfrm>
            <a:off x="9615112" y="169690"/>
            <a:ext cx="7303455" cy="8611282"/>
            <a:chOff x="0" y="-142875"/>
            <a:chExt cx="797874" cy="940749"/>
          </a:xfrm>
        </p:grpSpPr>
        <p:sp>
          <p:nvSpPr>
            <p:cNvPr id="316" name="Google Shape;316;p20"/>
            <p:cNvSpPr/>
            <p:nvPr/>
          </p:nvSpPr>
          <p:spPr>
            <a:xfrm>
              <a:off x="0" y="0"/>
              <a:ext cx="797874" cy="797874"/>
            </a:xfrm>
            <a:custGeom>
              <a:rect b="b" l="l" r="r" t="t"/>
              <a:pathLst>
                <a:path extrusionOk="0" h="797874" w="797874">
                  <a:moveTo>
                    <a:pt x="0" y="0"/>
                  </a:moveTo>
                  <a:lnTo>
                    <a:pt x="797874" y="0"/>
                  </a:lnTo>
                  <a:lnTo>
                    <a:pt x="797874" y="797874"/>
                  </a:lnTo>
                  <a:lnTo>
                    <a:pt x="0" y="797874"/>
                  </a:lnTo>
                  <a:close/>
                </a:path>
              </a:pathLst>
            </a:custGeom>
            <a:solidFill>
              <a:srgbClr val="F8F7F2"/>
            </a:solidFill>
            <a:ln>
              <a:noFill/>
            </a:ln>
          </p:spPr>
        </p:sp>
        <p:sp>
          <p:nvSpPr>
            <p:cNvPr id="317" name="Google Shape;317;p20"/>
            <p:cNvSpPr txBox="1"/>
            <p:nvPr/>
          </p:nvSpPr>
          <p:spPr>
            <a:xfrm>
              <a:off x="0" y="-142875"/>
              <a:ext cx="797874" cy="940749"/>
            </a:xfrm>
            <a:prstGeom prst="rect">
              <a:avLst/>
            </a:prstGeom>
            <a:noFill/>
            <a:ln>
              <a:noFill/>
            </a:ln>
          </p:spPr>
          <p:txBody>
            <a:bodyPr anchorCtr="0" anchor="ctr" bIns="50800" lIns="50800" spcFirstLastPara="1" rIns="50800" wrap="square" tIns="50800">
              <a:noAutofit/>
            </a:bodyPr>
            <a:lstStyle/>
            <a:p>
              <a:pPr indent="0" lvl="0" marL="0" marR="0" rtl="0" algn="ctr">
                <a:lnSpc>
                  <a:spcPct val="176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20"/>
          <p:cNvSpPr txBox="1"/>
          <p:nvPr/>
        </p:nvSpPr>
        <p:spPr>
          <a:xfrm>
            <a:off x="3171985" y="3517630"/>
            <a:ext cx="4763640" cy="888365"/>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Optimize website: streamline navigation, compress images, and enhance code for faster load times.</a:t>
            </a:r>
            <a:endParaRPr/>
          </a:p>
        </p:txBody>
      </p:sp>
      <p:sp>
        <p:nvSpPr>
          <p:cNvPr id="319" name="Google Shape;319;p20"/>
          <p:cNvSpPr txBox="1"/>
          <p:nvPr/>
        </p:nvSpPr>
        <p:spPr>
          <a:xfrm>
            <a:off x="1855191" y="3560338"/>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01.</a:t>
            </a:r>
            <a:endParaRPr/>
          </a:p>
        </p:txBody>
      </p:sp>
      <p:cxnSp>
        <p:nvCxnSpPr>
          <p:cNvPr id="320" name="Google Shape;320;p20"/>
          <p:cNvCxnSpPr/>
          <p:nvPr/>
        </p:nvCxnSpPr>
        <p:spPr>
          <a:xfrm>
            <a:off x="1956147" y="4825095"/>
            <a:ext cx="5646423" cy="0"/>
          </a:xfrm>
          <a:prstGeom prst="straightConnector1">
            <a:avLst/>
          </a:prstGeom>
          <a:noFill/>
          <a:ln cap="flat" cmpd="sng" w="19050">
            <a:solidFill>
              <a:srgbClr val="222222"/>
            </a:solidFill>
            <a:prstDash val="solid"/>
            <a:round/>
            <a:headEnd len="sm" w="sm" type="none"/>
            <a:tailEnd len="sm" w="sm" type="none"/>
          </a:ln>
        </p:spPr>
      </p:cxnSp>
      <p:sp>
        <p:nvSpPr>
          <p:cNvPr id="321" name="Google Shape;321;p20"/>
          <p:cNvSpPr txBox="1"/>
          <p:nvPr/>
        </p:nvSpPr>
        <p:spPr>
          <a:xfrm>
            <a:off x="3171985" y="5085381"/>
            <a:ext cx="4918684" cy="118364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Ensure mobile responsiveness by employing responsive design principles, adapting content seamlessly across various devices.</a:t>
            </a:r>
            <a:endParaRPr/>
          </a:p>
        </p:txBody>
      </p:sp>
      <p:sp>
        <p:nvSpPr>
          <p:cNvPr id="322" name="Google Shape;322;p20"/>
          <p:cNvSpPr txBox="1"/>
          <p:nvPr/>
        </p:nvSpPr>
        <p:spPr>
          <a:xfrm>
            <a:off x="1855191" y="5261439"/>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02.</a:t>
            </a:r>
            <a:endParaRPr/>
          </a:p>
        </p:txBody>
      </p:sp>
      <p:cxnSp>
        <p:nvCxnSpPr>
          <p:cNvPr id="323" name="Google Shape;323;p20"/>
          <p:cNvCxnSpPr/>
          <p:nvPr/>
        </p:nvCxnSpPr>
        <p:spPr>
          <a:xfrm>
            <a:off x="1956147" y="6526196"/>
            <a:ext cx="5646423" cy="0"/>
          </a:xfrm>
          <a:prstGeom prst="straightConnector1">
            <a:avLst/>
          </a:prstGeom>
          <a:noFill/>
          <a:ln cap="flat" cmpd="sng" w="19050">
            <a:solidFill>
              <a:srgbClr val="222222"/>
            </a:solidFill>
            <a:prstDash val="solid"/>
            <a:round/>
            <a:headEnd len="sm" w="sm" type="none"/>
            <a:tailEnd len="sm" w="sm" type="none"/>
          </a:ln>
        </p:spPr>
      </p:cxnSp>
      <p:sp>
        <p:nvSpPr>
          <p:cNvPr id="324" name="Google Shape;324;p20"/>
          <p:cNvSpPr txBox="1"/>
          <p:nvPr/>
        </p:nvSpPr>
        <p:spPr>
          <a:xfrm>
            <a:off x="3171985" y="6816101"/>
            <a:ext cx="4918684" cy="118364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Diversify payment options by including popular methods such as credit/debit cards, digital wallets, and ensuring a seamless checkout experience.</a:t>
            </a:r>
            <a:endParaRPr/>
          </a:p>
        </p:txBody>
      </p:sp>
      <p:sp>
        <p:nvSpPr>
          <p:cNvPr id="325" name="Google Shape;325;p20"/>
          <p:cNvSpPr txBox="1"/>
          <p:nvPr/>
        </p:nvSpPr>
        <p:spPr>
          <a:xfrm>
            <a:off x="1855191" y="6962541"/>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03.</a:t>
            </a:r>
            <a:endParaRPr/>
          </a:p>
        </p:txBody>
      </p:sp>
      <p:cxnSp>
        <p:nvCxnSpPr>
          <p:cNvPr id="326" name="Google Shape;326;p20"/>
          <p:cNvCxnSpPr/>
          <p:nvPr/>
        </p:nvCxnSpPr>
        <p:spPr>
          <a:xfrm>
            <a:off x="1956147" y="8227297"/>
            <a:ext cx="5646423" cy="0"/>
          </a:xfrm>
          <a:prstGeom prst="straightConnector1">
            <a:avLst/>
          </a:prstGeom>
          <a:noFill/>
          <a:ln cap="flat" cmpd="sng" w="19050">
            <a:solidFill>
              <a:srgbClr val="222222"/>
            </a:solidFill>
            <a:prstDash val="solid"/>
            <a:round/>
            <a:headEnd len="sm" w="sm" type="none"/>
            <a:tailEnd len="sm" w="sm" type="none"/>
          </a:ln>
        </p:spPr>
      </p:cxnSp>
      <p:sp>
        <p:nvSpPr>
          <p:cNvPr id="327" name="Google Shape;327;p20"/>
          <p:cNvSpPr txBox="1"/>
          <p:nvPr/>
        </p:nvSpPr>
        <p:spPr>
          <a:xfrm>
            <a:off x="11543416" y="1928064"/>
            <a:ext cx="4005752" cy="118364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Enhance online ordering clarity by simplifying the checkout process, providing clear instructions, and ensuring user-friendly navigation.</a:t>
            </a:r>
            <a:endParaRPr/>
          </a:p>
        </p:txBody>
      </p:sp>
      <p:sp>
        <p:nvSpPr>
          <p:cNvPr id="328" name="Google Shape;328;p20"/>
          <p:cNvSpPr txBox="1"/>
          <p:nvPr/>
        </p:nvSpPr>
        <p:spPr>
          <a:xfrm>
            <a:off x="11543416" y="3586910"/>
            <a:ext cx="4005752" cy="118364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Keep the website dynamic by regularly updating content and diversifying it to engage users with fresh and varied information.</a:t>
            </a:r>
            <a:endParaRPr/>
          </a:p>
        </p:txBody>
      </p:sp>
      <p:sp>
        <p:nvSpPr>
          <p:cNvPr id="329" name="Google Shape;329;p20"/>
          <p:cNvSpPr txBox="1"/>
          <p:nvPr/>
        </p:nvSpPr>
        <p:spPr>
          <a:xfrm>
            <a:off x="10071577" y="2074503"/>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04.</a:t>
            </a:r>
            <a:endParaRPr/>
          </a:p>
        </p:txBody>
      </p:sp>
      <p:sp>
        <p:nvSpPr>
          <p:cNvPr id="330" name="Google Shape;330;p20"/>
          <p:cNvSpPr txBox="1"/>
          <p:nvPr/>
        </p:nvSpPr>
        <p:spPr>
          <a:xfrm>
            <a:off x="10071577" y="3729785"/>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05.</a:t>
            </a:r>
            <a:endParaRPr/>
          </a:p>
        </p:txBody>
      </p:sp>
      <p:cxnSp>
        <p:nvCxnSpPr>
          <p:cNvPr id="331" name="Google Shape;331;p20"/>
          <p:cNvCxnSpPr/>
          <p:nvPr/>
        </p:nvCxnSpPr>
        <p:spPr>
          <a:xfrm>
            <a:off x="10172534" y="3339260"/>
            <a:ext cx="5833101" cy="0"/>
          </a:xfrm>
          <a:prstGeom prst="straightConnector1">
            <a:avLst/>
          </a:prstGeom>
          <a:noFill/>
          <a:ln cap="flat" cmpd="sng" w="19050">
            <a:solidFill>
              <a:srgbClr val="000000"/>
            </a:solidFill>
            <a:prstDash val="solid"/>
            <a:round/>
            <a:headEnd len="sm" w="sm" type="none"/>
            <a:tailEnd len="sm" w="sm" type="none"/>
          </a:ln>
        </p:spPr>
      </p:cxnSp>
      <p:cxnSp>
        <p:nvCxnSpPr>
          <p:cNvPr id="332" name="Google Shape;332;p20"/>
          <p:cNvCxnSpPr/>
          <p:nvPr/>
        </p:nvCxnSpPr>
        <p:spPr>
          <a:xfrm>
            <a:off x="10172534" y="4994541"/>
            <a:ext cx="5833101" cy="0"/>
          </a:xfrm>
          <a:prstGeom prst="straightConnector1">
            <a:avLst/>
          </a:prstGeom>
          <a:noFill/>
          <a:ln cap="flat" cmpd="sng" w="19050">
            <a:solidFill>
              <a:srgbClr val="000000"/>
            </a:solidFill>
            <a:prstDash val="solid"/>
            <a:round/>
            <a:headEnd len="sm" w="sm" type="none"/>
            <a:tailEnd len="sm" w="sm" type="none"/>
          </a:ln>
        </p:spPr>
      </p:cxnSp>
      <p:sp>
        <p:nvSpPr>
          <p:cNvPr id="333" name="Google Shape;333;p20"/>
          <p:cNvSpPr txBox="1"/>
          <p:nvPr/>
        </p:nvSpPr>
        <p:spPr>
          <a:xfrm>
            <a:off x="1855191" y="2096063"/>
            <a:ext cx="5747379" cy="1105933"/>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None/>
            </a:pPr>
            <a:r>
              <a:rPr b="0" i="0" lang="en-US" sz="7999" u="none" cap="none" strike="noStrike">
                <a:solidFill>
                  <a:srgbClr val="000000"/>
                </a:solidFill>
                <a:latin typeface="Arial"/>
                <a:ea typeface="Arial"/>
                <a:cs typeface="Arial"/>
                <a:sym typeface="Arial"/>
              </a:rPr>
              <a:t>Solution</a:t>
            </a:r>
            <a:endParaRPr/>
          </a:p>
        </p:txBody>
      </p:sp>
      <p:sp>
        <p:nvSpPr>
          <p:cNvPr id="334" name="Google Shape;334;p20"/>
          <p:cNvSpPr txBox="1"/>
          <p:nvPr/>
        </p:nvSpPr>
        <p:spPr>
          <a:xfrm>
            <a:off x="10071577" y="7194765"/>
            <a:ext cx="6553219" cy="1099186"/>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0" i="0" lang="en-US" sz="8000" u="none" cap="none" strike="noStrike">
                <a:solidFill>
                  <a:srgbClr val="000000"/>
                </a:solidFill>
                <a:latin typeface="Arial"/>
                <a:ea typeface="Arial"/>
                <a:cs typeface="Arial"/>
                <a:sym typeface="Arial"/>
              </a:rPr>
              <a:t>Solution</a:t>
            </a:r>
            <a:endParaRPr/>
          </a:p>
        </p:txBody>
      </p:sp>
      <p:sp>
        <p:nvSpPr>
          <p:cNvPr id="335" name="Google Shape;335;p20"/>
          <p:cNvSpPr txBox="1"/>
          <p:nvPr/>
        </p:nvSpPr>
        <p:spPr>
          <a:xfrm>
            <a:off x="11543416" y="5261439"/>
            <a:ext cx="4005752" cy="118364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0" i="0" lang="en-US" sz="2000" u="none" cap="none" strike="noStrike">
                <a:solidFill>
                  <a:srgbClr val="000000"/>
                </a:solidFill>
                <a:latin typeface="Sansita"/>
                <a:ea typeface="Sansita"/>
                <a:cs typeface="Sansita"/>
                <a:sym typeface="Sansita"/>
              </a:rPr>
              <a:t>Boost online presence: leverage social media, engage with audiences, and utilize content marketing for broader visibility.</a:t>
            </a:r>
            <a:endParaRPr/>
          </a:p>
        </p:txBody>
      </p:sp>
      <p:sp>
        <p:nvSpPr>
          <p:cNvPr id="336" name="Google Shape;336;p20"/>
          <p:cNvSpPr txBox="1"/>
          <p:nvPr/>
        </p:nvSpPr>
        <p:spPr>
          <a:xfrm>
            <a:off x="10071577" y="5385066"/>
            <a:ext cx="1471839" cy="890761"/>
          </a:xfrm>
          <a:prstGeom prst="rect">
            <a:avLst/>
          </a:prstGeom>
          <a:noFill/>
          <a:ln>
            <a:noFill/>
          </a:ln>
        </p:spPr>
        <p:txBody>
          <a:bodyPr anchorCtr="0" anchor="t" bIns="0" lIns="0" spcFirstLastPara="1" rIns="0" wrap="square" tIns="0">
            <a:spAutoFit/>
          </a:bodyPr>
          <a:lstStyle/>
          <a:p>
            <a:pPr indent="0" lvl="0" marL="0" marR="0" rtl="0" algn="l">
              <a:lnSpc>
                <a:spcPct val="118004"/>
              </a:lnSpc>
              <a:spcBef>
                <a:spcPts val="0"/>
              </a:spcBef>
              <a:spcAft>
                <a:spcPts val="0"/>
              </a:spcAft>
              <a:buNone/>
            </a:pPr>
            <a:r>
              <a:rPr b="0" i="0" lang="en-US" sz="5693" u="none" cap="none" strike="noStrike">
                <a:solidFill>
                  <a:srgbClr val="000000"/>
                </a:solidFill>
                <a:latin typeface="Arial"/>
                <a:ea typeface="Arial"/>
                <a:cs typeface="Arial"/>
                <a:sym typeface="Arial"/>
              </a:rPr>
              <a:t>06.</a:t>
            </a:r>
            <a:endParaRPr/>
          </a:p>
        </p:txBody>
      </p:sp>
      <p:cxnSp>
        <p:nvCxnSpPr>
          <p:cNvPr id="337" name="Google Shape;337;p20"/>
          <p:cNvCxnSpPr/>
          <p:nvPr/>
        </p:nvCxnSpPr>
        <p:spPr>
          <a:xfrm>
            <a:off x="10172534" y="6649823"/>
            <a:ext cx="5833101" cy="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21"/>
          <p:cNvPicPr preferRelativeResize="0"/>
          <p:nvPr/>
        </p:nvPicPr>
        <p:blipFill rotWithShape="1">
          <a:blip r:embed="rId3">
            <a:alphaModFix/>
          </a:blip>
          <a:srcRect b="4961" l="0" r="0" t="4962"/>
          <a:stretch/>
        </p:blipFill>
        <p:spPr>
          <a:xfrm>
            <a:off x="0" y="0"/>
            <a:ext cx="6026140" cy="6785129"/>
          </a:xfrm>
          <a:prstGeom prst="rect">
            <a:avLst/>
          </a:prstGeom>
          <a:noFill/>
          <a:ln>
            <a:noFill/>
          </a:ln>
        </p:spPr>
      </p:pic>
      <p:pic>
        <p:nvPicPr>
          <p:cNvPr id="343" name="Google Shape;343;p21"/>
          <p:cNvPicPr preferRelativeResize="0"/>
          <p:nvPr/>
        </p:nvPicPr>
        <p:blipFill rotWithShape="1">
          <a:blip r:embed="rId4">
            <a:alphaModFix/>
          </a:blip>
          <a:srcRect b="4961" l="0" r="0" t="4962"/>
          <a:stretch/>
        </p:blipFill>
        <p:spPr>
          <a:xfrm>
            <a:off x="6130930" y="3494514"/>
            <a:ext cx="6026140" cy="6785129"/>
          </a:xfrm>
          <a:prstGeom prst="rect">
            <a:avLst/>
          </a:prstGeom>
          <a:noFill/>
          <a:ln>
            <a:noFill/>
          </a:ln>
        </p:spPr>
      </p:pic>
      <p:pic>
        <p:nvPicPr>
          <p:cNvPr id="344" name="Google Shape;344;p21"/>
          <p:cNvPicPr preferRelativeResize="0"/>
          <p:nvPr/>
        </p:nvPicPr>
        <p:blipFill rotWithShape="1">
          <a:blip r:embed="rId5">
            <a:alphaModFix/>
          </a:blip>
          <a:srcRect b="14376" l="0" r="0" t="40576"/>
          <a:stretch/>
        </p:blipFill>
        <p:spPr>
          <a:xfrm>
            <a:off x="12261845" y="6893858"/>
            <a:ext cx="6026140" cy="3393142"/>
          </a:xfrm>
          <a:prstGeom prst="rect">
            <a:avLst/>
          </a:prstGeom>
          <a:noFill/>
          <a:ln>
            <a:noFill/>
          </a:ln>
        </p:spPr>
      </p:pic>
      <p:grpSp>
        <p:nvGrpSpPr>
          <p:cNvPr id="345" name="Google Shape;345;p21"/>
          <p:cNvGrpSpPr/>
          <p:nvPr/>
        </p:nvGrpSpPr>
        <p:grpSpPr>
          <a:xfrm>
            <a:off x="0" y="5917397"/>
            <a:ext cx="6026144" cy="4369603"/>
            <a:chOff x="0" y="-257175"/>
            <a:chExt cx="1587132" cy="1150842"/>
          </a:xfrm>
        </p:grpSpPr>
        <p:sp>
          <p:nvSpPr>
            <p:cNvPr id="346" name="Google Shape;346;p21"/>
            <p:cNvSpPr/>
            <p:nvPr/>
          </p:nvSpPr>
          <p:spPr>
            <a:xfrm>
              <a:off x="0" y="0"/>
              <a:ext cx="1587132" cy="893667"/>
            </a:xfrm>
            <a:custGeom>
              <a:rect b="b" l="l" r="r" t="t"/>
              <a:pathLst>
                <a:path extrusionOk="0" h="893667" w="1587132">
                  <a:moveTo>
                    <a:pt x="0" y="0"/>
                  </a:moveTo>
                  <a:lnTo>
                    <a:pt x="1587132" y="0"/>
                  </a:lnTo>
                  <a:lnTo>
                    <a:pt x="1587132" y="893667"/>
                  </a:lnTo>
                  <a:lnTo>
                    <a:pt x="0" y="893667"/>
                  </a:lnTo>
                  <a:close/>
                </a:path>
              </a:pathLst>
            </a:custGeom>
            <a:solidFill>
              <a:srgbClr val="181818"/>
            </a:solidFill>
            <a:ln>
              <a:noFill/>
            </a:ln>
          </p:spPr>
        </p:sp>
        <p:sp>
          <p:nvSpPr>
            <p:cNvPr id="347" name="Google Shape;347;p21"/>
            <p:cNvSpPr txBox="1"/>
            <p:nvPr/>
          </p:nvSpPr>
          <p:spPr>
            <a:xfrm>
              <a:off x="0" y="-257175"/>
              <a:ext cx="1587131" cy="1150842"/>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p21"/>
          <p:cNvGrpSpPr/>
          <p:nvPr/>
        </p:nvGrpSpPr>
        <p:grpSpPr>
          <a:xfrm>
            <a:off x="12261860" y="-976461"/>
            <a:ext cx="6026144" cy="7761975"/>
            <a:chOff x="0" y="-257175"/>
            <a:chExt cx="1587132" cy="2044306"/>
          </a:xfrm>
        </p:grpSpPr>
        <p:sp>
          <p:nvSpPr>
            <p:cNvPr id="349" name="Google Shape;349;p21"/>
            <p:cNvSpPr/>
            <p:nvPr/>
          </p:nvSpPr>
          <p:spPr>
            <a:xfrm>
              <a:off x="0" y="0"/>
              <a:ext cx="1587132" cy="1787131"/>
            </a:xfrm>
            <a:custGeom>
              <a:rect b="b" l="l" r="r" t="t"/>
              <a:pathLst>
                <a:path extrusionOk="0" h="1787131" w="1587132">
                  <a:moveTo>
                    <a:pt x="0" y="0"/>
                  </a:moveTo>
                  <a:lnTo>
                    <a:pt x="1587132" y="0"/>
                  </a:lnTo>
                  <a:lnTo>
                    <a:pt x="1587132" y="1787131"/>
                  </a:lnTo>
                  <a:lnTo>
                    <a:pt x="0" y="1787131"/>
                  </a:lnTo>
                  <a:close/>
                </a:path>
              </a:pathLst>
            </a:custGeom>
            <a:solidFill>
              <a:srgbClr val="E6DACE"/>
            </a:solidFill>
            <a:ln>
              <a:noFill/>
            </a:ln>
          </p:spPr>
        </p:sp>
        <p:sp>
          <p:nvSpPr>
            <p:cNvPr id="350" name="Google Shape;350;p21"/>
            <p:cNvSpPr txBox="1"/>
            <p:nvPr/>
          </p:nvSpPr>
          <p:spPr>
            <a:xfrm>
              <a:off x="0" y="-257175"/>
              <a:ext cx="1587131" cy="2044306"/>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1" name="Google Shape;351;p21"/>
          <p:cNvGrpSpPr/>
          <p:nvPr/>
        </p:nvGrpSpPr>
        <p:grpSpPr>
          <a:xfrm>
            <a:off x="6130930" y="-976846"/>
            <a:ext cx="6026144" cy="4369218"/>
            <a:chOff x="0" y="-257175"/>
            <a:chExt cx="1587132" cy="1150741"/>
          </a:xfrm>
        </p:grpSpPr>
        <p:sp>
          <p:nvSpPr>
            <p:cNvPr id="352" name="Google Shape;352;p21"/>
            <p:cNvSpPr/>
            <p:nvPr/>
          </p:nvSpPr>
          <p:spPr>
            <a:xfrm>
              <a:off x="0" y="0"/>
              <a:ext cx="1587132" cy="893566"/>
            </a:xfrm>
            <a:custGeom>
              <a:rect b="b" l="l" r="r" t="t"/>
              <a:pathLst>
                <a:path extrusionOk="0" h="893566" w="1587132">
                  <a:moveTo>
                    <a:pt x="0" y="0"/>
                  </a:moveTo>
                  <a:lnTo>
                    <a:pt x="1587132" y="0"/>
                  </a:lnTo>
                  <a:lnTo>
                    <a:pt x="1587132" y="893566"/>
                  </a:lnTo>
                  <a:lnTo>
                    <a:pt x="0" y="893566"/>
                  </a:lnTo>
                  <a:close/>
                </a:path>
              </a:pathLst>
            </a:custGeom>
            <a:solidFill>
              <a:srgbClr val="E6DACE"/>
            </a:solidFill>
            <a:ln>
              <a:noFill/>
            </a:ln>
          </p:spPr>
        </p:sp>
        <p:sp>
          <p:nvSpPr>
            <p:cNvPr id="353" name="Google Shape;353;p21"/>
            <p:cNvSpPr txBox="1"/>
            <p:nvPr/>
          </p:nvSpPr>
          <p:spPr>
            <a:xfrm>
              <a:off x="0" y="-257175"/>
              <a:ext cx="1587131" cy="1150741"/>
            </a:xfrm>
            <a:prstGeom prst="rect">
              <a:avLst/>
            </a:prstGeom>
            <a:noFill/>
            <a:ln>
              <a:noFill/>
            </a:ln>
          </p:spPr>
          <p:txBody>
            <a:bodyPr anchorCtr="0" anchor="ctr" bIns="50800" lIns="50800" spcFirstLastPara="1" rIns="50800" wrap="square" tIns="50800">
              <a:noAutofit/>
            </a:bodyPr>
            <a:lstStyle/>
            <a:p>
              <a:pPr indent="0" lvl="0" marL="0" marR="0" rtl="0" algn="ctr">
                <a:lnSpc>
                  <a:spcPct val="296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4" name="Google Shape;354;p21"/>
          <p:cNvSpPr txBox="1"/>
          <p:nvPr/>
        </p:nvSpPr>
        <p:spPr>
          <a:xfrm>
            <a:off x="7045804" y="934537"/>
            <a:ext cx="4196392" cy="16461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308" u="none" cap="none" strike="noStrike">
                <a:solidFill>
                  <a:srgbClr val="000000"/>
                </a:solidFill>
                <a:latin typeface="Montserrat Black"/>
                <a:ea typeface="Montserrat Black"/>
                <a:cs typeface="Montserrat Black"/>
                <a:sym typeface="Montserrat Black"/>
              </a:rPr>
              <a:t>OUR PRODUCT</a:t>
            </a:r>
            <a:endParaRPr/>
          </a:p>
        </p:txBody>
      </p:sp>
      <p:sp>
        <p:nvSpPr>
          <p:cNvPr id="355" name="Google Shape;355;p21"/>
          <p:cNvSpPr txBox="1"/>
          <p:nvPr/>
        </p:nvSpPr>
        <p:spPr>
          <a:xfrm>
            <a:off x="673280" y="7940447"/>
            <a:ext cx="2435040" cy="1252339"/>
          </a:xfrm>
          <a:prstGeom prst="rect">
            <a:avLst/>
          </a:prstGeom>
          <a:noFill/>
          <a:ln>
            <a:noFill/>
          </a:ln>
        </p:spPr>
        <p:txBody>
          <a:bodyPr anchorCtr="0" anchor="t" bIns="0" lIns="0" spcFirstLastPara="1" rIns="0" wrap="square" tIns="0">
            <a:spAutoFit/>
          </a:bodyPr>
          <a:lstStyle/>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Signature</a:t>
            </a:r>
            <a:endParaRPr/>
          </a:p>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Fancy</a:t>
            </a:r>
            <a:endParaRPr/>
          </a:p>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Classic</a:t>
            </a:r>
            <a:endParaRPr/>
          </a:p>
        </p:txBody>
      </p:sp>
      <p:sp>
        <p:nvSpPr>
          <p:cNvPr id="356" name="Google Shape;356;p21"/>
          <p:cNvSpPr txBox="1"/>
          <p:nvPr/>
        </p:nvSpPr>
        <p:spPr>
          <a:xfrm>
            <a:off x="2917820" y="7940447"/>
            <a:ext cx="2435040" cy="1252339"/>
          </a:xfrm>
          <a:prstGeom prst="rect">
            <a:avLst/>
          </a:prstGeom>
          <a:noFill/>
          <a:ln>
            <a:noFill/>
          </a:ln>
        </p:spPr>
        <p:txBody>
          <a:bodyPr anchorCtr="0" anchor="t" bIns="0" lIns="0" spcFirstLastPara="1" rIns="0" wrap="square" tIns="0">
            <a:spAutoFit/>
          </a:bodyPr>
          <a:lstStyle/>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Non Coffee</a:t>
            </a:r>
            <a:endParaRPr/>
          </a:p>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Snack</a:t>
            </a:r>
            <a:endParaRPr/>
          </a:p>
          <a:p>
            <a:pPr indent="-257990" lvl="1" marL="515982" marR="0" rtl="0" algn="just">
              <a:lnSpc>
                <a:spcPct val="140016"/>
              </a:lnSpc>
              <a:spcBef>
                <a:spcPts val="0"/>
              </a:spcBef>
              <a:spcAft>
                <a:spcPts val="0"/>
              </a:spcAft>
              <a:buClr>
                <a:srgbClr val="FFFFFF"/>
              </a:buClr>
              <a:buSzPts val="2389"/>
              <a:buFont typeface="Arial"/>
              <a:buChar char="•"/>
            </a:pPr>
            <a:r>
              <a:rPr b="1" i="0" lang="en-US" sz="2389" u="none" cap="none" strike="noStrike">
                <a:solidFill>
                  <a:srgbClr val="FFFFFF"/>
                </a:solidFill>
                <a:latin typeface="Open Sans"/>
                <a:ea typeface="Open Sans"/>
                <a:cs typeface="Open Sans"/>
                <a:sym typeface="Open Sans"/>
              </a:rPr>
              <a:t>Etc</a:t>
            </a:r>
            <a:endParaRPr/>
          </a:p>
        </p:txBody>
      </p:sp>
      <p:sp>
        <p:nvSpPr>
          <p:cNvPr id="357" name="Google Shape;357;p21"/>
          <p:cNvSpPr txBox="1"/>
          <p:nvPr/>
        </p:nvSpPr>
        <p:spPr>
          <a:xfrm>
            <a:off x="13453663" y="575830"/>
            <a:ext cx="3642535" cy="5575935"/>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2099" u="none" cap="none" strike="noStrike">
                <a:solidFill>
                  <a:srgbClr val="000000"/>
                </a:solidFill>
                <a:latin typeface="Poppins"/>
                <a:ea typeface="Poppins"/>
                <a:cs typeface="Poppins"/>
                <a:sym typeface="Poppins"/>
              </a:rPr>
              <a:t>Welcome to Vintiq, where we blend passion and perfection in every cup. Established in 2022, we're dedicated to redefining the coffee experience. From the finest global beans to our warm ambiance, Vintiq is more than a coffee shop; it's a destination for flavorful moments and connections. Join us in savoring the artistry of coffee at Vintiq – where every sip is a celebration.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361" name="Shape 361"/>
        <p:cNvGrpSpPr/>
        <p:nvPr/>
      </p:nvGrpSpPr>
      <p:grpSpPr>
        <a:xfrm>
          <a:off x="0" y="0"/>
          <a:ext cx="0" cy="0"/>
          <a:chOff x="0" y="0"/>
          <a:chExt cx="0" cy="0"/>
        </a:xfrm>
      </p:grpSpPr>
      <p:pic>
        <p:nvPicPr>
          <p:cNvPr id="362" name="Google Shape;362;p22"/>
          <p:cNvPicPr preferRelativeResize="0"/>
          <p:nvPr/>
        </p:nvPicPr>
        <p:blipFill rotWithShape="1">
          <a:blip r:embed="rId3">
            <a:alphaModFix/>
          </a:blip>
          <a:srcRect b="12498" l="0" r="0" t="12500"/>
          <a:stretch/>
        </p:blipFill>
        <p:spPr>
          <a:xfrm>
            <a:off x="6572250" y="5143500"/>
            <a:ext cx="5143500" cy="5143500"/>
          </a:xfrm>
          <a:prstGeom prst="rect">
            <a:avLst/>
          </a:prstGeom>
          <a:noFill/>
          <a:ln>
            <a:noFill/>
          </a:ln>
        </p:spPr>
      </p:pic>
      <p:pic>
        <p:nvPicPr>
          <p:cNvPr id="363" name="Google Shape;363;p22"/>
          <p:cNvPicPr preferRelativeResize="0"/>
          <p:nvPr/>
        </p:nvPicPr>
        <p:blipFill rotWithShape="1">
          <a:blip r:embed="rId4">
            <a:alphaModFix/>
          </a:blip>
          <a:srcRect b="0" l="16666" r="16666" t="0"/>
          <a:stretch/>
        </p:blipFill>
        <p:spPr>
          <a:xfrm>
            <a:off x="6572250" y="0"/>
            <a:ext cx="5143500" cy="5143500"/>
          </a:xfrm>
          <a:prstGeom prst="rect">
            <a:avLst/>
          </a:prstGeom>
          <a:noFill/>
          <a:ln>
            <a:noFill/>
          </a:ln>
        </p:spPr>
      </p:pic>
      <p:grpSp>
        <p:nvGrpSpPr>
          <p:cNvPr id="364" name="Google Shape;364;p22"/>
          <p:cNvGrpSpPr/>
          <p:nvPr/>
        </p:nvGrpSpPr>
        <p:grpSpPr>
          <a:xfrm>
            <a:off x="11715750" y="0"/>
            <a:ext cx="6572214" cy="5143500"/>
            <a:chOff x="0" y="0"/>
            <a:chExt cx="921693" cy="721329"/>
          </a:xfrm>
        </p:grpSpPr>
        <p:sp>
          <p:nvSpPr>
            <p:cNvPr id="365" name="Google Shape;365;p22"/>
            <p:cNvSpPr/>
            <p:nvPr/>
          </p:nvSpPr>
          <p:spPr>
            <a:xfrm>
              <a:off x="0" y="0"/>
              <a:ext cx="921693" cy="721329"/>
            </a:xfrm>
            <a:custGeom>
              <a:rect b="b" l="l" r="r" t="t"/>
              <a:pathLst>
                <a:path extrusionOk="0" h="721329" w="921693">
                  <a:moveTo>
                    <a:pt x="0" y="0"/>
                  </a:moveTo>
                  <a:lnTo>
                    <a:pt x="921693" y="0"/>
                  </a:lnTo>
                  <a:lnTo>
                    <a:pt x="921693" y="721329"/>
                  </a:lnTo>
                  <a:lnTo>
                    <a:pt x="0" y="721329"/>
                  </a:lnTo>
                  <a:close/>
                </a:path>
              </a:pathLst>
            </a:custGeom>
            <a:solidFill>
              <a:srgbClr val="FFFFFF"/>
            </a:solidFill>
            <a:ln>
              <a:noFill/>
            </a:ln>
          </p:spPr>
        </p:sp>
        <p:sp>
          <p:nvSpPr>
            <p:cNvPr id="366" name="Google Shape;366;p22"/>
            <p:cNvSpPr txBox="1"/>
            <p:nvPr/>
          </p:nvSpPr>
          <p:spPr>
            <a:xfrm>
              <a:off x="0" y="0"/>
              <a:ext cx="921693"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7" name="Google Shape;367;p22"/>
          <p:cNvGrpSpPr/>
          <p:nvPr/>
        </p:nvGrpSpPr>
        <p:grpSpPr>
          <a:xfrm>
            <a:off x="689" y="5143500"/>
            <a:ext cx="6571561" cy="5143500"/>
            <a:chOff x="0" y="0"/>
            <a:chExt cx="921601" cy="721329"/>
          </a:xfrm>
        </p:grpSpPr>
        <p:sp>
          <p:nvSpPr>
            <p:cNvPr id="368" name="Google Shape;368;p22"/>
            <p:cNvSpPr/>
            <p:nvPr/>
          </p:nvSpPr>
          <p:spPr>
            <a:xfrm>
              <a:off x="0" y="0"/>
              <a:ext cx="921601" cy="721329"/>
            </a:xfrm>
            <a:custGeom>
              <a:rect b="b" l="l" r="r" t="t"/>
              <a:pathLst>
                <a:path extrusionOk="0" h="721329" w="921601">
                  <a:moveTo>
                    <a:pt x="0" y="0"/>
                  </a:moveTo>
                  <a:lnTo>
                    <a:pt x="921601" y="0"/>
                  </a:lnTo>
                  <a:lnTo>
                    <a:pt x="921601" y="721329"/>
                  </a:lnTo>
                  <a:lnTo>
                    <a:pt x="0" y="721329"/>
                  </a:lnTo>
                  <a:close/>
                </a:path>
              </a:pathLst>
            </a:custGeom>
            <a:solidFill>
              <a:srgbClr val="FFFFFF"/>
            </a:solidFill>
            <a:ln>
              <a:noFill/>
            </a:ln>
          </p:spPr>
        </p:sp>
        <p:sp>
          <p:nvSpPr>
            <p:cNvPr id="369" name="Google Shape;369;p22"/>
            <p:cNvSpPr txBox="1"/>
            <p:nvPr/>
          </p:nvSpPr>
          <p:spPr>
            <a:xfrm>
              <a:off x="0" y="0"/>
              <a:ext cx="921601"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0" name="Google Shape;370;p22"/>
          <p:cNvGrpSpPr/>
          <p:nvPr/>
        </p:nvGrpSpPr>
        <p:grpSpPr>
          <a:xfrm>
            <a:off x="7992404" y="3883942"/>
            <a:ext cx="2303192" cy="2411154"/>
            <a:chOff x="0" y="-38100"/>
            <a:chExt cx="812800" cy="850900"/>
          </a:xfrm>
        </p:grpSpPr>
        <p:sp>
          <p:nvSpPr>
            <p:cNvPr id="371" name="Google Shape;371;p22"/>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372" name="Google Shape;372;p22"/>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73" name="Google Shape;373;p22"/>
          <p:cNvCxnSpPr/>
          <p:nvPr/>
        </p:nvCxnSpPr>
        <p:spPr>
          <a:xfrm rot="-5400000">
            <a:off x="-3428811" y="5201605"/>
            <a:ext cx="8075290" cy="0"/>
          </a:xfrm>
          <a:prstGeom prst="straightConnector1">
            <a:avLst/>
          </a:prstGeom>
          <a:noFill/>
          <a:ln cap="flat" cmpd="sng" w="38100">
            <a:solidFill>
              <a:srgbClr val="FFC259"/>
            </a:solidFill>
            <a:prstDash val="solid"/>
            <a:round/>
            <a:headEnd len="sm" w="sm" type="none"/>
            <a:tailEnd len="lg" w="lg" type="oval"/>
          </a:ln>
        </p:spPr>
      </p:cxnSp>
      <p:cxnSp>
        <p:nvCxnSpPr>
          <p:cNvPr id="374" name="Google Shape;374;p22"/>
          <p:cNvCxnSpPr/>
          <p:nvPr/>
        </p:nvCxnSpPr>
        <p:spPr>
          <a:xfrm rot="-5400000">
            <a:off x="7836372" y="4823885"/>
            <a:ext cx="8789006" cy="0"/>
          </a:xfrm>
          <a:prstGeom prst="straightConnector1">
            <a:avLst/>
          </a:prstGeom>
          <a:noFill/>
          <a:ln cap="flat" cmpd="sng" w="38100">
            <a:solidFill>
              <a:srgbClr val="FFC259"/>
            </a:solidFill>
            <a:prstDash val="solid"/>
            <a:round/>
            <a:headEnd len="lg" w="lg" type="oval"/>
            <a:tailEnd len="sm" w="sm" type="none"/>
          </a:ln>
        </p:spPr>
      </p:cxnSp>
      <p:sp>
        <p:nvSpPr>
          <p:cNvPr id="375" name="Google Shape;375;p22"/>
          <p:cNvSpPr/>
          <p:nvPr/>
        </p:nvSpPr>
        <p:spPr>
          <a:xfrm>
            <a:off x="8486577" y="4486077"/>
            <a:ext cx="1314847" cy="1314847"/>
          </a:xfrm>
          <a:custGeom>
            <a:rect b="b" l="l" r="r" t="t"/>
            <a:pathLst>
              <a:path extrusionOk="0" h="1314847" w="1314847">
                <a:moveTo>
                  <a:pt x="0" y="0"/>
                </a:moveTo>
                <a:lnTo>
                  <a:pt x="1314846" y="0"/>
                </a:lnTo>
                <a:lnTo>
                  <a:pt x="1314846" y="1314846"/>
                </a:lnTo>
                <a:lnTo>
                  <a:pt x="0" y="1314846"/>
                </a:lnTo>
                <a:lnTo>
                  <a:pt x="0" y="0"/>
                </a:lnTo>
                <a:close/>
              </a:path>
            </a:pathLst>
          </a:custGeom>
          <a:blipFill rotWithShape="1">
            <a:blip r:embed="rId5">
              <a:alphaModFix/>
            </a:blip>
            <a:stretch>
              <a:fillRect b="0" l="0" r="0" t="0"/>
            </a:stretch>
          </a:blipFill>
          <a:ln>
            <a:noFill/>
          </a:ln>
        </p:spPr>
      </p:sp>
      <p:sp>
        <p:nvSpPr>
          <p:cNvPr id="376" name="Google Shape;376;p22"/>
          <p:cNvSpPr txBox="1"/>
          <p:nvPr/>
        </p:nvSpPr>
        <p:spPr>
          <a:xfrm>
            <a:off x="1028700" y="1004291"/>
            <a:ext cx="5391150"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Vision</a:t>
            </a:r>
            <a:endParaRPr/>
          </a:p>
        </p:txBody>
      </p:sp>
      <p:sp>
        <p:nvSpPr>
          <p:cNvPr id="377" name="Google Shape;377;p22"/>
          <p:cNvSpPr txBox="1"/>
          <p:nvPr/>
        </p:nvSpPr>
        <p:spPr>
          <a:xfrm>
            <a:off x="12661307" y="7934715"/>
            <a:ext cx="5260571" cy="126851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800" u="none" cap="none" strike="noStrike">
                <a:solidFill>
                  <a:srgbClr val="FFFFFF"/>
                </a:solidFill>
                <a:latin typeface="Poppins"/>
                <a:ea typeface="Poppins"/>
                <a:cs typeface="Poppins"/>
                <a:sym typeface="Poppins"/>
              </a:rPr>
              <a:t>Mission</a:t>
            </a:r>
            <a:endParaRPr/>
          </a:p>
        </p:txBody>
      </p:sp>
      <p:sp>
        <p:nvSpPr>
          <p:cNvPr id="378" name="Google Shape;378;p22"/>
          <p:cNvSpPr txBox="1"/>
          <p:nvPr/>
        </p:nvSpPr>
        <p:spPr>
          <a:xfrm>
            <a:off x="1186112" y="6807066"/>
            <a:ext cx="4827910" cy="12782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To be the heart of the community, where every cup of coffee fosters connections, inspires creativity, and creates a welcoming haven for coffee enthusiasts.</a:t>
            </a:r>
            <a:endParaRPr/>
          </a:p>
        </p:txBody>
      </p:sp>
      <p:sp>
        <p:nvSpPr>
          <p:cNvPr id="379" name="Google Shape;379;p22"/>
          <p:cNvSpPr txBox="1"/>
          <p:nvPr/>
        </p:nvSpPr>
        <p:spPr>
          <a:xfrm>
            <a:off x="12745225" y="1285468"/>
            <a:ext cx="4724292" cy="19069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Crafting exceptional coffee experiences by sourcing the finest beans, fostering a warm and inclusive atmosphere, and contributing positively to the local community through sustainable practices and meaningful partnerships.</a:t>
            </a:r>
            <a:endParaRPr/>
          </a:p>
        </p:txBody>
      </p:sp>
      <p:sp>
        <p:nvSpPr>
          <p:cNvPr id="380" name="Google Shape;380;p22"/>
          <p:cNvSpPr/>
          <p:nvPr/>
        </p:nvSpPr>
        <p:spPr>
          <a:xfrm>
            <a:off x="1028700" y="4790069"/>
            <a:ext cx="1292953" cy="1010855"/>
          </a:xfrm>
          <a:custGeom>
            <a:rect b="b" l="l" r="r" t="t"/>
            <a:pathLst>
              <a:path extrusionOk="0" h="1010855" w="1292953">
                <a:moveTo>
                  <a:pt x="0" y="0"/>
                </a:moveTo>
                <a:lnTo>
                  <a:pt x="1292953" y="0"/>
                </a:lnTo>
                <a:lnTo>
                  <a:pt x="1292953" y="1010854"/>
                </a:lnTo>
                <a:lnTo>
                  <a:pt x="0" y="1010854"/>
                </a:lnTo>
                <a:lnTo>
                  <a:pt x="0" y="0"/>
                </a:lnTo>
                <a:close/>
              </a:path>
            </a:pathLst>
          </a:custGeom>
          <a:blipFill rotWithShape="1">
            <a:blip r:embed="rId6">
              <a:alphaModFix/>
            </a:blip>
            <a:stretch>
              <a:fillRect b="0" l="0" r="0" t="0"/>
            </a:stretch>
          </a:blipFill>
          <a:ln>
            <a:noFill/>
          </a:ln>
        </p:spPr>
      </p:sp>
      <p:sp>
        <p:nvSpPr>
          <p:cNvPr id="381" name="Google Shape;381;p22"/>
          <p:cNvSpPr/>
          <p:nvPr/>
        </p:nvSpPr>
        <p:spPr>
          <a:xfrm rot="10800000">
            <a:off x="12661307" y="4790069"/>
            <a:ext cx="1292953" cy="1010855"/>
          </a:xfrm>
          <a:custGeom>
            <a:rect b="b" l="l" r="r" t="t"/>
            <a:pathLst>
              <a:path extrusionOk="0" h="1010855" w="1292953">
                <a:moveTo>
                  <a:pt x="0" y="0"/>
                </a:moveTo>
                <a:lnTo>
                  <a:pt x="1292954" y="0"/>
                </a:lnTo>
                <a:lnTo>
                  <a:pt x="1292954" y="1010854"/>
                </a:lnTo>
                <a:lnTo>
                  <a:pt x="0" y="1010854"/>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0895" l="0" r="0" t="-46879"/>
            </a:stretch>
          </a:blipFill>
          <a:ln>
            <a:noFill/>
          </a:ln>
        </p:spPr>
      </p:sp>
      <p:pic>
        <p:nvPicPr>
          <p:cNvPr id="387" name="Google Shape;387;p23"/>
          <p:cNvPicPr preferRelativeResize="0"/>
          <p:nvPr/>
        </p:nvPicPr>
        <p:blipFill rotWithShape="1">
          <a:blip r:embed="rId4">
            <a:alphaModFix/>
          </a:blip>
          <a:srcRect b="0" l="19986" r="13387" t="0"/>
          <a:stretch/>
        </p:blipFill>
        <p:spPr>
          <a:xfrm>
            <a:off x="6211780" y="3793336"/>
            <a:ext cx="2944760" cy="2944760"/>
          </a:xfrm>
          <a:prstGeom prst="rect">
            <a:avLst/>
          </a:prstGeom>
          <a:noFill/>
          <a:ln>
            <a:noFill/>
          </a:ln>
        </p:spPr>
      </p:pic>
      <p:pic>
        <p:nvPicPr>
          <p:cNvPr id="388" name="Google Shape;388;p23"/>
          <p:cNvPicPr preferRelativeResize="0"/>
          <p:nvPr/>
        </p:nvPicPr>
        <p:blipFill rotWithShape="1">
          <a:blip r:embed="rId5">
            <a:alphaModFix/>
          </a:blip>
          <a:srcRect b="0" l="22049" r="11324" t="0"/>
          <a:stretch/>
        </p:blipFill>
        <p:spPr>
          <a:xfrm>
            <a:off x="1028700" y="6727049"/>
            <a:ext cx="2944760" cy="2944760"/>
          </a:xfrm>
          <a:prstGeom prst="rect">
            <a:avLst/>
          </a:prstGeom>
          <a:noFill/>
          <a:ln>
            <a:noFill/>
          </a:ln>
        </p:spPr>
      </p:pic>
      <p:pic>
        <p:nvPicPr>
          <p:cNvPr id="389" name="Google Shape;389;p23"/>
          <p:cNvPicPr preferRelativeResize="0"/>
          <p:nvPr/>
        </p:nvPicPr>
        <p:blipFill rotWithShape="1">
          <a:blip r:embed="rId6">
            <a:alphaModFix/>
          </a:blip>
          <a:srcRect b="0" l="8856" r="24477" t="0"/>
          <a:stretch/>
        </p:blipFill>
        <p:spPr>
          <a:xfrm>
            <a:off x="9144000" y="6727049"/>
            <a:ext cx="2944760" cy="2944760"/>
          </a:xfrm>
          <a:prstGeom prst="rect">
            <a:avLst/>
          </a:prstGeom>
          <a:noFill/>
          <a:ln>
            <a:noFill/>
          </a:ln>
        </p:spPr>
      </p:pic>
      <p:pic>
        <p:nvPicPr>
          <p:cNvPr id="390" name="Google Shape;390;p23"/>
          <p:cNvPicPr preferRelativeResize="0"/>
          <p:nvPr/>
        </p:nvPicPr>
        <p:blipFill rotWithShape="1">
          <a:blip r:embed="rId7">
            <a:alphaModFix/>
          </a:blip>
          <a:srcRect b="21325" l="33876" r="15672" t="0"/>
          <a:stretch/>
        </p:blipFill>
        <p:spPr>
          <a:xfrm>
            <a:off x="14327080" y="3793336"/>
            <a:ext cx="2944760" cy="2944760"/>
          </a:xfrm>
          <a:prstGeom prst="rect">
            <a:avLst/>
          </a:prstGeom>
          <a:noFill/>
          <a:ln>
            <a:noFill/>
          </a:ln>
        </p:spPr>
      </p:pic>
      <p:grpSp>
        <p:nvGrpSpPr>
          <p:cNvPr id="391" name="Google Shape;391;p23"/>
          <p:cNvGrpSpPr/>
          <p:nvPr/>
        </p:nvGrpSpPr>
        <p:grpSpPr>
          <a:xfrm>
            <a:off x="1028700" y="3793336"/>
            <a:ext cx="5183080" cy="2944760"/>
            <a:chOff x="0" y="0"/>
            <a:chExt cx="1269613" cy="721329"/>
          </a:xfrm>
        </p:grpSpPr>
        <p:sp>
          <p:nvSpPr>
            <p:cNvPr id="392" name="Google Shape;392;p23"/>
            <p:cNvSpPr/>
            <p:nvPr/>
          </p:nvSpPr>
          <p:spPr>
            <a:xfrm>
              <a:off x="0" y="0"/>
              <a:ext cx="1269613" cy="721329"/>
            </a:xfrm>
            <a:custGeom>
              <a:rect b="b" l="l" r="r" t="t"/>
              <a:pathLst>
                <a:path extrusionOk="0" h="721329" w="1269613">
                  <a:moveTo>
                    <a:pt x="0" y="0"/>
                  </a:moveTo>
                  <a:lnTo>
                    <a:pt x="1269613" y="0"/>
                  </a:lnTo>
                  <a:lnTo>
                    <a:pt x="1269613" y="721329"/>
                  </a:lnTo>
                  <a:lnTo>
                    <a:pt x="0" y="721329"/>
                  </a:lnTo>
                  <a:close/>
                </a:path>
              </a:pathLst>
            </a:custGeom>
            <a:solidFill>
              <a:srgbClr val="F8F7F2"/>
            </a:solidFill>
            <a:ln>
              <a:noFill/>
            </a:ln>
          </p:spPr>
        </p:sp>
        <p:sp>
          <p:nvSpPr>
            <p:cNvPr id="393" name="Google Shape;393;p23"/>
            <p:cNvSpPr txBox="1"/>
            <p:nvPr/>
          </p:nvSpPr>
          <p:spPr>
            <a:xfrm>
              <a:off x="0" y="0"/>
              <a:ext cx="1269613"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4" name="Google Shape;394;p23"/>
          <p:cNvGrpSpPr/>
          <p:nvPr/>
        </p:nvGrpSpPr>
        <p:grpSpPr>
          <a:xfrm>
            <a:off x="12088760" y="6738096"/>
            <a:ext cx="5183080" cy="2944760"/>
            <a:chOff x="0" y="0"/>
            <a:chExt cx="1269613" cy="721329"/>
          </a:xfrm>
        </p:grpSpPr>
        <p:sp>
          <p:nvSpPr>
            <p:cNvPr id="395" name="Google Shape;395;p23"/>
            <p:cNvSpPr/>
            <p:nvPr/>
          </p:nvSpPr>
          <p:spPr>
            <a:xfrm>
              <a:off x="0" y="0"/>
              <a:ext cx="1269613" cy="721329"/>
            </a:xfrm>
            <a:custGeom>
              <a:rect b="b" l="l" r="r" t="t"/>
              <a:pathLst>
                <a:path extrusionOk="0" h="721329" w="1269613">
                  <a:moveTo>
                    <a:pt x="0" y="0"/>
                  </a:moveTo>
                  <a:lnTo>
                    <a:pt x="1269613" y="0"/>
                  </a:lnTo>
                  <a:lnTo>
                    <a:pt x="1269613" y="721329"/>
                  </a:lnTo>
                  <a:lnTo>
                    <a:pt x="0" y="721329"/>
                  </a:lnTo>
                  <a:close/>
                </a:path>
              </a:pathLst>
            </a:custGeom>
            <a:solidFill>
              <a:srgbClr val="FFC259"/>
            </a:solidFill>
            <a:ln>
              <a:noFill/>
            </a:ln>
          </p:spPr>
        </p:sp>
        <p:sp>
          <p:nvSpPr>
            <p:cNvPr id="396" name="Google Shape;396;p23"/>
            <p:cNvSpPr txBox="1"/>
            <p:nvPr/>
          </p:nvSpPr>
          <p:spPr>
            <a:xfrm>
              <a:off x="0" y="0"/>
              <a:ext cx="1269613"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7" name="Google Shape;397;p23"/>
          <p:cNvGrpSpPr/>
          <p:nvPr/>
        </p:nvGrpSpPr>
        <p:grpSpPr>
          <a:xfrm>
            <a:off x="9144000" y="3793336"/>
            <a:ext cx="5183080" cy="2944760"/>
            <a:chOff x="0" y="0"/>
            <a:chExt cx="1269613" cy="721329"/>
          </a:xfrm>
        </p:grpSpPr>
        <p:sp>
          <p:nvSpPr>
            <p:cNvPr id="398" name="Google Shape;398;p23"/>
            <p:cNvSpPr/>
            <p:nvPr/>
          </p:nvSpPr>
          <p:spPr>
            <a:xfrm>
              <a:off x="0" y="0"/>
              <a:ext cx="1269613" cy="721329"/>
            </a:xfrm>
            <a:custGeom>
              <a:rect b="b" l="l" r="r" t="t"/>
              <a:pathLst>
                <a:path extrusionOk="0" h="721329" w="1269613">
                  <a:moveTo>
                    <a:pt x="0" y="0"/>
                  </a:moveTo>
                  <a:lnTo>
                    <a:pt x="1269613" y="0"/>
                  </a:lnTo>
                  <a:lnTo>
                    <a:pt x="1269613" y="721329"/>
                  </a:lnTo>
                  <a:lnTo>
                    <a:pt x="0" y="721329"/>
                  </a:lnTo>
                  <a:close/>
                </a:path>
              </a:pathLst>
            </a:custGeom>
            <a:solidFill>
              <a:srgbClr val="F8F7F2"/>
            </a:solidFill>
            <a:ln>
              <a:noFill/>
            </a:ln>
          </p:spPr>
        </p:sp>
        <p:sp>
          <p:nvSpPr>
            <p:cNvPr id="399" name="Google Shape;399;p23"/>
            <p:cNvSpPr txBox="1"/>
            <p:nvPr/>
          </p:nvSpPr>
          <p:spPr>
            <a:xfrm>
              <a:off x="0" y="0"/>
              <a:ext cx="1269613"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0" name="Google Shape;400;p23"/>
          <p:cNvGrpSpPr/>
          <p:nvPr/>
        </p:nvGrpSpPr>
        <p:grpSpPr>
          <a:xfrm>
            <a:off x="3960920" y="6727049"/>
            <a:ext cx="5183080" cy="2944760"/>
            <a:chOff x="0" y="0"/>
            <a:chExt cx="1269613" cy="721329"/>
          </a:xfrm>
        </p:grpSpPr>
        <p:sp>
          <p:nvSpPr>
            <p:cNvPr id="401" name="Google Shape;401;p23"/>
            <p:cNvSpPr/>
            <p:nvPr/>
          </p:nvSpPr>
          <p:spPr>
            <a:xfrm>
              <a:off x="0" y="0"/>
              <a:ext cx="1269613" cy="721329"/>
            </a:xfrm>
            <a:custGeom>
              <a:rect b="b" l="l" r="r" t="t"/>
              <a:pathLst>
                <a:path extrusionOk="0" h="721329" w="1269613">
                  <a:moveTo>
                    <a:pt x="0" y="0"/>
                  </a:moveTo>
                  <a:lnTo>
                    <a:pt x="1269613" y="0"/>
                  </a:lnTo>
                  <a:lnTo>
                    <a:pt x="1269613" y="721329"/>
                  </a:lnTo>
                  <a:lnTo>
                    <a:pt x="0" y="721329"/>
                  </a:lnTo>
                  <a:close/>
                </a:path>
              </a:pathLst>
            </a:custGeom>
            <a:solidFill>
              <a:srgbClr val="FFC259"/>
            </a:solidFill>
            <a:ln>
              <a:noFill/>
            </a:ln>
          </p:spPr>
        </p:sp>
        <p:sp>
          <p:nvSpPr>
            <p:cNvPr id="402" name="Google Shape;402;p23"/>
            <p:cNvSpPr txBox="1"/>
            <p:nvPr/>
          </p:nvSpPr>
          <p:spPr>
            <a:xfrm>
              <a:off x="0" y="0"/>
              <a:ext cx="1269613" cy="721329"/>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23"/>
          <p:cNvGrpSpPr/>
          <p:nvPr/>
        </p:nvGrpSpPr>
        <p:grpSpPr>
          <a:xfrm rot="5400000">
            <a:off x="3449922" y="8699816"/>
            <a:ext cx="684863" cy="612666"/>
            <a:chOff x="50624" y="0"/>
            <a:chExt cx="711551" cy="636541"/>
          </a:xfrm>
        </p:grpSpPr>
        <p:sp>
          <p:nvSpPr>
            <p:cNvPr id="404" name="Google Shape;404;p23"/>
            <p:cNvSpPr/>
            <p:nvPr/>
          </p:nvSpPr>
          <p:spPr>
            <a:xfrm>
              <a:off x="50624" y="0"/>
              <a:ext cx="711551" cy="636541"/>
            </a:xfrm>
            <a:custGeom>
              <a:rect b="b" l="l" r="r" t="t"/>
              <a:pathLst>
                <a:path extrusionOk="0" h="636541" w="711551">
                  <a:moveTo>
                    <a:pt x="419604" y="599500"/>
                  </a:moveTo>
                  <a:lnTo>
                    <a:pt x="698348" y="111700"/>
                  </a:lnTo>
                  <a:cubicBezTo>
                    <a:pt x="711552" y="88593"/>
                    <a:pt x="711457" y="60204"/>
                    <a:pt x="698099" y="37185"/>
                  </a:cubicBezTo>
                  <a:cubicBezTo>
                    <a:pt x="684741" y="14167"/>
                    <a:pt x="660139" y="0"/>
                    <a:pt x="633526" y="0"/>
                  </a:cubicBezTo>
                  <a:lnTo>
                    <a:pt x="78026" y="0"/>
                  </a:lnTo>
                  <a:cubicBezTo>
                    <a:pt x="51413" y="0"/>
                    <a:pt x="26811" y="14167"/>
                    <a:pt x="13453" y="37185"/>
                  </a:cubicBezTo>
                  <a:cubicBezTo>
                    <a:pt x="95" y="60204"/>
                    <a:pt x="0" y="88593"/>
                    <a:pt x="13204" y="111700"/>
                  </a:cubicBezTo>
                  <a:lnTo>
                    <a:pt x="291948" y="599500"/>
                  </a:lnTo>
                  <a:cubicBezTo>
                    <a:pt x="305036" y="622406"/>
                    <a:pt x="329395" y="636541"/>
                    <a:pt x="355776" y="636541"/>
                  </a:cubicBezTo>
                  <a:cubicBezTo>
                    <a:pt x="382157" y="636541"/>
                    <a:pt x="406516" y="622406"/>
                    <a:pt x="419604" y="599500"/>
                  </a:cubicBezTo>
                  <a:close/>
                </a:path>
              </a:pathLst>
            </a:custGeom>
            <a:solidFill>
              <a:srgbClr val="FFC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txBox="1"/>
            <p:nvPr/>
          </p:nvSpPr>
          <p:spPr>
            <a:xfrm>
              <a:off x="127000" y="50800"/>
              <a:ext cx="558800" cy="3302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23"/>
          <p:cNvGrpSpPr/>
          <p:nvPr/>
        </p:nvGrpSpPr>
        <p:grpSpPr>
          <a:xfrm rot="5400000">
            <a:off x="11526335" y="8699816"/>
            <a:ext cx="684863" cy="612666"/>
            <a:chOff x="50624" y="0"/>
            <a:chExt cx="711551" cy="636541"/>
          </a:xfrm>
        </p:grpSpPr>
        <p:sp>
          <p:nvSpPr>
            <p:cNvPr id="407" name="Google Shape;407;p23"/>
            <p:cNvSpPr/>
            <p:nvPr/>
          </p:nvSpPr>
          <p:spPr>
            <a:xfrm>
              <a:off x="50624" y="0"/>
              <a:ext cx="711551" cy="636541"/>
            </a:xfrm>
            <a:custGeom>
              <a:rect b="b" l="l" r="r" t="t"/>
              <a:pathLst>
                <a:path extrusionOk="0" h="636541" w="711551">
                  <a:moveTo>
                    <a:pt x="419604" y="599500"/>
                  </a:moveTo>
                  <a:lnTo>
                    <a:pt x="698348" y="111700"/>
                  </a:lnTo>
                  <a:cubicBezTo>
                    <a:pt x="711552" y="88593"/>
                    <a:pt x="711457" y="60204"/>
                    <a:pt x="698099" y="37185"/>
                  </a:cubicBezTo>
                  <a:cubicBezTo>
                    <a:pt x="684741" y="14167"/>
                    <a:pt x="660139" y="0"/>
                    <a:pt x="633526" y="0"/>
                  </a:cubicBezTo>
                  <a:lnTo>
                    <a:pt x="78026" y="0"/>
                  </a:lnTo>
                  <a:cubicBezTo>
                    <a:pt x="51413" y="0"/>
                    <a:pt x="26811" y="14167"/>
                    <a:pt x="13453" y="37185"/>
                  </a:cubicBezTo>
                  <a:cubicBezTo>
                    <a:pt x="95" y="60204"/>
                    <a:pt x="0" y="88593"/>
                    <a:pt x="13204" y="111700"/>
                  </a:cubicBezTo>
                  <a:lnTo>
                    <a:pt x="291948" y="599500"/>
                  </a:lnTo>
                  <a:cubicBezTo>
                    <a:pt x="305036" y="622406"/>
                    <a:pt x="329395" y="636541"/>
                    <a:pt x="355776" y="636541"/>
                  </a:cubicBezTo>
                  <a:cubicBezTo>
                    <a:pt x="382157" y="636541"/>
                    <a:pt x="406516" y="622406"/>
                    <a:pt x="419604" y="599500"/>
                  </a:cubicBezTo>
                  <a:close/>
                </a:path>
              </a:pathLst>
            </a:custGeom>
            <a:solidFill>
              <a:srgbClr val="FFC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3"/>
            <p:cNvSpPr txBox="1"/>
            <p:nvPr/>
          </p:nvSpPr>
          <p:spPr>
            <a:xfrm>
              <a:off x="127000" y="50800"/>
              <a:ext cx="558800" cy="3302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23"/>
          <p:cNvGrpSpPr/>
          <p:nvPr/>
        </p:nvGrpSpPr>
        <p:grpSpPr>
          <a:xfrm rot="-5400000">
            <a:off x="6041489" y="5801153"/>
            <a:ext cx="684863" cy="612666"/>
            <a:chOff x="50624" y="0"/>
            <a:chExt cx="711551" cy="636541"/>
          </a:xfrm>
        </p:grpSpPr>
        <p:sp>
          <p:nvSpPr>
            <p:cNvPr id="410" name="Google Shape;410;p23"/>
            <p:cNvSpPr/>
            <p:nvPr/>
          </p:nvSpPr>
          <p:spPr>
            <a:xfrm>
              <a:off x="50624" y="0"/>
              <a:ext cx="711551" cy="636541"/>
            </a:xfrm>
            <a:custGeom>
              <a:rect b="b" l="l" r="r" t="t"/>
              <a:pathLst>
                <a:path extrusionOk="0" h="636541" w="711551">
                  <a:moveTo>
                    <a:pt x="419604" y="599500"/>
                  </a:moveTo>
                  <a:lnTo>
                    <a:pt x="698348" y="111700"/>
                  </a:lnTo>
                  <a:cubicBezTo>
                    <a:pt x="711552" y="88593"/>
                    <a:pt x="711457" y="60204"/>
                    <a:pt x="698099" y="37185"/>
                  </a:cubicBezTo>
                  <a:cubicBezTo>
                    <a:pt x="684741" y="14167"/>
                    <a:pt x="660139" y="0"/>
                    <a:pt x="633526" y="0"/>
                  </a:cubicBezTo>
                  <a:lnTo>
                    <a:pt x="78026" y="0"/>
                  </a:lnTo>
                  <a:cubicBezTo>
                    <a:pt x="51413" y="0"/>
                    <a:pt x="26811" y="14167"/>
                    <a:pt x="13453" y="37185"/>
                  </a:cubicBezTo>
                  <a:cubicBezTo>
                    <a:pt x="95" y="60204"/>
                    <a:pt x="0" y="88593"/>
                    <a:pt x="13204" y="111700"/>
                  </a:cubicBezTo>
                  <a:lnTo>
                    <a:pt x="291948" y="599500"/>
                  </a:lnTo>
                  <a:cubicBezTo>
                    <a:pt x="305036" y="622406"/>
                    <a:pt x="329395" y="636541"/>
                    <a:pt x="355776" y="636541"/>
                  </a:cubicBezTo>
                  <a:cubicBezTo>
                    <a:pt x="382157" y="636541"/>
                    <a:pt x="406516" y="622406"/>
                    <a:pt x="419604" y="599500"/>
                  </a:cubicBezTo>
                  <a:close/>
                </a:path>
              </a:pathLst>
            </a:custGeom>
            <a:solidFill>
              <a:srgbClr val="F8F7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3"/>
            <p:cNvSpPr txBox="1"/>
            <p:nvPr/>
          </p:nvSpPr>
          <p:spPr>
            <a:xfrm>
              <a:off x="127000" y="50800"/>
              <a:ext cx="558800" cy="3302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23"/>
          <p:cNvGrpSpPr/>
          <p:nvPr/>
        </p:nvGrpSpPr>
        <p:grpSpPr>
          <a:xfrm rot="-5400000">
            <a:off x="14143672" y="5801153"/>
            <a:ext cx="684863" cy="612666"/>
            <a:chOff x="50624" y="0"/>
            <a:chExt cx="711551" cy="636541"/>
          </a:xfrm>
        </p:grpSpPr>
        <p:sp>
          <p:nvSpPr>
            <p:cNvPr id="413" name="Google Shape;413;p23"/>
            <p:cNvSpPr/>
            <p:nvPr/>
          </p:nvSpPr>
          <p:spPr>
            <a:xfrm>
              <a:off x="50624" y="0"/>
              <a:ext cx="711551" cy="636541"/>
            </a:xfrm>
            <a:custGeom>
              <a:rect b="b" l="l" r="r" t="t"/>
              <a:pathLst>
                <a:path extrusionOk="0" h="636541" w="711551">
                  <a:moveTo>
                    <a:pt x="419604" y="599500"/>
                  </a:moveTo>
                  <a:lnTo>
                    <a:pt x="698348" y="111700"/>
                  </a:lnTo>
                  <a:cubicBezTo>
                    <a:pt x="711552" y="88593"/>
                    <a:pt x="711457" y="60204"/>
                    <a:pt x="698099" y="37185"/>
                  </a:cubicBezTo>
                  <a:cubicBezTo>
                    <a:pt x="684741" y="14167"/>
                    <a:pt x="660139" y="0"/>
                    <a:pt x="633526" y="0"/>
                  </a:cubicBezTo>
                  <a:lnTo>
                    <a:pt x="78026" y="0"/>
                  </a:lnTo>
                  <a:cubicBezTo>
                    <a:pt x="51413" y="0"/>
                    <a:pt x="26811" y="14167"/>
                    <a:pt x="13453" y="37185"/>
                  </a:cubicBezTo>
                  <a:cubicBezTo>
                    <a:pt x="95" y="60204"/>
                    <a:pt x="0" y="88593"/>
                    <a:pt x="13204" y="111700"/>
                  </a:cubicBezTo>
                  <a:lnTo>
                    <a:pt x="291948" y="599500"/>
                  </a:lnTo>
                  <a:cubicBezTo>
                    <a:pt x="305036" y="622406"/>
                    <a:pt x="329395" y="636541"/>
                    <a:pt x="355776" y="636541"/>
                  </a:cubicBezTo>
                  <a:cubicBezTo>
                    <a:pt x="382157" y="636541"/>
                    <a:pt x="406516" y="622406"/>
                    <a:pt x="419604" y="599500"/>
                  </a:cubicBezTo>
                  <a:close/>
                </a:path>
              </a:pathLst>
            </a:custGeom>
            <a:solidFill>
              <a:srgbClr val="F8F7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3"/>
            <p:cNvSpPr txBox="1"/>
            <p:nvPr/>
          </p:nvSpPr>
          <p:spPr>
            <a:xfrm>
              <a:off x="127000" y="50800"/>
              <a:ext cx="558800" cy="3302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15" name="Google Shape;415;p23"/>
          <p:cNvCxnSpPr/>
          <p:nvPr/>
        </p:nvCxnSpPr>
        <p:spPr>
          <a:xfrm rot="-5400000">
            <a:off x="485348" y="5240382"/>
            <a:ext cx="1879449" cy="0"/>
          </a:xfrm>
          <a:prstGeom prst="straightConnector1">
            <a:avLst/>
          </a:prstGeom>
          <a:noFill/>
          <a:ln cap="flat" cmpd="sng" w="28575">
            <a:solidFill>
              <a:srgbClr val="FFC259"/>
            </a:solidFill>
            <a:prstDash val="dash"/>
            <a:round/>
            <a:headEnd len="lg" w="lg" type="oval"/>
            <a:tailEnd len="lg" w="lg" type="oval"/>
          </a:ln>
        </p:spPr>
      </p:cxnSp>
      <p:cxnSp>
        <p:nvCxnSpPr>
          <p:cNvPr id="416" name="Google Shape;416;p23"/>
          <p:cNvCxnSpPr/>
          <p:nvPr/>
        </p:nvCxnSpPr>
        <p:spPr>
          <a:xfrm rot="-5400000">
            <a:off x="8741027" y="5240382"/>
            <a:ext cx="1879449" cy="0"/>
          </a:xfrm>
          <a:prstGeom prst="straightConnector1">
            <a:avLst/>
          </a:prstGeom>
          <a:noFill/>
          <a:ln cap="flat" cmpd="sng" w="28575">
            <a:solidFill>
              <a:srgbClr val="FFC259"/>
            </a:solidFill>
            <a:prstDash val="dash"/>
            <a:round/>
            <a:headEnd len="lg" w="lg" type="oval"/>
            <a:tailEnd len="lg" w="lg" type="oval"/>
          </a:ln>
        </p:spPr>
      </p:cxnSp>
      <p:cxnSp>
        <p:nvCxnSpPr>
          <p:cNvPr id="417" name="Google Shape;417;p23"/>
          <p:cNvCxnSpPr/>
          <p:nvPr/>
        </p:nvCxnSpPr>
        <p:spPr>
          <a:xfrm rot="-5400000">
            <a:off x="11654437" y="8207236"/>
            <a:ext cx="1879449" cy="0"/>
          </a:xfrm>
          <a:prstGeom prst="straightConnector1">
            <a:avLst/>
          </a:prstGeom>
          <a:noFill/>
          <a:ln cap="flat" cmpd="sng" w="28575">
            <a:solidFill>
              <a:srgbClr val="FFFFFF"/>
            </a:solidFill>
            <a:prstDash val="dash"/>
            <a:round/>
            <a:headEnd len="lg" w="lg" type="oval"/>
            <a:tailEnd len="lg" w="lg" type="oval"/>
          </a:ln>
        </p:spPr>
      </p:cxnSp>
      <p:cxnSp>
        <p:nvCxnSpPr>
          <p:cNvPr id="418" name="Google Shape;418;p23"/>
          <p:cNvCxnSpPr/>
          <p:nvPr/>
        </p:nvCxnSpPr>
        <p:spPr>
          <a:xfrm rot="-5400000">
            <a:off x="3668549" y="8236046"/>
            <a:ext cx="1879449" cy="0"/>
          </a:xfrm>
          <a:prstGeom prst="straightConnector1">
            <a:avLst/>
          </a:prstGeom>
          <a:noFill/>
          <a:ln cap="flat" cmpd="sng" w="28575">
            <a:solidFill>
              <a:srgbClr val="FFFFFF"/>
            </a:solidFill>
            <a:prstDash val="dash"/>
            <a:round/>
            <a:headEnd len="lg" w="lg" type="oval"/>
            <a:tailEnd len="lg" w="lg" type="oval"/>
          </a:ln>
        </p:spPr>
      </p:cxnSp>
      <p:sp>
        <p:nvSpPr>
          <p:cNvPr id="419" name="Google Shape;419;p23"/>
          <p:cNvSpPr txBox="1"/>
          <p:nvPr/>
        </p:nvSpPr>
        <p:spPr>
          <a:xfrm>
            <a:off x="890560" y="864391"/>
            <a:ext cx="7811619" cy="2257565"/>
          </a:xfrm>
          <a:prstGeom prst="rect">
            <a:avLst/>
          </a:prstGeom>
          <a:noFill/>
          <a:ln>
            <a:noFill/>
          </a:ln>
        </p:spPr>
        <p:txBody>
          <a:bodyPr anchorCtr="0" anchor="t" bIns="0" lIns="0" spcFirstLastPara="1" rIns="0" wrap="square" tIns="0">
            <a:spAutoFit/>
          </a:bodyPr>
          <a:lstStyle/>
          <a:p>
            <a:pPr indent="0" lvl="0" marL="0" marR="0" rtl="0" algn="l">
              <a:lnSpc>
                <a:spcPct val="101999"/>
              </a:lnSpc>
              <a:spcBef>
                <a:spcPts val="0"/>
              </a:spcBef>
              <a:spcAft>
                <a:spcPts val="0"/>
              </a:spcAft>
              <a:buNone/>
            </a:pPr>
            <a:r>
              <a:rPr b="1" i="0" lang="en-US" sz="8253" u="none" cap="none" strike="noStrike">
                <a:solidFill>
                  <a:srgbClr val="FFFFFF"/>
                </a:solidFill>
                <a:latin typeface="Poppins"/>
                <a:ea typeface="Poppins"/>
                <a:cs typeface="Poppins"/>
                <a:sym typeface="Poppins"/>
              </a:rPr>
              <a:t>Target Audience</a:t>
            </a:r>
            <a:endParaRPr/>
          </a:p>
        </p:txBody>
      </p:sp>
      <p:sp>
        <p:nvSpPr>
          <p:cNvPr id="420" name="Google Shape;420;p23"/>
          <p:cNvSpPr txBox="1"/>
          <p:nvPr/>
        </p:nvSpPr>
        <p:spPr>
          <a:xfrm>
            <a:off x="1682651" y="4881739"/>
            <a:ext cx="3875179" cy="1130935"/>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This group may be interested in coffee products due to health consciousness, environmental concerns, and a desire for sustainable living. </a:t>
            </a:r>
            <a:endParaRPr/>
          </a:p>
        </p:txBody>
      </p:sp>
      <p:sp>
        <p:nvSpPr>
          <p:cNvPr id="421" name="Google Shape;421;p23"/>
          <p:cNvSpPr txBox="1"/>
          <p:nvPr/>
        </p:nvSpPr>
        <p:spPr>
          <a:xfrm>
            <a:off x="1686300" y="4282767"/>
            <a:ext cx="2650192"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Adults (Ages 18-30)</a:t>
            </a:r>
            <a:endParaRPr/>
          </a:p>
        </p:txBody>
      </p:sp>
      <p:sp>
        <p:nvSpPr>
          <p:cNvPr id="422" name="Google Shape;422;p23"/>
          <p:cNvSpPr txBox="1"/>
          <p:nvPr/>
        </p:nvSpPr>
        <p:spPr>
          <a:xfrm>
            <a:off x="9940749" y="4891264"/>
            <a:ext cx="3900340" cy="1130935"/>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This group is typically more established in their careers and may have families. They may be interested in coffee products for their health.</a:t>
            </a:r>
            <a:endParaRPr/>
          </a:p>
        </p:txBody>
      </p:sp>
      <p:sp>
        <p:nvSpPr>
          <p:cNvPr id="423" name="Google Shape;423;p23"/>
          <p:cNvSpPr txBox="1"/>
          <p:nvPr/>
        </p:nvSpPr>
        <p:spPr>
          <a:xfrm>
            <a:off x="9940749" y="4282767"/>
            <a:ext cx="3900340"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Middle-Aged (Ages 31-50)</a:t>
            </a:r>
            <a:endParaRPr/>
          </a:p>
        </p:txBody>
      </p:sp>
      <p:sp>
        <p:nvSpPr>
          <p:cNvPr id="424" name="Google Shape;424;p23"/>
          <p:cNvSpPr txBox="1"/>
          <p:nvPr/>
        </p:nvSpPr>
        <p:spPr>
          <a:xfrm>
            <a:off x="12855388" y="8266371"/>
            <a:ext cx="3875179" cy="3022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Urban &amp; rural</a:t>
            </a:r>
            <a:endParaRPr/>
          </a:p>
        </p:txBody>
      </p:sp>
      <p:sp>
        <p:nvSpPr>
          <p:cNvPr id="425" name="Google Shape;425;p23"/>
          <p:cNvSpPr txBox="1"/>
          <p:nvPr/>
        </p:nvSpPr>
        <p:spPr>
          <a:xfrm>
            <a:off x="12855388" y="7249621"/>
            <a:ext cx="2650192"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Gender</a:t>
            </a:r>
            <a:endParaRPr/>
          </a:p>
        </p:txBody>
      </p:sp>
      <p:sp>
        <p:nvSpPr>
          <p:cNvPr id="426" name="Google Shape;426;p23"/>
          <p:cNvSpPr txBox="1"/>
          <p:nvPr/>
        </p:nvSpPr>
        <p:spPr>
          <a:xfrm>
            <a:off x="12848090" y="7595537"/>
            <a:ext cx="2813004" cy="318661"/>
          </a:xfrm>
          <a:prstGeom prst="rect">
            <a:avLst/>
          </a:prstGeom>
          <a:noFill/>
          <a:ln>
            <a:noFill/>
          </a:ln>
        </p:spPr>
        <p:txBody>
          <a:bodyPr anchorCtr="0" anchor="t" bIns="0" lIns="0" spcFirstLastPara="1" rIns="0" wrap="square" tIns="0">
            <a:spAutoFit/>
          </a:bodyPr>
          <a:lstStyle/>
          <a:p>
            <a:pPr indent="0" lvl="0" marL="0" marR="0" rtl="0" algn="l">
              <a:lnSpc>
                <a:spcPct val="139964"/>
              </a:lnSpc>
              <a:spcBef>
                <a:spcPts val="0"/>
              </a:spcBef>
              <a:spcAft>
                <a:spcPts val="0"/>
              </a:spcAft>
              <a:buNone/>
            </a:pPr>
            <a:r>
              <a:rPr b="0" i="0" lang="en-US" sz="1704" u="none" cap="none" strike="noStrike">
                <a:solidFill>
                  <a:srgbClr val="181818"/>
                </a:solidFill>
                <a:latin typeface="Arial"/>
                <a:ea typeface="Arial"/>
                <a:cs typeface="Arial"/>
                <a:sym typeface="Arial"/>
              </a:rPr>
              <a:t> Men  &amp; female</a:t>
            </a:r>
            <a:endParaRPr/>
          </a:p>
        </p:txBody>
      </p:sp>
      <p:sp>
        <p:nvSpPr>
          <p:cNvPr id="427" name="Google Shape;427;p23"/>
          <p:cNvSpPr txBox="1"/>
          <p:nvPr/>
        </p:nvSpPr>
        <p:spPr>
          <a:xfrm>
            <a:off x="4869501" y="7793614"/>
            <a:ext cx="3874449" cy="14071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Maximum seniors are interested in coffee products for their potential health benefits. They may appreciate the quality and taste of coffee products.</a:t>
            </a:r>
            <a:endParaRPr/>
          </a:p>
        </p:txBody>
      </p:sp>
      <p:sp>
        <p:nvSpPr>
          <p:cNvPr id="428" name="Google Shape;428;p23"/>
          <p:cNvSpPr txBox="1"/>
          <p:nvPr/>
        </p:nvSpPr>
        <p:spPr>
          <a:xfrm>
            <a:off x="4869501" y="7278431"/>
            <a:ext cx="2650192"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Elders (Ages 50+)</a:t>
            </a:r>
            <a:endParaRPr/>
          </a:p>
        </p:txBody>
      </p:sp>
      <p:sp>
        <p:nvSpPr>
          <p:cNvPr id="429" name="Google Shape;429;p23"/>
          <p:cNvSpPr txBox="1"/>
          <p:nvPr/>
        </p:nvSpPr>
        <p:spPr>
          <a:xfrm>
            <a:off x="12848090" y="7892715"/>
            <a:ext cx="2650192"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Location</a:t>
            </a:r>
            <a:endParaRPr/>
          </a:p>
        </p:txBody>
      </p:sp>
      <p:sp>
        <p:nvSpPr>
          <p:cNvPr id="430" name="Google Shape;430;p23"/>
          <p:cNvSpPr txBox="1"/>
          <p:nvPr/>
        </p:nvSpPr>
        <p:spPr>
          <a:xfrm>
            <a:off x="12856098" y="8575806"/>
            <a:ext cx="2650192" cy="359071"/>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181818"/>
                </a:solidFill>
                <a:latin typeface="Poppins"/>
                <a:ea typeface="Poppins"/>
                <a:cs typeface="Poppins"/>
                <a:sym typeface="Poppins"/>
              </a:rPr>
              <a:t>Income Level</a:t>
            </a:r>
            <a:endParaRPr/>
          </a:p>
        </p:txBody>
      </p:sp>
      <p:sp>
        <p:nvSpPr>
          <p:cNvPr id="431" name="Google Shape;431;p23"/>
          <p:cNvSpPr txBox="1"/>
          <p:nvPr/>
        </p:nvSpPr>
        <p:spPr>
          <a:xfrm>
            <a:off x="12856098" y="8934877"/>
            <a:ext cx="3875179" cy="3022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Low , middle  &amp; high</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5" name="Shape 435"/>
        <p:cNvGrpSpPr/>
        <p:nvPr/>
      </p:nvGrpSpPr>
      <p:grpSpPr>
        <a:xfrm>
          <a:off x="0" y="0"/>
          <a:ext cx="0" cy="0"/>
          <a:chOff x="0" y="0"/>
          <a:chExt cx="0" cy="0"/>
        </a:xfrm>
      </p:grpSpPr>
      <p:sp>
        <p:nvSpPr>
          <p:cNvPr id="436" name="Google Shape;436;p24"/>
          <p:cNvSpPr/>
          <p:nvPr/>
        </p:nvSpPr>
        <p:spPr>
          <a:xfrm>
            <a:off x="1028700" y="752567"/>
            <a:ext cx="16405694" cy="8781867"/>
          </a:xfrm>
          <a:custGeom>
            <a:rect b="b" l="l" r="r" t="t"/>
            <a:pathLst>
              <a:path extrusionOk="0" h="8781867" w="16405694">
                <a:moveTo>
                  <a:pt x="0" y="0"/>
                </a:moveTo>
                <a:lnTo>
                  <a:pt x="16405694" y="0"/>
                </a:lnTo>
                <a:lnTo>
                  <a:pt x="16405694" y="8781866"/>
                </a:lnTo>
                <a:lnTo>
                  <a:pt x="0" y="8781866"/>
                </a:lnTo>
                <a:lnTo>
                  <a:pt x="0" y="0"/>
                </a:lnTo>
                <a:close/>
              </a:path>
            </a:pathLst>
          </a:custGeom>
          <a:blipFill rotWithShape="1">
            <a:blip r:embed="rId3">
              <a:alphaModFix/>
            </a:blip>
            <a:stretch>
              <a:fillRect b="-2007" l="0" r="0" t="-19833"/>
            </a:stretch>
          </a:blipFill>
          <a:ln>
            <a:noFill/>
          </a:ln>
        </p:spPr>
      </p:sp>
      <p:sp>
        <p:nvSpPr>
          <p:cNvPr id="437" name="Google Shape;437;p24"/>
          <p:cNvSpPr txBox="1"/>
          <p:nvPr/>
        </p:nvSpPr>
        <p:spPr>
          <a:xfrm>
            <a:off x="5504855" y="600167"/>
            <a:ext cx="7278291" cy="129538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500" u="none" cap="none" strike="noStrike">
                <a:solidFill>
                  <a:srgbClr val="000000"/>
                </a:solidFill>
                <a:latin typeface="Arial"/>
                <a:ea typeface="Arial"/>
                <a:cs typeface="Arial"/>
                <a:sym typeface="Arial"/>
              </a:rPr>
              <a:t>Business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441" name="Shape 441"/>
        <p:cNvGrpSpPr/>
        <p:nvPr/>
      </p:nvGrpSpPr>
      <p:grpSpPr>
        <a:xfrm>
          <a:off x="0" y="0"/>
          <a:ext cx="0" cy="0"/>
          <a:chOff x="0" y="0"/>
          <a:chExt cx="0" cy="0"/>
        </a:xfrm>
      </p:grpSpPr>
      <p:pic>
        <p:nvPicPr>
          <p:cNvPr id="442" name="Google Shape;442;p25"/>
          <p:cNvPicPr preferRelativeResize="0"/>
          <p:nvPr/>
        </p:nvPicPr>
        <p:blipFill rotWithShape="1">
          <a:blip r:embed="rId3">
            <a:alphaModFix amt="77000"/>
          </a:blip>
          <a:srcRect b="27185" l="0" r="0" t="36136"/>
          <a:stretch/>
        </p:blipFill>
        <p:spPr>
          <a:xfrm>
            <a:off x="0" y="-26045"/>
            <a:ext cx="18288000" cy="3773102"/>
          </a:xfrm>
          <a:prstGeom prst="rect">
            <a:avLst/>
          </a:prstGeom>
          <a:noFill/>
          <a:ln>
            <a:noFill/>
          </a:ln>
        </p:spPr>
      </p:pic>
      <p:sp>
        <p:nvSpPr>
          <p:cNvPr id="443" name="Google Shape;443;p25"/>
          <p:cNvSpPr txBox="1"/>
          <p:nvPr/>
        </p:nvSpPr>
        <p:spPr>
          <a:xfrm>
            <a:off x="6976044" y="1253866"/>
            <a:ext cx="5207027"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Revenue</a:t>
            </a:r>
            <a:endParaRPr/>
          </a:p>
        </p:txBody>
      </p:sp>
      <p:cxnSp>
        <p:nvCxnSpPr>
          <p:cNvPr id="444" name="Google Shape;444;p25"/>
          <p:cNvCxnSpPr/>
          <p:nvPr/>
        </p:nvCxnSpPr>
        <p:spPr>
          <a:xfrm>
            <a:off x="-2232364" y="9674854"/>
            <a:ext cx="22782020" cy="0"/>
          </a:xfrm>
          <a:prstGeom prst="straightConnector1">
            <a:avLst/>
          </a:prstGeom>
          <a:noFill/>
          <a:ln cap="flat" cmpd="sng" w="19050">
            <a:solidFill>
              <a:srgbClr val="FFFFFF"/>
            </a:solidFill>
            <a:prstDash val="solid"/>
            <a:round/>
            <a:headEnd len="sm" w="sm" type="none"/>
            <a:tailEnd len="sm" w="sm" type="none"/>
          </a:ln>
        </p:spPr>
      </p:cxnSp>
      <p:sp>
        <p:nvSpPr>
          <p:cNvPr id="445" name="Google Shape;445;p25"/>
          <p:cNvSpPr txBox="1"/>
          <p:nvPr/>
        </p:nvSpPr>
        <p:spPr>
          <a:xfrm>
            <a:off x="5456391" y="5086350"/>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Pricing Strategy</a:t>
            </a:r>
            <a:endParaRPr/>
          </a:p>
        </p:txBody>
      </p:sp>
      <p:sp>
        <p:nvSpPr>
          <p:cNvPr id="446" name="Google Shape;446;p25"/>
          <p:cNvSpPr txBox="1"/>
          <p:nvPr/>
        </p:nvSpPr>
        <p:spPr>
          <a:xfrm>
            <a:off x="1133137" y="5086350"/>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Product or Service Sales</a:t>
            </a:r>
            <a:endParaRPr/>
          </a:p>
        </p:txBody>
      </p:sp>
      <p:sp>
        <p:nvSpPr>
          <p:cNvPr id="447" name="Google Shape;447;p25"/>
          <p:cNvSpPr txBox="1"/>
          <p:nvPr/>
        </p:nvSpPr>
        <p:spPr>
          <a:xfrm>
            <a:off x="9579558" y="5086350"/>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Subscription Models</a:t>
            </a:r>
            <a:endParaRPr/>
          </a:p>
        </p:txBody>
      </p:sp>
      <p:pic>
        <p:nvPicPr>
          <p:cNvPr id="448" name="Google Shape;448;p25"/>
          <p:cNvPicPr preferRelativeResize="0"/>
          <p:nvPr/>
        </p:nvPicPr>
        <p:blipFill rotWithShape="1">
          <a:blip r:embed="rId4">
            <a:alphaModFix/>
          </a:blip>
          <a:srcRect b="0" l="10000" r="10000" t="0"/>
          <a:stretch/>
        </p:blipFill>
        <p:spPr>
          <a:xfrm>
            <a:off x="5257626" y="5998259"/>
            <a:ext cx="3442003" cy="2868336"/>
          </a:xfrm>
          <a:prstGeom prst="rect">
            <a:avLst/>
          </a:prstGeom>
          <a:noFill/>
          <a:ln>
            <a:noFill/>
          </a:ln>
        </p:spPr>
      </p:pic>
      <p:pic>
        <p:nvPicPr>
          <p:cNvPr id="449" name="Google Shape;449;p25"/>
          <p:cNvPicPr preferRelativeResize="0"/>
          <p:nvPr/>
        </p:nvPicPr>
        <p:blipFill rotWithShape="1">
          <a:blip r:embed="rId5">
            <a:alphaModFix/>
          </a:blip>
          <a:srcRect b="13247" l="6879" r="8008" t="39466"/>
          <a:stretch/>
        </p:blipFill>
        <p:spPr>
          <a:xfrm>
            <a:off x="931213" y="5998259"/>
            <a:ext cx="3442003" cy="2868336"/>
          </a:xfrm>
          <a:prstGeom prst="rect">
            <a:avLst/>
          </a:prstGeom>
          <a:noFill/>
          <a:ln>
            <a:noFill/>
          </a:ln>
        </p:spPr>
      </p:pic>
      <p:pic>
        <p:nvPicPr>
          <p:cNvPr id="450" name="Google Shape;450;p25"/>
          <p:cNvPicPr preferRelativeResize="0"/>
          <p:nvPr/>
        </p:nvPicPr>
        <p:blipFill rotWithShape="1">
          <a:blip r:embed="rId6">
            <a:alphaModFix/>
          </a:blip>
          <a:srcRect b="12743" l="0" r="0" t="31631"/>
          <a:stretch/>
        </p:blipFill>
        <p:spPr>
          <a:xfrm>
            <a:off x="9579558" y="5998259"/>
            <a:ext cx="3442003" cy="2868336"/>
          </a:xfrm>
          <a:prstGeom prst="rect">
            <a:avLst/>
          </a:prstGeom>
          <a:noFill/>
          <a:ln>
            <a:noFill/>
          </a:ln>
        </p:spPr>
      </p:pic>
      <p:pic>
        <p:nvPicPr>
          <p:cNvPr id="451" name="Google Shape;451;p25"/>
          <p:cNvPicPr preferRelativeResize="0"/>
          <p:nvPr/>
        </p:nvPicPr>
        <p:blipFill rotWithShape="1">
          <a:blip r:embed="rId7">
            <a:alphaModFix/>
          </a:blip>
          <a:srcRect b="2604" l="15913" r="18279" t="15137"/>
          <a:stretch/>
        </p:blipFill>
        <p:spPr>
          <a:xfrm>
            <a:off x="13906265" y="5998259"/>
            <a:ext cx="3442003" cy="2868336"/>
          </a:xfrm>
          <a:prstGeom prst="rect">
            <a:avLst/>
          </a:prstGeom>
          <a:noFill/>
          <a:ln>
            <a:noFill/>
          </a:ln>
        </p:spPr>
      </p:pic>
      <p:grpSp>
        <p:nvGrpSpPr>
          <p:cNvPr id="452" name="Google Shape;452;p25"/>
          <p:cNvGrpSpPr/>
          <p:nvPr/>
        </p:nvGrpSpPr>
        <p:grpSpPr>
          <a:xfrm>
            <a:off x="7723431" y="7890397"/>
            <a:ext cx="976198" cy="976198"/>
            <a:chOff x="0" y="0"/>
            <a:chExt cx="812800" cy="812800"/>
          </a:xfrm>
        </p:grpSpPr>
        <p:sp>
          <p:nvSpPr>
            <p:cNvPr id="453" name="Google Shape;453;p25"/>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54" name="Google Shape;454;p25"/>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25"/>
          <p:cNvGrpSpPr/>
          <p:nvPr/>
        </p:nvGrpSpPr>
        <p:grpSpPr>
          <a:xfrm>
            <a:off x="3400178" y="7890397"/>
            <a:ext cx="976198" cy="976198"/>
            <a:chOff x="0" y="0"/>
            <a:chExt cx="812800" cy="812800"/>
          </a:xfrm>
        </p:grpSpPr>
        <p:sp>
          <p:nvSpPr>
            <p:cNvPr id="456" name="Google Shape;456;p25"/>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57" name="Google Shape;457;p25"/>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8" name="Google Shape;458;p25"/>
          <p:cNvSpPr txBox="1"/>
          <p:nvPr/>
        </p:nvSpPr>
        <p:spPr>
          <a:xfrm>
            <a:off x="7524667" y="7934083"/>
            <a:ext cx="1373727" cy="7650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02</a:t>
            </a:r>
            <a:endParaRPr/>
          </a:p>
        </p:txBody>
      </p:sp>
      <p:sp>
        <p:nvSpPr>
          <p:cNvPr id="459" name="Google Shape;459;p25"/>
          <p:cNvSpPr txBox="1"/>
          <p:nvPr/>
        </p:nvSpPr>
        <p:spPr>
          <a:xfrm>
            <a:off x="3201413" y="7934021"/>
            <a:ext cx="1373727" cy="76512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01</a:t>
            </a:r>
            <a:endParaRPr/>
          </a:p>
        </p:txBody>
      </p:sp>
      <p:grpSp>
        <p:nvGrpSpPr>
          <p:cNvPr id="460" name="Google Shape;460;p25"/>
          <p:cNvGrpSpPr/>
          <p:nvPr/>
        </p:nvGrpSpPr>
        <p:grpSpPr>
          <a:xfrm>
            <a:off x="12045363" y="7890397"/>
            <a:ext cx="976198" cy="976198"/>
            <a:chOff x="0" y="0"/>
            <a:chExt cx="812800" cy="812800"/>
          </a:xfrm>
        </p:grpSpPr>
        <p:sp>
          <p:nvSpPr>
            <p:cNvPr id="461" name="Google Shape;461;p25"/>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62" name="Google Shape;462;p25"/>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3" name="Google Shape;463;p25"/>
          <p:cNvSpPr txBox="1"/>
          <p:nvPr/>
        </p:nvSpPr>
        <p:spPr>
          <a:xfrm>
            <a:off x="11846065" y="7934083"/>
            <a:ext cx="1374794" cy="7650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03</a:t>
            </a:r>
            <a:endParaRPr/>
          </a:p>
        </p:txBody>
      </p:sp>
      <p:grpSp>
        <p:nvGrpSpPr>
          <p:cNvPr id="464" name="Google Shape;464;p25"/>
          <p:cNvGrpSpPr/>
          <p:nvPr/>
        </p:nvGrpSpPr>
        <p:grpSpPr>
          <a:xfrm>
            <a:off x="16372071" y="7890397"/>
            <a:ext cx="976198" cy="976198"/>
            <a:chOff x="0" y="0"/>
            <a:chExt cx="812800" cy="812800"/>
          </a:xfrm>
        </p:grpSpPr>
        <p:sp>
          <p:nvSpPr>
            <p:cNvPr id="465" name="Google Shape;465;p25"/>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66" name="Google Shape;466;p25"/>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7" name="Google Shape;467;p25"/>
          <p:cNvSpPr txBox="1"/>
          <p:nvPr/>
        </p:nvSpPr>
        <p:spPr>
          <a:xfrm>
            <a:off x="16120132" y="7934083"/>
            <a:ext cx="1480074" cy="7650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04</a:t>
            </a:r>
            <a:endParaRPr/>
          </a:p>
        </p:txBody>
      </p:sp>
      <p:sp>
        <p:nvSpPr>
          <p:cNvPr id="468" name="Google Shape;468;p25"/>
          <p:cNvSpPr txBox="1"/>
          <p:nvPr/>
        </p:nvSpPr>
        <p:spPr>
          <a:xfrm>
            <a:off x="13907386" y="5086350"/>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Licensing and Royalties</a:t>
            </a:r>
            <a:endParaRPr/>
          </a:p>
        </p:txBody>
      </p:sp>
      <p:grpSp>
        <p:nvGrpSpPr>
          <p:cNvPr id="469" name="Google Shape;469;p25"/>
          <p:cNvGrpSpPr/>
          <p:nvPr/>
        </p:nvGrpSpPr>
        <p:grpSpPr>
          <a:xfrm>
            <a:off x="942259" y="600948"/>
            <a:ext cx="2303192" cy="2411154"/>
            <a:chOff x="0" y="-38100"/>
            <a:chExt cx="812800" cy="850900"/>
          </a:xfrm>
        </p:grpSpPr>
        <p:sp>
          <p:nvSpPr>
            <p:cNvPr id="470" name="Google Shape;470;p25"/>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471" name="Google Shape;471;p2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25"/>
          <p:cNvSpPr/>
          <p:nvPr/>
        </p:nvSpPr>
        <p:spPr>
          <a:xfrm>
            <a:off x="1432527" y="1199179"/>
            <a:ext cx="1322655" cy="1322655"/>
          </a:xfrm>
          <a:custGeom>
            <a:rect b="b" l="l" r="r" t="t"/>
            <a:pathLst>
              <a:path extrusionOk="0" h="1322655" w="1322655">
                <a:moveTo>
                  <a:pt x="0" y="0"/>
                </a:moveTo>
                <a:lnTo>
                  <a:pt x="1322655" y="0"/>
                </a:lnTo>
                <a:lnTo>
                  <a:pt x="1322655" y="1322655"/>
                </a:lnTo>
                <a:lnTo>
                  <a:pt x="0" y="1322655"/>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476" name="Shape 476"/>
        <p:cNvGrpSpPr/>
        <p:nvPr/>
      </p:nvGrpSpPr>
      <p:grpSpPr>
        <a:xfrm>
          <a:off x="0" y="0"/>
          <a:ext cx="0" cy="0"/>
          <a:chOff x="0" y="0"/>
          <a:chExt cx="0" cy="0"/>
        </a:xfrm>
      </p:grpSpPr>
      <p:pic>
        <p:nvPicPr>
          <p:cNvPr id="477" name="Google Shape;477;p26"/>
          <p:cNvPicPr preferRelativeResize="0"/>
          <p:nvPr/>
        </p:nvPicPr>
        <p:blipFill rotWithShape="1">
          <a:blip r:embed="rId3">
            <a:alphaModFix amt="77000"/>
          </a:blip>
          <a:srcRect b="27185" l="0" r="0" t="36136"/>
          <a:stretch/>
        </p:blipFill>
        <p:spPr>
          <a:xfrm>
            <a:off x="0" y="-26045"/>
            <a:ext cx="18288000" cy="3773102"/>
          </a:xfrm>
          <a:prstGeom prst="rect">
            <a:avLst/>
          </a:prstGeom>
          <a:noFill/>
          <a:ln>
            <a:noFill/>
          </a:ln>
        </p:spPr>
      </p:pic>
      <p:sp>
        <p:nvSpPr>
          <p:cNvPr id="478" name="Google Shape;478;p26"/>
          <p:cNvSpPr txBox="1"/>
          <p:nvPr/>
        </p:nvSpPr>
        <p:spPr>
          <a:xfrm>
            <a:off x="7135900" y="1183683"/>
            <a:ext cx="5305626"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Revenue</a:t>
            </a:r>
            <a:endParaRPr/>
          </a:p>
        </p:txBody>
      </p:sp>
      <p:cxnSp>
        <p:nvCxnSpPr>
          <p:cNvPr id="479" name="Google Shape;479;p26"/>
          <p:cNvCxnSpPr/>
          <p:nvPr/>
        </p:nvCxnSpPr>
        <p:spPr>
          <a:xfrm>
            <a:off x="-2232364" y="9674854"/>
            <a:ext cx="22782020" cy="0"/>
          </a:xfrm>
          <a:prstGeom prst="straightConnector1">
            <a:avLst/>
          </a:prstGeom>
          <a:noFill/>
          <a:ln cap="flat" cmpd="sng" w="19050">
            <a:solidFill>
              <a:srgbClr val="FFFFFF"/>
            </a:solidFill>
            <a:prstDash val="solid"/>
            <a:round/>
            <a:headEnd len="sm" w="sm" type="none"/>
            <a:tailEnd len="sm" w="sm" type="none"/>
          </a:ln>
        </p:spPr>
      </p:cxnSp>
      <p:sp>
        <p:nvSpPr>
          <p:cNvPr id="480" name="Google Shape;480;p26"/>
          <p:cNvSpPr txBox="1"/>
          <p:nvPr/>
        </p:nvSpPr>
        <p:spPr>
          <a:xfrm>
            <a:off x="5414898" y="5086233"/>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Advertising Revenue</a:t>
            </a:r>
            <a:endParaRPr/>
          </a:p>
        </p:txBody>
      </p:sp>
      <p:sp>
        <p:nvSpPr>
          <p:cNvPr id="481" name="Google Shape;481;p26"/>
          <p:cNvSpPr txBox="1"/>
          <p:nvPr/>
        </p:nvSpPr>
        <p:spPr>
          <a:xfrm>
            <a:off x="1034180" y="5086233"/>
            <a:ext cx="3442003"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Affiliate Marketing</a:t>
            </a:r>
            <a:endParaRPr/>
          </a:p>
        </p:txBody>
      </p:sp>
      <p:sp>
        <p:nvSpPr>
          <p:cNvPr id="482" name="Google Shape;482;p26"/>
          <p:cNvSpPr txBox="1"/>
          <p:nvPr/>
        </p:nvSpPr>
        <p:spPr>
          <a:xfrm>
            <a:off x="9560933" y="5004350"/>
            <a:ext cx="3641301" cy="358368"/>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Upselling and Cross-Selling</a:t>
            </a:r>
            <a:endParaRPr/>
          </a:p>
        </p:txBody>
      </p:sp>
      <p:pic>
        <p:nvPicPr>
          <p:cNvPr id="483" name="Google Shape;483;p26"/>
          <p:cNvPicPr preferRelativeResize="0"/>
          <p:nvPr/>
        </p:nvPicPr>
        <p:blipFill rotWithShape="1">
          <a:blip r:embed="rId4">
            <a:alphaModFix/>
          </a:blip>
          <a:srcRect b="0" l="10000" r="10000" t="0"/>
          <a:stretch/>
        </p:blipFill>
        <p:spPr>
          <a:xfrm>
            <a:off x="5257626" y="5998259"/>
            <a:ext cx="3442003" cy="2868336"/>
          </a:xfrm>
          <a:prstGeom prst="rect">
            <a:avLst/>
          </a:prstGeom>
          <a:noFill/>
          <a:ln>
            <a:noFill/>
          </a:ln>
        </p:spPr>
      </p:pic>
      <p:pic>
        <p:nvPicPr>
          <p:cNvPr id="484" name="Google Shape;484;p26"/>
          <p:cNvPicPr preferRelativeResize="0"/>
          <p:nvPr/>
        </p:nvPicPr>
        <p:blipFill rotWithShape="1">
          <a:blip r:embed="rId5">
            <a:alphaModFix/>
          </a:blip>
          <a:srcRect b="13247" l="6879" r="8008" t="39466"/>
          <a:stretch/>
        </p:blipFill>
        <p:spPr>
          <a:xfrm>
            <a:off x="931213" y="5998259"/>
            <a:ext cx="3442003" cy="2868336"/>
          </a:xfrm>
          <a:prstGeom prst="rect">
            <a:avLst/>
          </a:prstGeom>
          <a:noFill/>
          <a:ln>
            <a:noFill/>
          </a:ln>
        </p:spPr>
      </p:pic>
      <p:pic>
        <p:nvPicPr>
          <p:cNvPr id="485" name="Google Shape;485;p26"/>
          <p:cNvPicPr preferRelativeResize="0"/>
          <p:nvPr/>
        </p:nvPicPr>
        <p:blipFill rotWithShape="1">
          <a:blip r:embed="rId6">
            <a:alphaModFix/>
          </a:blip>
          <a:srcRect b="12743" l="0" r="0" t="31631"/>
          <a:stretch/>
        </p:blipFill>
        <p:spPr>
          <a:xfrm>
            <a:off x="9579558" y="5998259"/>
            <a:ext cx="3442003" cy="2868336"/>
          </a:xfrm>
          <a:prstGeom prst="rect">
            <a:avLst/>
          </a:prstGeom>
          <a:noFill/>
          <a:ln>
            <a:noFill/>
          </a:ln>
        </p:spPr>
      </p:pic>
      <p:pic>
        <p:nvPicPr>
          <p:cNvPr id="486" name="Google Shape;486;p26"/>
          <p:cNvPicPr preferRelativeResize="0"/>
          <p:nvPr/>
        </p:nvPicPr>
        <p:blipFill rotWithShape="1">
          <a:blip r:embed="rId7">
            <a:alphaModFix/>
          </a:blip>
          <a:srcRect b="2604" l="15913" r="18279" t="15137"/>
          <a:stretch/>
        </p:blipFill>
        <p:spPr>
          <a:xfrm>
            <a:off x="13906265" y="5998259"/>
            <a:ext cx="3442003" cy="2868336"/>
          </a:xfrm>
          <a:prstGeom prst="rect">
            <a:avLst/>
          </a:prstGeom>
          <a:noFill/>
          <a:ln>
            <a:noFill/>
          </a:ln>
        </p:spPr>
      </p:pic>
      <p:grpSp>
        <p:nvGrpSpPr>
          <p:cNvPr id="487" name="Google Shape;487;p26"/>
          <p:cNvGrpSpPr/>
          <p:nvPr/>
        </p:nvGrpSpPr>
        <p:grpSpPr>
          <a:xfrm>
            <a:off x="7723431" y="7890397"/>
            <a:ext cx="976198" cy="976198"/>
            <a:chOff x="0" y="0"/>
            <a:chExt cx="812800" cy="812800"/>
          </a:xfrm>
        </p:grpSpPr>
        <p:sp>
          <p:nvSpPr>
            <p:cNvPr id="488" name="Google Shape;488;p2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89" name="Google Shape;489;p26"/>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0" name="Google Shape;490;p26"/>
          <p:cNvGrpSpPr/>
          <p:nvPr/>
        </p:nvGrpSpPr>
        <p:grpSpPr>
          <a:xfrm>
            <a:off x="3400178" y="7890397"/>
            <a:ext cx="976198" cy="976198"/>
            <a:chOff x="0" y="0"/>
            <a:chExt cx="812800" cy="812800"/>
          </a:xfrm>
        </p:grpSpPr>
        <p:sp>
          <p:nvSpPr>
            <p:cNvPr id="491" name="Google Shape;491;p2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92" name="Google Shape;492;p26"/>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3" name="Google Shape;493;p26"/>
          <p:cNvSpPr txBox="1"/>
          <p:nvPr/>
        </p:nvSpPr>
        <p:spPr>
          <a:xfrm>
            <a:off x="7524667" y="7934021"/>
            <a:ext cx="1373727" cy="76512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06</a:t>
            </a:r>
            <a:endParaRPr/>
          </a:p>
        </p:txBody>
      </p:sp>
      <p:sp>
        <p:nvSpPr>
          <p:cNvPr id="494" name="Google Shape;494;p26"/>
          <p:cNvSpPr txBox="1"/>
          <p:nvPr/>
        </p:nvSpPr>
        <p:spPr>
          <a:xfrm>
            <a:off x="3201413" y="7934021"/>
            <a:ext cx="1373727" cy="76512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05</a:t>
            </a:r>
            <a:endParaRPr/>
          </a:p>
        </p:txBody>
      </p:sp>
      <p:grpSp>
        <p:nvGrpSpPr>
          <p:cNvPr id="495" name="Google Shape;495;p26"/>
          <p:cNvGrpSpPr/>
          <p:nvPr/>
        </p:nvGrpSpPr>
        <p:grpSpPr>
          <a:xfrm>
            <a:off x="12045363" y="7890397"/>
            <a:ext cx="976198" cy="976198"/>
            <a:chOff x="0" y="0"/>
            <a:chExt cx="812800" cy="812800"/>
          </a:xfrm>
        </p:grpSpPr>
        <p:sp>
          <p:nvSpPr>
            <p:cNvPr id="496" name="Google Shape;496;p2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497" name="Google Shape;497;p26"/>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8" name="Google Shape;498;p26"/>
          <p:cNvSpPr txBox="1"/>
          <p:nvPr/>
        </p:nvSpPr>
        <p:spPr>
          <a:xfrm>
            <a:off x="11846065" y="7934021"/>
            <a:ext cx="1374794" cy="76512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07</a:t>
            </a:r>
            <a:endParaRPr/>
          </a:p>
        </p:txBody>
      </p:sp>
      <p:grpSp>
        <p:nvGrpSpPr>
          <p:cNvPr id="499" name="Google Shape;499;p26"/>
          <p:cNvGrpSpPr/>
          <p:nvPr/>
        </p:nvGrpSpPr>
        <p:grpSpPr>
          <a:xfrm>
            <a:off x="16372071" y="7890397"/>
            <a:ext cx="976198" cy="976198"/>
            <a:chOff x="0" y="0"/>
            <a:chExt cx="812800" cy="812800"/>
          </a:xfrm>
        </p:grpSpPr>
        <p:sp>
          <p:nvSpPr>
            <p:cNvPr id="500" name="Google Shape;500;p2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FC259"/>
            </a:solidFill>
            <a:ln>
              <a:noFill/>
            </a:ln>
          </p:spPr>
        </p:sp>
        <p:sp>
          <p:nvSpPr>
            <p:cNvPr id="501" name="Google Shape;501;p26"/>
            <p:cNvSpPr txBox="1"/>
            <p:nvPr/>
          </p:nvSpPr>
          <p:spPr>
            <a:xfrm>
              <a:off x="0" y="0"/>
              <a:ext cx="812800" cy="812800"/>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2" name="Google Shape;502;p26"/>
          <p:cNvSpPr txBox="1"/>
          <p:nvPr/>
        </p:nvSpPr>
        <p:spPr>
          <a:xfrm>
            <a:off x="16120132" y="7934021"/>
            <a:ext cx="1480074" cy="765126"/>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4221" u="none" cap="none" strike="noStrike">
                <a:solidFill>
                  <a:srgbClr val="000000"/>
                </a:solidFill>
                <a:latin typeface="Poppins SemiBold"/>
                <a:ea typeface="Poppins SemiBold"/>
                <a:cs typeface="Poppins SemiBold"/>
                <a:sym typeface="Poppins SemiBold"/>
              </a:rPr>
              <a:t>08</a:t>
            </a:r>
            <a:endParaRPr/>
          </a:p>
        </p:txBody>
      </p:sp>
      <p:sp>
        <p:nvSpPr>
          <p:cNvPr id="503" name="Google Shape;503;p26"/>
          <p:cNvSpPr txBox="1"/>
          <p:nvPr/>
        </p:nvSpPr>
        <p:spPr>
          <a:xfrm>
            <a:off x="13995234" y="4910372"/>
            <a:ext cx="3353035" cy="71009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i="0" lang="en-US" sz="1987" u="none" cap="none" strike="noStrike">
                <a:solidFill>
                  <a:srgbClr val="FFFFFF"/>
                </a:solidFill>
                <a:latin typeface="Poppins"/>
                <a:ea typeface="Poppins"/>
                <a:cs typeface="Poppins"/>
                <a:sym typeface="Poppins"/>
              </a:rPr>
              <a:t>Online Platforms and E-commerce</a:t>
            </a:r>
            <a:endParaRPr/>
          </a:p>
        </p:txBody>
      </p:sp>
      <p:grpSp>
        <p:nvGrpSpPr>
          <p:cNvPr id="504" name="Google Shape;504;p26"/>
          <p:cNvGrpSpPr/>
          <p:nvPr/>
        </p:nvGrpSpPr>
        <p:grpSpPr>
          <a:xfrm>
            <a:off x="942259" y="600948"/>
            <a:ext cx="2303192" cy="2411154"/>
            <a:chOff x="0" y="-38100"/>
            <a:chExt cx="812800" cy="850900"/>
          </a:xfrm>
        </p:grpSpPr>
        <p:sp>
          <p:nvSpPr>
            <p:cNvPr id="505" name="Google Shape;505;p2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506" name="Google Shape;506;p26"/>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7" name="Google Shape;507;p26"/>
          <p:cNvSpPr/>
          <p:nvPr/>
        </p:nvSpPr>
        <p:spPr>
          <a:xfrm>
            <a:off x="1432527" y="1199179"/>
            <a:ext cx="1322655" cy="1322655"/>
          </a:xfrm>
          <a:custGeom>
            <a:rect b="b" l="l" r="r" t="t"/>
            <a:pathLst>
              <a:path extrusionOk="0" h="1322655" w="1322655">
                <a:moveTo>
                  <a:pt x="0" y="0"/>
                </a:moveTo>
                <a:lnTo>
                  <a:pt x="1322655" y="0"/>
                </a:lnTo>
                <a:lnTo>
                  <a:pt x="1322655" y="1322655"/>
                </a:lnTo>
                <a:lnTo>
                  <a:pt x="0" y="1322655"/>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441" l="0" r="0" t="-11071"/>
            </a:stretch>
          </a:blipFill>
          <a:ln>
            <a:noFill/>
          </a:ln>
        </p:spPr>
      </p:sp>
      <p:sp>
        <p:nvSpPr>
          <p:cNvPr id="513" name="Google Shape;513;p27"/>
          <p:cNvSpPr txBox="1"/>
          <p:nvPr/>
        </p:nvSpPr>
        <p:spPr>
          <a:xfrm>
            <a:off x="685066" y="1347013"/>
            <a:ext cx="7937522"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Cost</a:t>
            </a:r>
            <a:endParaRPr/>
          </a:p>
        </p:txBody>
      </p:sp>
      <p:sp>
        <p:nvSpPr>
          <p:cNvPr id="514" name="Google Shape;514;p27"/>
          <p:cNvSpPr txBox="1"/>
          <p:nvPr/>
        </p:nvSpPr>
        <p:spPr>
          <a:xfrm>
            <a:off x="1398725"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01.</a:t>
            </a:r>
            <a:endParaRPr/>
          </a:p>
        </p:txBody>
      </p:sp>
      <p:sp>
        <p:nvSpPr>
          <p:cNvPr id="515" name="Google Shape;515;p27"/>
          <p:cNvSpPr txBox="1"/>
          <p:nvPr/>
        </p:nvSpPr>
        <p:spPr>
          <a:xfrm>
            <a:off x="1398725" y="4832725"/>
            <a:ext cx="2354651" cy="313608"/>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Production Costs</a:t>
            </a:r>
            <a:endParaRPr/>
          </a:p>
        </p:txBody>
      </p:sp>
      <p:sp>
        <p:nvSpPr>
          <p:cNvPr id="516" name="Google Shape;516;p27"/>
          <p:cNvSpPr txBox="1"/>
          <p:nvPr/>
        </p:nvSpPr>
        <p:spPr>
          <a:xfrm>
            <a:off x="5840293"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02.</a:t>
            </a:r>
            <a:endParaRPr/>
          </a:p>
        </p:txBody>
      </p:sp>
      <p:sp>
        <p:nvSpPr>
          <p:cNvPr id="517" name="Google Shape;517;p27"/>
          <p:cNvSpPr txBox="1"/>
          <p:nvPr/>
        </p:nvSpPr>
        <p:spPr>
          <a:xfrm>
            <a:off x="5840293" y="4809865"/>
            <a:ext cx="2240255"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Operational Expenses</a:t>
            </a:r>
            <a:endParaRPr/>
          </a:p>
        </p:txBody>
      </p:sp>
      <p:sp>
        <p:nvSpPr>
          <p:cNvPr id="518" name="Google Shape;518;p27"/>
          <p:cNvSpPr txBox="1"/>
          <p:nvPr/>
        </p:nvSpPr>
        <p:spPr>
          <a:xfrm>
            <a:off x="10280411"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03.</a:t>
            </a:r>
            <a:endParaRPr/>
          </a:p>
        </p:txBody>
      </p:sp>
      <p:sp>
        <p:nvSpPr>
          <p:cNvPr id="519" name="Google Shape;519;p27"/>
          <p:cNvSpPr txBox="1"/>
          <p:nvPr/>
        </p:nvSpPr>
        <p:spPr>
          <a:xfrm>
            <a:off x="10280411" y="4809865"/>
            <a:ext cx="2354651"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Marketing and Advertising Costs</a:t>
            </a:r>
            <a:endParaRPr/>
          </a:p>
        </p:txBody>
      </p:sp>
      <p:sp>
        <p:nvSpPr>
          <p:cNvPr id="520" name="Google Shape;520;p27"/>
          <p:cNvSpPr txBox="1"/>
          <p:nvPr/>
        </p:nvSpPr>
        <p:spPr>
          <a:xfrm>
            <a:off x="14720529"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04.</a:t>
            </a:r>
            <a:endParaRPr/>
          </a:p>
        </p:txBody>
      </p:sp>
      <p:sp>
        <p:nvSpPr>
          <p:cNvPr id="521" name="Google Shape;521;p27"/>
          <p:cNvSpPr txBox="1"/>
          <p:nvPr/>
        </p:nvSpPr>
        <p:spPr>
          <a:xfrm>
            <a:off x="14720529" y="4809865"/>
            <a:ext cx="2068326"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Employee Expenses</a:t>
            </a:r>
            <a:endParaRPr/>
          </a:p>
        </p:txBody>
      </p:sp>
      <p:pic>
        <p:nvPicPr>
          <p:cNvPr id="522" name="Google Shape;522;p27"/>
          <p:cNvPicPr preferRelativeResize="0"/>
          <p:nvPr/>
        </p:nvPicPr>
        <p:blipFill rotWithShape="1">
          <a:blip r:embed="rId4">
            <a:alphaModFix/>
          </a:blip>
          <a:srcRect b="0" l="28303" r="28303" t="0"/>
          <a:stretch/>
        </p:blipFill>
        <p:spPr>
          <a:xfrm>
            <a:off x="685066" y="5924795"/>
            <a:ext cx="3785770" cy="4362205"/>
          </a:xfrm>
          <a:prstGeom prst="rect">
            <a:avLst/>
          </a:prstGeom>
          <a:noFill/>
          <a:ln>
            <a:noFill/>
          </a:ln>
        </p:spPr>
      </p:pic>
      <p:pic>
        <p:nvPicPr>
          <p:cNvPr id="523" name="Google Shape;523;p27"/>
          <p:cNvPicPr preferRelativeResize="0"/>
          <p:nvPr/>
        </p:nvPicPr>
        <p:blipFill rotWithShape="1">
          <a:blip r:embed="rId5">
            <a:alphaModFix/>
          </a:blip>
          <a:srcRect b="0" l="21071" r="21070" t="0"/>
          <a:stretch/>
        </p:blipFill>
        <p:spPr>
          <a:xfrm>
            <a:off x="5067535" y="5924795"/>
            <a:ext cx="3785770" cy="4362205"/>
          </a:xfrm>
          <a:prstGeom prst="rect">
            <a:avLst/>
          </a:prstGeom>
          <a:noFill/>
          <a:ln>
            <a:noFill/>
          </a:ln>
        </p:spPr>
      </p:pic>
      <p:pic>
        <p:nvPicPr>
          <p:cNvPr id="524" name="Google Shape;524;p27"/>
          <p:cNvPicPr preferRelativeResize="0"/>
          <p:nvPr/>
        </p:nvPicPr>
        <p:blipFill rotWithShape="1">
          <a:blip r:embed="rId6">
            <a:alphaModFix/>
          </a:blip>
          <a:srcRect b="0" l="21034" r="21034" t="0"/>
          <a:stretch/>
        </p:blipFill>
        <p:spPr>
          <a:xfrm>
            <a:off x="9450005" y="5924795"/>
            <a:ext cx="3785770" cy="4362205"/>
          </a:xfrm>
          <a:prstGeom prst="rect">
            <a:avLst/>
          </a:prstGeom>
          <a:noFill/>
          <a:ln>
            <a:noFill/>
          </a:ln>
        </p:spPr>
      </p:pic>
      <p:pic>
        <p:nvPicPr>
          <p:cNvPr id="525" name="Google Shape;525;p27"/>
          <p:cNvPicPr preferRelativeResize="0"/>
          <p:nvPr/>
        </p:nvPicPr>
        <p:blipFill rotWithShape="1">
          <a:blip r:embed="rId7">
            <a:alphaModFix/>
          </a:blip>
          <a:srcRect b="0" l="11982" r="30141" t="0"/>
          <a:stretch/>
        </p:blipFill>
        <p:spPr>
          <a:xfrm>
            <a:off x="13832475" y="5924795"/>
            <a:ext cx="3785770" cy="4362205"/>
          </a:xfrm>
          <a:prstGeom prst="rect">
            <a:avLst/>
          </a:prstGeom>
          <a:noFill/>
          <a:ln>
            <a:noFill/>
          </a:ln>
        </p:spPr>
      </p:pic>
      <p:cxnSp>
        <p:nvCxnSpPr>
          <p:cNvPr id="526" name="Google Shape;526;p27"/>
          <p:cNvCxnSpPr/>
          <p:nvPr/>
        </p:nvCxnSpPr>
        <p:spPr>
          <a:xfrm rot="-5400000">
            <a:off x="-390283"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27" name="Google Shape;527;p27"/>
          <p:cNvCxnSpPr/>
          <p:nvPr/>
        </p:nvCxnSpPr>
        <p:spPr>
          <a:xfrm rot="-5400000">
            <a:off x="4049835"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28" name="Google Shape;528;p27"/>
          <p:cNvCxnSpPr/>
          <p:nvPr/>
        </p:nvCxnSpPr>
        <p:spPr>
          <a:xfrm rot="-5400000">
            <a:off x="8489954"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29" name="Google Shape;529;p27"/>
          <p:cNvCxnSpPr/>
          <p:nvPr/>
        </p:nvCxnSpPr>
        <p:spPr>
          <a:xfrm rot="-5400000">
            <a:off x="12930072"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30" name="Google Shape;530;p27"/>
          <p:cNvCxnSpPr/>
          <p:nvPr/>
        </p:nvCxnSpPr>
        <p:spPr>
          <a:xfrm>
            <a:off x="9927986" y="1071662"/>
            <a:ext cx="7140597" cy="0"/>
          </a:xfrm>
          <a:prstGeom prst="straightConnector1">
            <a:avLst/>
          </a:prstGeom>
          <a:noFill/>
          <a:ln cap="flat" cmpd="sng" w="19050">
            <a:solidFill>
              <a:srgbClr val="FFFFFF"/>
            </a:solidFill>
            <a:prstDash val="solid"/>
            <a:round/>
            <a:headEnd len="sm" w="sm" type="none"/>
            <a:tailEnd len="sm" w="sm" type="none"/>
          </a:ln>
        </p:spPr>
      </p:cxnSp>
      <p:grpSp>
        <p:nvGrpSpPr>
          <p:cNvPr id="531" name="Google Shape;531;p27"/>
          <p:cNvGrpSpPr/>
          <p:nvPr/>
        </p:nvGrpSpPr>
        <p:grpSpPr>
          <a:xfrm>
            <a:off x="15315053" y="-124302"/>
            <a:ext cx="2303192" cy="2411154"/>
            <a:chOff x="0" y="-38100"/>
            <a:chExt cx="812800" cy="850900"/>
          </a:xfrm>
        </p:grpSpPr>
        <p:sp>
          <p:nvSpPr>
            <p:cNvPr id="532" name="Google Shape;532;p27"/>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533" name="Google Shape;533;p27"/>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4" name="Google Shape;534;p27"/>
          <p:cNvSpPr/>
          <p:nvPr/>
        </p:nvSpPr>
        <p:spPr>
          <a:xfrm>
            <a:off x="15805321" y="473928"/>
            <a:ext cx="1322655" cy="1322655"/>
          </a:xfrm>
          <a:custGeom>
            <a:rect b="b" l="l" r="r" t="t"/>
            <a:pathLst>
              <a:path extrusionOk="0" h="1322655" w="1322655">
                <a:moveTo>
                  <a:pt x="0" y="0"/>
                </a:moveTo>
                <a:lnTo>
                  <a:pt x="1322655" y="0"/>
                </a:lnTo>
                <a:lnTo>
                  <a:pt x="1322655" y="1322655"/>
                </a:lnTo>
                <a:lnTo>
                  <a:pt x="0" y="1322655"/>
                </a:lnTo>
                <a:lnTo>
                  <a:pt x="0" y="0"/>
                </a:lnTo>
                <a:close/>
              </a:path>
            </a:pathLst>
          </a:custGeom>
          <a:blipFill rotWithShape="1">
            <a:blip r:embed="rId8">
              <a:alphaModFix/>
            </a:blip>
            <a:stretch>
              <a:fillRect b="0" l="0" r="0" t="0"/>
            </a:stretch>
          </a:blipFill>
          <a:ln>
            <a:noFill/>
          </a:ln>
        </p:spPr>
      </p:sp>
      <p:sp>
        <p:nvSpPr>
          <p:cNvPr id="535" name="Google Shape;535;p27"/>
          <p:cNvSpPr txBox="1"/>
          <p:nvPr/>
        </p:nvSpPr>
        <p:spPr>
          <a:xfrm>
            <a:off x="13050112" y="416778"/>
            <a:ext cx="2020788" cy="5143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000" u="none" cap="none" strike="noStrike">
                <a:solidFill>
                  <a:srgbClr val="FFFFFF"/>
                </a:solidFill>
                <a:latin typeface="Open Sans"/>
                <a:ea typeface="Open Sans"/>
                <a:cs typeface="Open Sans"/>
                <a:sym typeface="Open Sans"/>
              </a:rPr>
              <a:t>vintiq.com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7441" l="0" r="0" t="-11071"/>
            </a:stretch>
          </a:blipFill>
          <a:ln>
            <a:noFill/>
          </a:ln>
        </p:spPr>
      </p:sp>
      <p:sp>
        <p:nvSpPr>
          <p:cNvPr id="541" name="Google Shape;541;p28"/>
          <p:cNvSpPr txBox="1"/>
          <p:nvPr/>
        </p:nvSpPr>
        <p:spPr>
          <a:xfrm>
            <a:off x="915783" y="1347013"/>
            <a:ext cx="7937522"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Cost</a:t>
            </a:r>
            <a:endParaRPr/>
          </a:p>
        </p:txBody>
      </p:sp>
      <p:sp>
        <p:nvSpPr>
          <p:cNvPr id="542" name="Google Shape;542;p28"/>
          <p:cNvSpPr txBox="1"/>
          <p:nvPr/>
        </p:nvSpPr>
        <p:spPr>
          <a:xfrm>
            <a:off x="1398725"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05.</a:t>
            </a:r>
            <a:endParaRPr/>
          </a:p>
        </p:txBody>
      </p:sp>
      <p:sp>
        <p:nvSpPr>
          <p:cNvPr id="543" name="Google Shape;543;p28"/>
          <p:cNvSpPr txBox="1"/>
          <p:nvPr/>
        </p:nvSpPr>
        <p:spPr>
          <a:xfrm>
            <a:off x="1398725" y="4809865"/>
            <a:ext cx="2354651"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Distribution and Logistics Costs</a:t>
            </a:r>
            <a:endParaRPr/>
          </a:p>
        </p:txBody>
      </p:sp>
      <p:sp>
        <p:nvSpPr>
          <p:cNvPr id="544" name="Google Shape;544;p28"/>
          <p:cNvSpPr txBox="1"/>
          <p:nvPr/>
        </p:nvSpPr>
        <p:spPr>
          <a:xfrm>
            <a:off x="5840293"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06.</a:t>
            </a:r>
            <a:endParaRPr/>
          </a:p>
        </p:txBody>
      </p:sp>
      <p:sp>
        <p:nvSpPr>
          <p:cNvPr id="545" name="Google Shape;545;p28"/>
          <p:cNvSpPr txBox="1"/>
          <p:nvPr/>
        </p:nvSpPr>
        <p:spPr>
          <a:xfrm>
            <a:off x="5840293" y="4809865"/>
            <a:ext cx="2240255"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Technology and Software Expenses</a:t>
            </a:r>
            <a:endParaRPr/>
          </a:p>
        </p:txBody>
      </p:sp>
      <p:sp>
        <p:nvSpPr>
          <p:cNvPr id="546" name="Google Shape;546;p28"/>
          <p:cNvSpPr txBox="1"/>
          <p:nvPr/>
        </p:nvSpPr>
        <p:spPr>
          <a:xfrm>
            <a:off x="10280411"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07.</a:t>
            </a:r>
            <a:endParaRPr/>
          </a:p>
        </p:txBody>
      </p:sp>
      <p:sp>
        <p:nvSpPr>
          <p:cNvPr id="547" name="Google Shape;547;p28"/>
          <p:cNvSpPr txBox="1"/>
          <p:nvPr/>
        </p:nvSpPr>
        <p:spPr>
          <a:xfrm>
            <a:off x="10285174" y="4686399"/>
            <a:ext cx="2354651" cy="898915"/>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Research and Development (R&amp;D) Expenses</a:t>
            </a:r>
            <a:endParaRPr/>
          </a:p>
        </p:txBody>
      </p:sp>
      <p:sp>
        <p:nvSpPr>
          <p:cNvPr id="548" name="Google Shape;548;p28"/>
          <p:cNvSpPr txBox="1"/>
          <p:nvPr/>
        </p:nvSpPr>
        <p:spPr>
          <a:xfrm>
            <a:off x="14720529" y="3796080"/>
            <a:ext cx="2035860" cy="810667"/>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4458" u="none" cap="none" strike="noStrike">
                <a:solidFill>
                  <a:srgbClr val="FFC259"/>
                </a:solidFill>
                <a:latin typeface="Poppins SemiBold"/>
                <a:ea typeface="Poppins SemiBold"/>
                <a:cs typeface="Poppins SemiBold"/>
                <a:sym typeface="Poppins SemiBold"/>
              </a:rPr>
              <a:t>08.</a:t>
            </a:r>
            <a:endParaRPr/>
          </a:p>
        </p:txBody>
      </p:sp>
      <p:sp>
        <p:nvSpPr>
          <p:cNvPr id="549" name="Google Shape;549;p28"/>
          <p:cNvSpPr txBox="1"/>
          <p:nvPr/>
        </p:nvSpPr>
        <p:spPr>
          <a:xfrm>
            <a:off x="14720529" y="4809865"/>
            <a:ext cx="2068326" cy="606261"/>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b="0" i="0" lang="en-US" sz="1799" u="none" cap="none" strike="noStrike">
                <a:solidFill>
                  <a:srgbClr val="E1E1E1"/>
                </a:solidFill>
                <a:latin typeface="Arial"/>
                <a:ea typeface="Arial"/>
                <a:cs typeface="Arial"/>
                <a:sym typeface="Arial"/>
              </a:rPr>
              <a:t>Administrative Costs</a:t>
            </a:r>
            <a:endParaRPr/>
          </a:p>
        </p:txBody>
      </p:sp>
      <p:pic>
        <p:nvPicPr>
          <p:cNvPr id="550" name="Google Shape;550;p28"/>
          <p:cNvPicPr preferRelativeResize="0"/>
          <p:nvPr/>
        </p:nvPicPr>
        <p:blipFill rotWithShape="1">
          <a:blip r:embed="rId4">
            <a:alphaModFix/>
          </a:blip>
          <a:srcRect b="0" l="21685" r="21685" t="0"/>
          <a:stretch/>
        </p:blipFill>
        <p:spPr>
          <a:xfrm>
            <a:off x="685066" y="5924795"/>
            <a:ext cx="3785770" cy="4362205"/>
          </a:xfrm>
          <a:prstGeom prst="rect">
            <a:avLst/>
          </a:prstGeom>
          <a:noFill/>
          <a:ln>
            <a:noFill/>
          </a:ln>
        </p:spPr>
      </p:pic>
      <p:pic>
        <p:nvPicPr>
          <p:cNvPr id="551" name="Google Shape;551;p28"/>
          <p:cNvPicPr preferRelativeResize="0"/>
          <p:nvPr/>
        </p:nvPicPr>
        <p:blipFill rotWithShape="1">
          <a:blip r:embed="rId5">
            <a:alphaModFix/>
          </a:blip>
          <a:srcRect b="0" l="22933" r="22933" t="0"/>
          <a:stretch/>
        </p:blipFill>
        <p:spPr>
          <a:xfrm>
            <a:off x="5067535" y="5924795"/>
            <a:ext cx="3785770" cy="4362205"/>
          </a:xfrm>
          <a:prstGeom prst="rect">
            <a:avLst/>
          </a:prstGeom>
          <a:noFill/>
          <a:ln>
            <a:noFill/>
          </a:ln>
        </p:spPr>
      </p:pic>
      <p:pic>
        <p:nvPicPr>
          <p:cNvPr id="552" name="Google Shape;552;p28"/>
          <p:cNvPicPr preferRelativeResize="0"/>
          <p:nvPr/>
        </p:nvPicPr>
        <p:blipFill rotWithShape="1">
          <a:blip r:embed="rId6">
            <a:alphaModFix/>
          </a:blip>
          <a:srcRect b="0" l="27164" r="27164" t="0"/>
          <a:stretch/>
        </p:blipFill>
        <p:spPr>
          <a:xfrm>
            <a:off x="9450005" y="5924795"/>
            <a:ext cx="3785770" cy="4362205"/>
          </a:xfrm>
          <a:prstGeom prst="rect">
            <a:avLst/>
          </a:prstGeom>
          <a:noFill/>
          <a:ln>
            <a:noFill/>
          </a:ln>
        </p:spPr>
      </p:pic>
      <p:pic>
        <p:nvPicPr>
          <p:cNvPr id="553" name="Google Shape;553;p28"/>
          <p:cNvPicPr preferRelativeResize="0"/>
          <p:nvPr/>
        </p:nvPicPr>
        <p:blipFill rotWithShape="1">
          <a:blip r:embed="rId7">
            <a:alphaModFix/>
          </a:blip>
          <a:srcRect b="0" l="21089" r="21088" t="0"/>
          <a:stretch/>
        </p:blipFill>
        <p:spPr>
          <a:xfrm>
            <a:off x="13832475" y="5924795"/>
            <a:ext cx="3785770" cy="4362205"/>
          </a:xfrm>
          <a:prstGeom prst="rect">
            <a:avLst/>
          </a:prstGeom>
          <a:noFill/>
          <a:ln>
            <a:noFill/>
          </a:ln>
        </p:spPr>
      </p:pic>
      <p:cxnSp>
        <p:nvCxnSpPr>
          <p:cNvPr id="554" name="Google Shape;554;p28"/>
          <p:cNvCxnSpPr/>
          <p:nvPr/>
        </p:nvCxnSpPr>
        <p:spPr>
          <a:xfrm rot="-5400000">
            <a:off x="-390283"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55" name="Google Shape;555;p28"/>
          <p:cNvCxnSpPr/>
          <p:nvPr/>
        </p:nvCxnSpPr>
        <p:spPr>
          <a:xfrm rot="-5400000">
            <a:off x="4049835"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56" name="Google Shape;556;p28"/>
          <p:cNvCxnSpPr/>
          <p:nvPr/>
        </p:nvCxnSpPr>
        <p:spPr>
          <a:xfrm rot="-5400000">
            <a:off x="8489954"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57" name="Google Shape;557;p28"/>
          <p:cNvCxnSpPr/>
          <p:nvPr/>
        </p:nvCxnSpPr>
        <p:spPr>
          <a:xfrm rot="-5400000">
            <a:off x="12930072" y="5502788"/>
            <a:ext cx="2876065" cy="0"/>
          </a:xfrm>
          <a:prstGeom prst="straightConnector1">
            <a:avLst/>
          </a:prstGeom>
          <a:noFill/>
          <a:ln cap="flat" cmpd="sng" w="28575">
            <a:solidFill>
              <a:srgbClr val="FFFFFF"/>
            </a:solidFill>
            <a:prstDash val="solid"/>
            <a:round/>
            <a:headEnd len="sm" w="sm" type="none"/>
            <a:tailEnd len="lg" w="lg" type="oval"/>
          </a:ln>
        </p:spPr>
      </p:cxnSp>
      <p:cxnSp>
        <p:nvCxnSpPr>
          <p:cNvPr id="558" name="Google Shape;558;p28"/>
          <p:cNvCxnSpPr/>
          <p:nvPr/>
        </p:nvCxnSpPr>
        <p:spPr>
          <a:xfrm>
            <a:off x="9927986" y="1071662"/>
            <a:ext cx="7140597" cy="0"/>
          </a:xfrm>
          <a:prstGeom prst="straightConnector1">
            <a:avLst/>
          </a:prstGeom>
          <a:noFill/>
          <a:ln cap="flat" cmpd="sng" w="19050">
            <a:solidFill>
              <a:srgbClr val="FFFFFF"/>
            </a:solidFill>
            <a:prstDash val="solid"/>
            <a:round/>
            <a:headEnd len="sm" w="sm" type="none"/>
            <a:tailEnd len="sm" w="sm" type="none"/>
          </a:ln>
        </p:spPr>
      </p:cxnSp>
      <p:grpSp>
        <p:nvGrpSpPr>
          <p:cNvPr id="559" name="Google Shape;559;p28"/>
          <p:cNvGrpSpPr/>
          <p:nvPr/>
        </p:nvGrpSpPr>
        <p:grpSpPr>
          <a:xfrm>
            <a:off x="15315053" y="-124302"/>
            <a:ext cx="2303192" cy="2411154"/>
            <a:chOff x="0" y="-38100"/>
            <a:chExt cx="812800" cy="850900"/>
          </a:xfrm>
        </p:grpSpPr>
        <p:sp>
          <p:nvSpPr>
            <p:cNvPr id="560" name="Google Shape;560;p2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561" name="Google Shape;561;p28"/>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2" name="Google Shape;562;p28"/>
          <p:cNvSpPr/>
          <p:nvPr/>
        </p:nvSpPr>
        <p:spPr>
          <a:xfrm>
            <a:off x="15805321" y="473928"/>
            <a:ext cx="1322655" cy="1322655"/>
          </a:xfrm>
          <a:custGeom>
            <a:rect b="b" l="l" r="r" t="t"/>
            <a:pathLst>
              <a:path extrusionOk="0" h="1322655" w="1322655">
                <a:moveTo>
                  <a:pt x="0" y="0"/>
                </a:moveTo>
                <a:lnTo>
                  <a:pt x="1322655" y="0"/>
                </a:lnTo>
                <a:lnTo>
                  <a:pt x="1322655" y="1322655"/>
                </a:lnTo>
                <a:lnTo>
                  <a:pt x="0" y="1322655"/>
                </a:lnTo>
                <a:lnTo>
                  <a:pt x="0" y="0"/>
                </a:lnTo>
                <a:close/>
              </a:path>
            </a:pathLst>
          </a:custGeom>
          <a:blipFill rotWithShape="1">
            <a:blip r:embed="rId8">
              <a:alphaModFix/>
            </a:blip>
            <a:stretch>
              <a:fillRect b="0" l="0" r="0" t="0"/>
            </a:stretch>
          </a:blipFill>
          <a:ln>
            <a:noFill/>
          </a:ln>
        </p:spPr>
      </p:sp>
      <p:sp>
        <p:nvSpPr>
          <p:cNvPr id="563" name="Google Shape;563;p28"/>
          <p:cNvSpPr txBox="1"/>
          <p:nvPr/>
        </p:nvSpPr>
        <p:spPr>
          <a:xfrm>
            <a:off x="13012830" y="265831"/>
            <a:ext cx="2121247" cy="539132"/>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i="0" lang="en-US" sz="3149" u="none" cap="none" strike="noStrike">
                <a:solidFill>
                  <a:srgbClr val="FFFFFF"/>
                </a:solidFill>
                <a:latin typeface="Open Sans"/>
                <a:ea typeface="Open Sans"/>
                <a:cs typeface="Open Sans"/>
                <a:sym typeface="Open Sans"/>
              </a:rPr>
              <a:t>vintiq.com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745" l="0" r="0" t="-39028"/>
            </a:stretch>
          </a:blipFill>
          <a:ln>
            <a:noFill/>
          </a:ln>
        </p:spPr>
      </p:sp>
      <p:pic>
        <p:nvPicPr>
          <p:cNvPr id="569" name="Google Shape;569;p29"/>
          <p:cNvPicPr preferRelativeResize="0"/>
          <p:nvPr/>
        </p:nvPicPr>
        <p:blipFill rotWithShape="1">
          <a:blip r:embed="rId4">
            <a:alphaModFix/>
          </a:blip>
          <a:srcRect b="0" l="0" r="0" t="31862"/>
          <a:stretch/>
        </p:blipFill>
        <p:spPr>
          <a:xfrm>
            <a:off x="1398725" y="4216313"/>
            <a:ext cx="5919412" cy="6042463"/>
          </a:xfrm>
          <a:prstGeom prst="rect">
            <a:avLst/>
          </a:prstGeom>
          <a:noFill/>
          <a:ln>
            <a:noFill/>
          </a:ln>
        </p:spPr>
      </p:pic>
      <p:pic>
        <p:nvPicPr>
          <p:cNvPr id="570" name="Google Shape;570;p29"/>
          <p:cNvPicPr preferRelativeResize="0"/>
          <p:nvPr/>
        </p:nvPicPr>
        <p:blipFill rotWithShape="1">
          <a:blip r:embed="rId5">
            <a:alphaModFix/>
          </a:blip>
          <a:srcRect b="1900" l="0" r="0" t="1899"/>
          <a:stretch/>
        </p:blipFill>
        <p:spPr>
          <a:xfrm>
            <a:off x="11455621" y="0"/>
            <a:ext cx="5919412" cy="5694402"/>
          </a:xfrm>
          <a:prstGeom prst="rect">
            <a:avLst/>
          </a:prstGeom>
          <a:noFill/>
          <a:ln>
            <a:noFill/>
          </a:ln>
        </p:spPr>
      </p:pic>
      <p:pic>
        <p:nvPicPr>
          <p:cNvPr id="571" name="Google Shape;571;p29"/>
          <p:cNvPicPr preferRelativeResize="0"/>
          <p:nvPr/>
        </p:nvPicPr>
        <p:blipFill rotWithShape="1">
          <a:blip r:embed="rId6">
            <a:alphaModFix/>
          </a:blip>
          <a:srcRect b="16166" l="8516" r="8516" t="37740"/>
          <a:stretch/>
        </p:blipFill>
        <p:spPr>
          <a:xfrm>
            <a:off x="8225196" y="6498642"/>
            <a:ext cx="2738796" cy="2282330"/>
          </a:xfrm>
          <a:prstGeom prst="rect">
            <a:avLst/>
          </a:prstGeom>
          <a:noFill/>
          <a:ln>
            <a:noFill/>
          </a:ln>
        </p:spPr>
      </p:pic>
      <p:pic>
        <p:nvPicPr>
          <p:cNvPr id="572" name="Google Shape;572;p29"/>
          <p:cNvPicPr preferRelativeResize="0"/>
          <p:nvPr/>
        </p:nvPicPr>
        <p:blipFill rotWithShape="1">
          <a:blip r:embed="rId7">
            <a:alphaModFix/>
          </a:blip>
          <a:srcRect b="12743" l="0" r="0" t="31631"/>
          <a:stretch/>
        </p:blipFill>
        <p:spPr>
          <a:xfrm>
            <a:off x="11430716" y="6498642"/>
            <a:ext cx="2738796" cy="2282330"/>
          </a:xfrm>
          <a:prstGeom prst="rect">
            <a:avLst/>
          </a:prstGeom>
          <a:noFill/>
          <a:ln>
            <a:noFill/>
          </a:ln>
        </p:spPr>
      </p:pic>
      <p:pic>
        <p:nvPicPr>
          <p:cNvPr id="573" name="Google Shape;573;p29"/>
          <p:cNvPicPr preferRelativeResize="0"/>
          <p:nvPr/>
        </p:nvPicPr>
        <p:blipFill rotWithShape="1">
          <a:blip r:embed="rId8">
            <a:alphaModFix/>
          </a:blip>
          <a:srcRect b="2604" l="15913" r="18279" t="15137"/>
          <a:stretch/>
        </p:blipFill>
        <p:spPr>
          <a:xfrm>
            <a:off x="14636237" y="6498642"/>
            <a:ext cx="2738796" cy="2282330"/>
          </a:xfrm>
          <a:prstGeom prst="rect">
            <a:avLst/>
          </a:prstGeom>
          <a:noFill/>
          <a:ln>
            <a:noFill/>
          </a:ln>
        </p:spPr>
      </p:pic>
      <p:sp>
        <p:nvSpPr>
          <p:cNvPr id="574" name="Google Shape;574;p29"/>
          <p:cNvSpPr txBox="1"/>
          <p:nvPr/>
        </p:nvSpPr>
        <p:spPr>
          <a:xfrm>
            <a:off x="1398725" y="805433"/>
            <a:ext cx="6560144" cy="1267967"/>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8799" u="none" cap="none" strike="noStrike">
                <a:solidFill>
                  <a:srgbClr val="FFFFFF"/>
                </a:solidFill>
                <a:latin typeface="Poppins"/>
                <a:ea typeface="Poppins"/>
                <a:cs typeface="Poppins"/>
                <a:sym typeface="Poppins"/>
              </a:rPr>
              <a:t>Conclusion</a:t>
            </a:r>
            <a:endParaRPr/>
          </a:p>
        </p:txBody>
      </p:sp>
      <p:cxnSp>
        <p:nvCxnSpPr>
          <p:cNvPr id="575" name="Google Shape;575;p29"/>
          <p:cNvCxnSpPr/>
          <p:nvPr/>
        </p:nvCxnSpPr>
        <p:spPr>
          <a:xfrm>
            <a:off x="1398725" y="9254783"/>
            <a:ext cx="15976308" cy="0"/>
          </a:xfrm>
          <a:prstGeom prst="straightConnector1">
            <a:avLst/>
          </a:prstGeom>
          <a:noFill/>
          <a:ln cap="flat" cmpd="sng" w="28575">
            <a:solidFill>
              <a:srgbClr val="F8F7F2"/>
            </a:solidFill>
            <a:prstDash val="solid"/>
            <a:round/>
            <a:headEnd len="sm" w="sm" type="none"/>
            <a:tailEnd len="sm" w="sm" type="none"/>
          </a:ln>
        </p:spPr>
      </p:cxnSp>
      <p:cxnSp>
        <p:nvCxnSpPr>
          <p:cNvPr id="576" name="Google Shape;576;p29"/>
          <p:cNvCxnSpPr/>
          <p:nvPr/>
        </p:nvCxnSpPr>
        <p:spPr>
          <a:xfrm>
            <a:off x="8245714" y="1477517"/>
            <a:ext cx="9129319" cy="0"/>
          </a:xfrm>
          <a:prstGeom prst="straightConnector1">
            <a:avLst/>
          </a:prstGeom>
          <a:noFill/>
          <a:ln cap="flat" cmpd="sng" w="28575">
            <a:solidFill>
              <a:srgbClr val="FFC259"/>
            </a:solidFill>
            <a:prstDash val="solid"/>
            <a:round/>
            <a:headEnd len="lg" w="lg" type="oval"/>
            <a:tailEnd len="sm" w="sm" type="none"/>
          </a:ln>
        </p:spPr>
      </p:cxnSp>
      <p:sp>
        <p:nvSpPr>
          <p:cNvPr id="577" name="Google Shape;577;p29"/>
          <p:cNvSpPr txBox="1"/>
          <p:nvPr/>
        </p:nvSpPr>
        <p:spPr>
          <a:xfrm>
            <a:off x="1398725" y="2172446"/>
            <a:ext cx="6399609" cy="179514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1699" u="none" cap="none" strike="noStrike">
                <a:solidFill>
                  <a:srgbClr val="FFFFFF"/>
                </a:solidFill>
                <a:latin typeface="Arial"/>
                <a:ea typeface="Arial"/>
                <a:cs typeface="Arial"/>
                <a:sym typeface="Arial"/>
              </a:rPr>
              <a:t>Our coffee shop is more than a destination for exceptional brews; it's a community hub where the love for coffee meets a warm and inviting space. From meticulously sourced beans to fostering meaningful connections, we're dedicated to providing an enriching experience that goes beyond the cup. Welcome to a place where every sip tells a story.</a:t>
            </a:r>
            <a:endParaRPr/>
          </a:p>
        </p:txBody>
      </p:sp>
      <p:grpSp>
        <p:nvGrpSpPr>
          <p:cNvPr id="578" name="Google Shape;578;p29"/>
          <p:cNvGrpSpPr/>
          <p:nvPr/>
        </p:nvGrpSpPr>
        <p:grpSpPr>
          <a:xfrm>
            <a:off x="15897516" y="-69259"/>
            <a:ext cx="1477517" cy="1546776"/>
            <a:chOff x="0" y="-38100"/>
            <a:chExt cx="812800" cy="850900"/>
          </a:xfrm>
        </p:grpSpPr>
        <p:sp>
          <p:nvSpPr>
            <p:cNvPr id="579" name="Google Shape;579;p2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580" name="Google Shape;580;p29"/>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1" name="Google Shape;581;p29"/>
          <p:cNvSpPr/>
          <p:nvPr/>
        </p:nvSpPr>
        <p:spPr>
          <a:xfrm>
            <a:off x="16212027" y="314511"/>
            <a:ext cx="848494" cy="848494"/>
          </a:xfrm>
          <a:custGeom>
            <a:rect b="b" l="l" r="r" t="t"/>
            <a:pathLst>
              <a:path extrusionOk="0" h="848494" w="848494">
                <a:moveTo>
                  <a:pt x="0" y="0"/>
                </a:moveTo>
                <a:lnTo>
                  <a:pt x="848494" y="0"/>
                </a:lnTo>
                <a:lnTo>
                  <a:pt x="848494" y="848495"/>
                </a:lnTo>
                <a:lnTo>
                  <a:pt x="0" y="848495"/>
                </a:lnTo>
                <a:lnTo>
                  <a:pt x="0" y="0"/>
                </a:lnTo>
                <a:close/>
              </a:path>
            </a:pathLst>
          </a:custGeom>
          <a:blipFill rotWithShape="1">
            <a:blip r:embed="rId9">
              <a:alphaModFix/>
            </a:blip>
            <a:stretch>
              <a:fillRect b="0" l="0" r="0" t="0"/>
            </a:stretch>
          </a:blipFill>
          <a:ln>
            <a:noFill/>
          </a:ln>
        </p:spPr>
      </p:sp>
      <p:grpSp>
        <p:nvGrpSpPr>
          <p:cNvPr id="582" name="Google Shape;582;p29"/>
          <p:cNvGrpSpPr/>
          <p:nvPr/>
        </p:nvGrpSpPr>
        <p:grpSpPr>
          <a:xfrm>
            <a:off x="1398725" y="7791332"/>
            <a:ext cx="5919412" cy="1466968"/>
            <a:chOff x="0" y="0"/>
            <a:chExt cx="3901396" cy="966857"/>
          </a:xfrm>
        </p:grpSpPr>
        <p:sp>
          <p:nvSpPr>
            <p:cNvPr id="583" name="Google Shape;583;p29"/>
            <p:cNvSpPr/>
            <p:nvPr/>
          </p:nvSpPr>
          <p:spPr>
            <a:xfrm>
              <a:off x="0" y="0"/>
              <a:ext cx="3901396" cy="966857"/>
            </a:xfrm>
            <a:custGeom>
              <a:rect b="b" l="l" r="r" t="t"/>
              <a:pathLst>
                <a:path extrusionOk="0" h="966857" w="3901396">
                  <a:moveTo>
                    <a:pt x="0" y="0"/>
                  </a:moveTo>
                  <a:lnTo>
                    <a:pt x="3901396" y="0"/>
                  </a:lnTo>
                  <a:lnTo>
                    <a:pt x="3901396" y="966857"/>
                  </a:lnTo>
                  <a:lnTo>
                    <a:pt x="0" y="966857"/>
                  </a:lnTo>
                  <a:close/>
                </a:path>
              </a:pathLst>
            </a:custGeom>
            <a:solidFill>
              <a:srgbClr val="FFC259"/>
            </a:solidFill>
            <a:ln>
              <a:noFill/>
            </a:ln>
          </p:spPr>
        </p:sp>
        <p:sp>
          <p:nvSpPr>
            <p:cNvPr id="584" name="Google Shape;584;p29"/>
            <p:cNvSpPr txBox="1"/>
            <p:nvPr/>
          </p:nvSpPr>
          <p:spPr>
            <a:xfrm>
              <a:off x="0" y="0"/>
              <a:ext cx="3901396" cy="966857"/>
            </a:xfrm>
            <a:prstGeom prst="rect">
              <a:avLst/>
            </a:prstGeom>
            <a:noFill/>
            <a:ln>
              <a:noFill/>
            </a:ln>
          </p:spPr>
          <p:txBody>
            <a:bodyPr anchorCtr="0" anchor="ctr" bIns="50800" lIns="50800" spcFirstLastPara="1" rIns="50800" wrap="square" tIns="50800">
              <a:noAutofit/>
            </a:bodyPr>
            <a:lstStyle/>
            <a:p>
              <a:pPr indent="0" lvl="0" marL="0" marR="0" rtl="0" algn="ctr">
                <a:lnSpc>
                  <a:spcPct val="158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5" name="Google Shape;585;p29"/>
          <p:cNvSpPr txBox="1"/>
          <p:nvPr/>
        </p:nvSpPr>
        <p:spPr>
          <a:xfrm>
            <a:off x="1398725" y="8041545"/>
            <a:ext cx="5919412" cy="837446"/>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1" i="0" lang="en-US" sz="5800" u="none" cap="none" strike="noStrike">
                <a:solidFill>
                  <a:srgbClr val="000000"/>
                </a:solidFill>
                <a:latin typeface="Poppins"/>
                <a:ea typeface="Poppins"/>
                <a:cs typeface="Poppins"/>
                <a:sym typeface="Poppins"/>
              </a:rPr>
              <a:t>Special coffee</a:t>
            </a:r>
            <a:endParaRPr/>
          </a:p>
        </p:txBody>
      </p:sp>
      <p:sp>
        <p:nvSpPr>
          <p:cNvPr id="586" name="Google Shape;586;p29"/>
          <p:cNvSpPr txBox="1"/>
          <p:nvPr/>
        </p:nvSpPr>
        <p:spPr>
          <a:xfrm>
            <a:off x="13614205" y="476249"/>
            <a:ext cx="2044063" cy="5524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FFFFFF"/>
                </a:solidFill>
                <a:latin typeface="Arial"/>
                <a:ea typeface="Arial"/>
                <a:cs typeface="Arial"/>
                <a:sym typeface="Arial"/>
              </a:rPr>
              <a:t>vintiq.com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222"/>
        </a:solidFill>
      </p:bgPr>
    </p:bg>
    <p:spTree>
      <p:nvGrpSpPr>
        <p:cNvPr id="590" name="Shape 590"/>
        <p:cNvGrpSpPr/>
        <p:nvPr/>
      </p:nvGrpSpPr>
      <p:grpSpPr>
        <a:xfrm>
          <a:off x="0" y="0"/>
          <a:ext cx="0" cy="0"/>
          <a:chOff x="0" y="0"/>
          <a:chExt cx="0" cy="0"/>
        </a:xfrm>
      </p:grpSpPr>
      <p:cxnSp>
        <p:nvCxnSpPr>
          <p:cNvPr id="591" name="Google Shape;591;p30"/>
          <p:cNvCxnSpPr/>
          <p:nvPr/>
        </p:nvCxnSpPr>
        <p:spPr>
          <a:xfrm rot="-5400000">
            <a:off x="-5099865" y="5207881"/>
            <a:ext cx="11190365" cy="0"/>
          </a:xfrm>
          <a:prstGeom prst="straightConnector1">
            <a:avLst/>
          </a:prstGeom>
          <a:noFill/>
          <a:ln cap="flat" cmpd="sng" w="19050">
            <a:solidFill>
              <a:srgbClr val="FFC259"/>
            </a:solidFill>
            <a:prstDash val="solid"/>
            <a:round/>
            <a:headEnd len="sm" w="sm" type="none"/>
            <a:tailEnd len="sm" w="sm" type="none"/>
          </a:ln>
        </p:spPr>
      </p:cxnSp>
      <p:cxnSp>
        <p:nvCxnSpPr>
          <p:cNvPr id="592" name="Google Shape;592;p30"/>
          <p:cNvCxnSpPr/>
          <p:nvPr/>
        </p:nvCxnSpPr>
        <p:spPr>
          <a:xfrm rot="-5400000">
            <a:off x="12226791" y="5207881"/>
            <a:ext cx="11190365" cy="0"/>
          </a:xfrm>
          <a:prstGeom prst="straightConnector1">
            <a:avLst/>
          </a:prstGeom>
          <a:noFill/>
          <a:ln cap="flat" cmpd="sng" w="19050">
            <a:solidFill>
              <a:srgbClr val="FFC259"/>
            </a:solidFill>
            <a:prstDash val="solid"/>
            <a:round/>
            <a:headEnd len="sm" w="sm" type="none"/>
            <a:tailEnd len="sm" w="sm" type="none"/>
          </a:ln>
        </p:spPr>
      </p:cxnSp>
      <p:cxnSp>
        <p:nvCxnSpPr>
          <p:cNvPr id="593" name="Google Shape;593;p30"/>
          <p:cNvCxnSpPr/>
          <p:nvPr/>
        </p:nvCxnSpPr>
        <p:spPr>
          <a:xfrm>
            <a:off x="0" y="550298"/>
            <a:ext cx="18288000" cy="0"/>
          </a:xfrm>
          <a:prstGeom prst="straightConnector1">
            <a:avLst/>
          </a:prstGeom>
          <a:noFill/>
          <a:ln cap="flat" cmpd="sng" w="19050">
            <a:solidFill>
              <a:srgbClr val="FFC259"/>
            </a:solidFill>
            <a:prstDash val="solid"/>
            <a:round/>
            <a:headEnd len="sm" w="sm" type="none"/>
            <a:tailEnd len="sm" w="sm" type="none"/>
          </a:ln>
        </p:spPr>
      </p:cxnSp>
      <p:cxnSp>
        <p:nvCxnSpPr>
          <p:cNvPr id="594" name="Google Shape;594;p30"/>
          <p:cNvCxnSpPr/>
          <p:nvPr/>
        </p:nvCxnSpPr>
        <p:spPr>
          <a:xfrm>
            <a:off x="130676" y="9884962"/>
            <a:ext cx="18288000" cy="0"/>
          </a:xfrm>
          <a:prstGeom prst="straightConnector1">
            <a:avLst/>
          </a:prstGeom>
          <a:noFill/>
          <a:ln cap="flat" cmpd="sng" w="19050">
            <a:solidFill>
              <a:srgbClr val="FFC259"/>
            </a:solidFill>
            <a:prstDash val="solid"/>
            <a:round/>
            <a:headEnd len="sm" w="sm" type="none"/>
            <a:tailEnd len="sm" w="sm" type="none"/>
          </a:ln>
        </p:spPr>
      </p:cxnSp>
      <p:cxnSp>
        <p:nvCxnSpPr>
          <p:cNvPr id="595" name="Google Shape;595;p30"/>
          <p:cNvCxnSpPr/>
          <p:nvPr/>
        </p:nvCxnSpPr>
        <p:spPr>
          <a:xfrm>
            <a:off x="7233137" y="7416337"/>
            <a:ext cx="11185539" cy="0"/>
          </a:xfrm>
          <a:prstGeom prst="straightConnector1">
            <a:avLst/>
          </a:prstGeom>
          <a:noFill/>
          <a:ln cap="flat" cmpd="sng" w="19050">
            <a:solidFill>
              <a:srgbClr val="FFC259"/>
            </a:solidFill>
            <a:prstDash val="solid"/>
            <a:round/>
            <a:headEnd len="sm" w="sm" type="none"/>
            <a:tailEnd len="sm" w="sm" type="none"/>
          </a:ln>
        </p:spPr>
      </p:cxnSp>
      <p:cxnSp>
        <p:nvCxnSpPr>
          <p:cNvPr id="596" name="Google Shape;596;p30"/>
          <p:cNvCxnSpPr/>
          <p:nvPr/>
        </p:nvCxnSpPr>
        <p:spPr>
          <a:xfrm rot="-5400000">
            <a:off x="1495606" y="5737531"/>
            <a:ext cx="11494112" cy="0"/>
          </a:xfrm>
          <a:prstGeom prst="straightConnector1">
            <a:avLst/>
          </a:prstGeom>
          <a:noFill/>
          <a:ln cap="flat" cmpd="sng" w="19050">
            <a:solidFill>
              <a:srgbClr val="FFC259"/>
            </a:solidFill>
            <a:prstDash val="solid"/>
            <a:round/>
            <a:headEnd len="sm" w="sm" type="none"/>
            <a:tailEnd len="sm" w="sm" type="none"/>
          </a:ln>
        </p:spPr>
      </p:cxnSp>
      <p:sp>
        <p:nvSpPr>
          <p:cNvPr id="597" name="Google Shape;597;p30"/>
          <p:cNvSpPr txBox="1"/>
          <p:nvPr/>
        </p:nvSpPr>
        <p:spPr>
          <a:xfrm>
            <a:off x="942259" y="4954333"/>
            <a:ext cx="5340217" cy="979147"/>
          </a:xfrm>
          <a:prstGeom prst="rect">
            <a:avLst/>
          </a:prstGeom>
          <a:noFill/>
          <a:ln>
            <a:noFill/>
          </a:ln>
        </p:spPr>
        <p:txBody>
          <a:bodyPr anchorCtr="0" anchor="t" bIns="0" lIns="0" spcFirstLastPara="1" rIns="0" wrap="square" tIns="0">
            <a:spAutoFit/>
          </a:bodyPr>
          <a:lstStyle/>
          <a:p>
            <a:pPr indent="0" lvl="0" marL="0" marR="0" rtl="0" algn="l">
              <a:lnSpc>
                <a:spcPct val="118002"/>
              </a:lnSpc>
              <a:spcBef>
                <a:spcPts val="0"/>
              </a:spcBef>
              <a:spcAft>
                <a:spcPts val="0"/>
              </a:spcAft>
              <a:buNone/>
            </a:pPr>
            <a:r>
              <a:rPr b="0" i="0" lang="en-US" sz="6399" u="none" cap="none" strike="noStrike">
                <a:solidFill>
                  <a:srgbClr val="FFFFFF"/>
                </a:solidFill>
                <a:latin typeface="Arial"/>
                <a:ea typeface="Arial"/>
                <a:cs typeface="Arial"/>
                <a:sym typeface="Arial"/>
              </a:rPr>
              <a:t>Contribution </a:t>
            </a:r>
            <a:endParaRPr/>
          </a:p>
        </p:txBody>
      </p:sp>
      <p:sp>
        <p:nvSpPr>
          <p:cNvPr id="598" name="Google Shape;598;p30"/>
          <p:cNvSpPr txBox="1"/>
          <p:nvPr/>
        </p:nvSpPr>
        <p:spPr>
          <a:xfrm>
            <a:off x="927843" y="7182962"/>
            <a:ext cx="5035541" cy="1776746"/>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0" i="0" lang="en-US" sz="1708" u="none" cap="none" strike="noStrike">
                <a:solidFill>
                  <a:srgbClr val="FFFFFF"/>
                </a:solidFill>
                <a:latin typeface="Arial"/>
                <a:ea typeface="Arial"/>
                <a:cs typeface="Arial"/>
                <a:sym typeface="Arial"/>
              </a:rPr>
              <a:t>The largest slice, representing 40%, indicates that Abir holds the majority share.</a:t>
            </a:r>
            <a:endParaRPr/>
          </a:p>
          <a:p>
            <a:pPr indent="0" lvl="0" marL="0" marR="0" rtl="0" algn="l">
              <a:lnSpc>
                <a:spcPct val="139988"/>
              </a:lnSpc>
              <a:spcBef>
                <a:spcPts val="0"/>
              </a:spcBef>
              <a:spcAft>
                <a:spcPts val="0"/>
              </a:spcAft>
              <a:buNone/>
            </a:pPr>
            <a:r>
              <a:rPr b="0" i="0" lang="en-US" sz="1708" u="none" cap="none" strike="noStrike">
                <a:solidFill>
                  <a:srgbClr val="FFFFFF"/>
                </a:solidFill>
                <a:latin typeface="Arial"/>
                <a:ea typeface="Arial"/>
                <a:cs typeface="Arial"/>
                <a:sym typeface="Arial"/>
              </a:rPr>
              <a:t>The second slice, representing 30%, shows that Mim has a substantial but smaller portion compared to Abir.</a:t>
            </a:r>
            <a:endParaRPr/>
          </a:p>
          <a:p>
            <a:pPr indent="0" lvl="0" marL="0" marR="0" rtl="0" algn="l">
              <a:lnSpc>
                <a:spcPct val="139988"/>
              </a:lnSpc>
              <a:spcBef>
                <a:spcPts val="0"/>
              </a:spcBef>
              <a:spcAft>
                <a:spcPts val="0"/>
              </a:spcAft>
              <a:buNone/>
            </a:pPr>
            <a:r>
              <a:rPr b="0" i="0" lang="en-US" sz="1708" u="none" cap="none" strike="noStrike">
                <a:solidFill>
                  <a:srgbClr val="FFFFFF"/>
                </a:solidFill>
                <a:latin typeface="Arial"/>
                <a:ea typeface="Arial"/>
                <a:cs typeface="Arial"/>
                <a:sym typeface="Arial"/>
              </a:rPr>
              <a:t>The third slice, also at 30%, is equal in size to Mim's, signifying that Nijhum shares an equal percentage.</a:t>
            </a:r>
            <a:endParaRPr/>
          </a:p>
        </p:txBody>
      </p:sp>
      <p:sp>
        <p:nvSpPr>
          <p:cNvPr id="599" name="Google Shape;599;p30"/>
          <p:cNvSpPr txBox="1"/>
          <p:nvPr/>
        </p:nvSpPr>
        <p:spPr>
          <a:xfrm>
            <a:off x="927843" y="6572572"/>
            <a:ext cx="5354632" cy="364998"/>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i="0" lang="en-US" sz="2400" u="none" cap="none" strike="noStrike">
                <a:solidFill>
                  <a:srgbClr val="FFC259"/>
                </a:solidFill>
                <a:latin typeface="DM Sans"/>
                <a:ea typeface="DM Sans"/>
                <a:cs typeface="DM Sans"/>
                <a:sym typeface="DM Sans"/>
              </a:rPr>
              <a:t>Team members</a:t>
            </a:r>
            <a:endParaRPr/>
          </a:p>
        </p:txBody>
      </p:sp>
      <p:sp>
        <p:nvSpPr>
          <p:cNvPr id="600" name="Google Shape;600;p30"/>
          <p:cNvSpPr txBox="1"/>
          <p:nvPr/>
        </p:nvSpPr>
        <p:spPr>
          <a:xfrm>
            <a:off x="8666416" y="8963336"/>
            <a:ext cx="2483727" cy="364998"/>
          </a:xfrm>
          <a:prstGeom prst="rect">
            <a:avLst/>
          </a:prstGeom>
          <a:noFill/>
          <a:ln>
            <a:noFill/>
          </a:ln>
        </p:spPr>
        <p:txBody>
          <a:bodyPr anchorCtr="0" anchor="t" bIns="0" lIns="0" spcFirstLastPara="1" rIns="0" wrap="square" tIns="0">
            <a:spAutoFit/>
          </a:bodyPr>
          <a:lstStyle/>
          <a:p>
            <a:pPr indent="0" lvl="0" marL="0" marR="0" rtl="0" algn="ctr">
              <a:lnSpc>
                <a:spcPct val="119000"/>
              </a:lnSpc>
              <a:spcBef>
                <a:spcPts val="0"/>
              </a:spcBef>
              <a:spcAft>
                <a:spcPts val="0"/>
              </a:spcAft>
              <a:buNone/>
            </a:pPr>
            <a:r>
              <a:rPr b="0" i="0" lang="en-US" sz="2400" u="none" cap="none" strike="noStrike">
                <a:solidFill>
                  <a:srgbClr val="FFFFFF"/>
                </a:solidFill>
                <a:latin typeface="DM Sans"/>
                <a:ea typeface="DM Sans"/>
                <a:cs typeface="DM Sans"/>
                <a:sym typeface="DM Sans"/>
              </a:rPr>
              <a:t>Sumaiya </a:t>
            </a:r>
            <a:endParaRPr/>
          </a:p>
        </p:txBody>
      </p:sp>
      <p:sp>
        <p:nvSpPr>
          <p:cNvPr id="601" name="Google Shape;601;p30"/>
          <p:cNvSpPr txBox="1"/>
          <p:nvPr/>
        </p:nvSpPr>
        <p:spPr>
          <a:xfrm>
            <a:off x="11362985" y="8963336"/>
            <a:ext cx="2483727" cy="364998"/>
          </a:xfrm>
          <a:prstGeom prst="rect">
            <a:avLst/>
          </a:prstGeom>
          <a:noFill/>
          <a:ln>
            <a:noFill/>
          </a:ln>
        </p:spPr>
        <p:txBody>
          <a:bodyPr anchorCtr="0" anchor="t" bIns="0" lIns="0" spcFirstLastPara="1" rIns="0" wrap="square" tIns="0">
            <a:spAutoFit/>
          </a:bodyPr>
          <a:lstStyle/>
          <a:p>
            <a:pPr indent="0" lvl="0" marL="0" marR="0" rtl="0" algn="ctr">
              <a:lnSpc>
                <a:spcPct val="119000"/>
              </a:lnSpc>
              <a:spcBef>
                <a:spcPts val="0"/>
              </a:spcBef>
              <a:spcAft>
                <a:spcPts val="0"/>
              </a:spcAft>
              <a:buNone/>
            </a:pPr>
            <a:r>
              <a:rPr b="0" i="0" lang="en-US" sz="2400" u="none" cap="none" strike="noStrike">
                <a:solidFill>
                  <a:srgbClr val="FFFFFF"/>
                </a:solidFill>
                <a:latin typeface="DM Sans"/>
                <a:ea typeface="DM Sans"/>
                <a:cs typeface="DM Sans"/>
                <a:sym typeface="DM Sans"/>
              </a:rPr>
              <a:t>Abir</a:t>
            </a:r>
            <a:endParaRPr/>
          </a:p>
        </p:txBody>
      </p:sp>
      <p:sp>
        <p:nvSpPr>
          <p:cNvPr id="602" name="Google Shape;602;p30"/>
          <p:cNvSpPr txBox="1"/>
          <p:nvPr/>
        </p:nvSpPr>
        <p:spPr>
          <a:xfrm>
            <a:off x="14056263" y="8963336"/>
            <a:ext cx="2483727" cy="364998"/>
          </a:xfrm>
          <a:prstGeom prst="rect">
            <a:avLst/>
          </a:prstGeom>
          <a:noFill/>
          <a:ln>
            <a:noFill/>
          </a:ln>
        </p:spPr>
        <p:txBody>
          <a:bodyPr anchorCtr="0" anchor="t" bIns="0" lIns="0" spcFirstLastPara="1" rIns="0" wrap="square" tIns="0">
            <a:spAutoFit/>
          </a:bodyPr>
          <a:lstStyle/>
          <a:p>
            <a:pPr indent="0" lvl="0" marL="0" marR="0" rtl="0" algn="ctr">
              <a:lnSpc>
                <a:spcPct val="119000"/>
              </a:lnSpc>
              <a:spcBef>
                <a:spcPts val="0"/>
              </a:spcBef>
              <a:spcAft>
                <a:spcPts val="0"/>
              </a:spcAft>
              <a:buNone/>
            </a:pPr>
            <a:r>
              <a:rPr b="0" i="0" lang="en-US" sz="2400" u="none" cap="none" strike="noStrike">
                <a:solidFill>
                  <a:srgbClr val="FFFFFF"/>
                </a:solidFill>
                <a:latin typeface="DM Sans"/>
                <a:ea typeface="DM Sans"/>
                <a:cs typeface="DM Sans"/>
                <a:sym typeface="DM Sans"/>
              </a:rPr>
              <a:t>Mim</a:t>
            </a:r>
            <a:endParaRPr/>
          </a:p>
        </p:txBody>
      </p:sp>
      <p:pic>
        <p:nvPicPr>
          <p:cNvPr id="603" name="Google Shape;603;p30"/>
          <p:cNvPicPr preferRelativeResize="0"/>
          <p:nvPr/>
        </p:nvPicPr>
        <p:blipFill rotWithShape="1">
          <a:blip r:embed="rId3">
            <a:alphaModFix/>
          </a:blip>
          <a:srcRect b="0" l="24856" r="24855" t="0"/>
          <a:stretch/>
        </p:blipFill>
        <p:spPr>
          <a:xfrm>
            <a:off x="1028700" y="-377777"/>
            <a:ext cx="4108193" cy="4054054"/>
          </a:xfrm>
          <a:prstGeom prst="rect">
            <a:avLst/>
          </a:prstGeom>
          <a:noFill/>
          <a:ln>
            <a:noFill/>
          </a:ln>
        </p:spPr>
      </p:pic>
      <p:grpSp>
        <p:nvGrpSpPr>
          <p:cNvPr id="604" name="Google Shape;604;p30"/>
          <p:cNvGrpSpPr/>
          <p:nvPr/>
        </p:nvGrpSpPr>
        <p:grpSpPr>
          <a:xfrm>
            <a:off x="9364098" y="1240925"/>
            <a:ext cx="7330639" cy="5909609"/>
            <a:chOff x="0" y="0"/>
            <a:chExt cx="9774185" cy="7879478"/>
          </a:xfrm>
        </p:grpSpPr>
        <p:sp>
          <p:nvSpPr>
            <p:cNvPr id="605" name="Google Shape;605;p30"/>
            <p:cNvSpPr txBox="1"/>
            <p:nvPr/>
          </p:nvSpPr>
          <p:spPr>
            <a:xfrm>
              <a:off x="0" y="1416380"/>
              <a:ext cx="881327" cy="11543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Abir</a:t>
              </a:r>
              <a:endParaRPr/>
            </a:p>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40%</a:t>
              </a:r>
              <a:endParaRPr/>
            </a:p>
          </p:txBody>
        </p:sp>
        <p:sp>
          <p:nvSpPr>
            <p:cNvPr id="606" name="Google Shape;606;p30"/>
            <p:cNvSpPr txBox="1"/>
            <p:nvPr/>
          </p:nvSpPr>
          <p:spPr>
            <a:xfrm>
              <a:off x="7855916" y="241919"/>
              <a:ext cx="1918269" cy="11543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Sumaiya </a:t>
              </a:r>
              <a:endParaRPr/>
            </a:p>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30%</a:t>
              </a:r>
              <a:endParaRPr/>
            </a:p>
          </p:txBody>
        </p:sp>
        <p:sp>
          <p:nvSpPr>
            <p:cNvPr id="607" name="Google Shape;607;p30"/>
            <p:cNvSpPr txBox="1"/>
            <p:nvPr/>
          </p:nvSpPr>
          <p:spPr>
            <a:xfrm>
              <a:off x="5277420" y="6725115"/>
              <a:ext cx="943955" cy="115436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Mim</a:t>
              </a:r>
              <a:endParaRPr/>
            </a:p>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30%</a:t>
              </a:r>
              <a:endParaRPr/>
            </a:p>
          </p:txBody>
        </p:sp>
        <p:grpSp>
          <p:nvGrpSpPr>
            <p:cNvPr id="608" name="Google Shape;608;p30"/>
            <p:cNvGrpSpPr/>
            <p:nvPr/>
          </p:nvGrpSpPr>
          <p:grpSpPr>
            <a:xfrm>
              <a:off x="841187" y="0"/>
              <a:ext cx="7101792" cy="6821846"/>
              <a:chOff x="-107848" y="0"/>
              <a:chExt cx="2713351" cy="2606393"/>
            </a:xfrm>
          </p:grpSpPr>
          <p:sp>
            <p:nvSpPr>
              <p:cNvPr id="609" name="Google Shape;609;p30"/>
              <p:cNvSpPr/>
              <p:nvPr/>
            </p:nvSpPr>
            <p:spPr>
              <a:xfrm>
                <a:off x="1270000" y="0"/>
                <a:ext cx="1335503" cy="1722328"/>
              </a:xfrm>
              <a:custGeom>
                <a:rect b="b" l="l" r="r" t="t"/>
                <a:pathLst>
                  <a:path extrusionOk="0" h="1722328" w="1335503">
                    <a:moveTo>
                      <a:pt x="0" y="0"/>
                    </a:moveTo>
                    <a:cubicBezTo>
                      <a:pt x="417744" y="0"/>
                      <a:pt x="808772" y="205436"/>
                      <a:pt x="1045791" y="549430"/>
                    </a:cubicBezTo>
                    <a:cubicBezTo>
                      <a:pt x="1282809" y="893424"/>
                      <a:pt x="1335503" y="1331978"/>
                      <a:pt x="1186718" y="1722328"/>
                    </a:cubicBezTo>
                    <a:lnTo>
                      <a:pt x="0" y="1270000"/>
                    </a:lnTo>
                    <a:close/>
                  </a:path>
                </a:pathLst>
              </a:custGeom>
              <a:solidFill>
                <a:srgbClr val="F8E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0"/>
              <p:cNvSpPr/>
              <p:nvPr/>
            </p:nvSpPr>
            <p:spPr>
              <a:xfrm>
                <a:off x="473094" y="1270000"/>
                <a:ext cx="2004747" cy="1336393"/>
              </a:xfrm>
              <a:custGeom>
                <a:rect b="b" l="l" r="r" t="t"/>
                <a:pathLst>
                  <a:path extrusionOk="0" h="1336393" w="2004747">
                    <a:moveTo>
                      <a:pt x="2004748" y="392452"/>
                    </a:moveTo>
                    <a:cubicBezTo>
                      <a:pt x="1875658" y="789749"/>
                      <a:pt x="1559443" y="1098156"/>
                      <a:pt x="1159042" y="1217275"/>
                    </a:cubicBezTo>
                    <a:cubicBezTo>
                      <a:pt x="758641" y="1336393"/>
                      <a:pt x="325268" y="1250986"/>
                      <a:pt x="0" y="988859"/>
                    </a:cubicBezTo>
                    <a:lnTo>
                      <a:pt x="796906" y="0"/>
                    </a:lnTo>
                    <a:close/>
                  </a:path>
                </a:pathLst>
              </a:custGeom>
              <a:solidFill>
                <a:srgbClr val="E8CE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0"/>
              <p:cNvSpPr/>
              <p:nvPr/>
            </p:nvSpPr>
            <p:spPr>
              <a:xfrm>
                <a:off x="-107848" y="0"/>
                <a:ext cx="1377848" cy="2297452"/>
              </a:xfrm>
              <a:custGeom>
                <a:rect b="b" l="l" r="r" t="t"/>
                <a:pathLst>
                  <a:path extrusionOk="0" h="2297452" w="1377848">
                    <a:moveTo>
                      <a:pt x="631361" y="2297452"/>
                    </a:moveTo>
                    <a:cubicBezTo>
                      <a:pt x="186261" y="1974067"/>
                      <a:pt x="0" y="1400864"/>
                      <a:pt x="169987" y="877609"/>
                    </a:cubicBezTo>
                    <a:cubicBezTo>
                      <a:pt x="339973" y="354354"/>
                      <a:pt x="827547" y="55"/>
                      <a:pt x="1377721" y="0"/>
                    </a:cubicBezTo>
                    <a:lnTo>
                      <a:pt x="1377848" y="1270000"/>
                    </a:lnTo>
                    <a:close/>
                  </a:path>
                </a:pathLst>
              </a:custGeom>
              <a:solidFill>
                <a:srgbClr val="FFC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2" name="Google Shape;612;p30"/>
          <p:cNvGrpSpPr/>
          <p:nvPr/>
        </p:nvGrpSpPr>
        <p:grpSpPr>
          <a:xfrm>
            <a:off x="1028700" y="2129501"/>
            <a:ext cx="1477517" cy="1546776"/>
            <a:chOff x="0" y="-38100"/>
            <a:chExt cx="812800" cy="850900"/>
          </a:xfrm>
        </p:grpSpPr>
        <p:sp>
          <p:nvSpPr>
            <p:cNvPr id="613" name="Google Shape;613;p3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9C6E32"/>
            </a:solidFill>
            <a:ln>
              <a:noFill/>
            </a:ln>
          </p:spPr>
        </p:sp>
        <p:sp>
          <p:nvSpPr>
            <p:cNvPr id="614" name="Google Shape;614;p30"/>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39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5" name="Google Shape;615;p30"/>
          <p:cNvSpPr/>
          <p:nvPr/>
        </p:nvSpPr>
        <p:spPr>
          <a:xfrm>
            <a:off x="1343211" y="2513271"/>
            <a:ext cx="848494" cy="848494"/>
          </a:xfrm>
          <a:custGeom>
            <a:rect b="b" l="l" r="r" t="t"/>
            <a:pathLst>
              <a:path extrusionOk="0" h="848494" w="848494">
                <a:moveTo>
                  <a:pt x="0" y="0"/>
                </a:moveTo>
                <a:lnTo>
                  <a:pt x="848495" y="0"/>
                </a:lnTo>
                <a:lnTo>
                  <a:pt x="848495" y="848495"/>
                </a:lnTo>
                <a:lnTo>
                  <a:pt x="0" y="848495"/>
                </a:lnTo>
                <a:lnTo>
                  <a:pt x="0" y="0"/>
                </a:lnTo>
                <a:close/>
              </a:path>
            </a:pathLst>
          </a:custGeom>
          <a:blipFill rotWithShape="1">
            <a:blip r:embed="rId4">
              <a:alphaModFix/>
            </a:blip>
            <a:stretch>
              <a:fillRect b="0" l="0" r="0" t="0"/>
            </a:stretch>
          </a:blipFill>
          <a:ln>
            <a:noFill/>
          </a:ln>
        </p:spPr>
      </p:sp>
      <p:sp>
        <p:nvSpPr>
          <p:cNvPr id="616" name="Google Shape;616;p30"/>
          <p:cNvSpPr/>
          <p:nvPr/>
        </p:nvSpPr>
        <p:spPr>
          <a:xfrm>
            <a:off x="9491676" y="7810671"/>
            <a:ext cx="848494" cy="848494"/>
          </a:xfrm>
          <a:custGeom>
            <a:rect b="b" l="l" r="r" t="t"/>
            <a:pathLst>
              <a:path extrusionOk="0" h="848494" w="848494">
                <a:moveTo>
                  <a:pt x="0" y="0"/>
                </a:moveTo>
                <a:lnTo>
                  <a:pt x="848494" y="0"/>
                </a:lnTo>
                <a:lnTo>
                  <a:pt x="848494" y="848494"/>
                </a:lnTo>
                <a:lnTo>
                  <a:pt x="0" y="848494"/>
                </a:lnTo>
                <a:lnTo>
                  <a:pt x="0" y="0"/>
                </a:lnTo>
                <a:close/>
              </a:path>
            </a:pathLst>
          </a:custGeom>
          <a:blipFill rotWithShape="1">
            <a:blip r:embed="rId4">
              <a:alphaModFix/>
            </a:blip>
            <a:stretch>
              <a:fillRect b="0" l="0" r="0" t="0"/>
            </a:stretch>
          </a:blipFill>
          <a:ln>
            <a:noFill/>
          </a:ln>
        </p:spPr>
      </p:sp>
      <p:sp>
        <p:nvSpPr>
          <p:cNvPr id="617" name="Google Shape;617;p30"/>
          <p:cNvSpPr/>
          <p:nvPr/>
        </p:nvSpPr>
        <p:spPr>
          <a:xfrm>
            <a:off x="12182778" y="7810671"/>
            <a:ext cx="848494" cy="848494"/>
          </a:xfrm>
          <a:custGeom>
            <a:rect b="b" l="l" r="r" t="t"/>
            <a:pathLst>
              <a:path extrusionOk="0" h="848494" w="848494">
                <a:moveTo>
                  <a:pt x="0" y="0"/>
                </a:moveTo>
                <a:lnTo>
                  <a:pt x="848494" y="0"/>
                </a:lnTo>
                <a:lnTo>
                  <a:pt x="848494" y="848494"/>
                </a:lnTo>
                <a:lnTo>
                  <a:pt x="0" y="848494"/>
                </a:lnTo>
                <a:lnTo>
                  <a:pt x="0" y="0"/>
                </a:lnTo>
                <a:close/>
              </a:path>
            </a:pathLst>
          </a:custGeom>
          <a:blipFill rotWithShape="1">
            <a:blip r:embed="rId4">
              <a:alphaModFix/>
            </a:blip>
            <a:stretch>
              <a:fillRect b="0" l="0" r="0" t="0"/>
            </a:stretch>
          </a:blipFill>
          <a:ln>
            <a:noFill/>
          </a:ln>
        </p:spPr>
      </p:sp>
      <p:sp>
        <p:nvSpPr>
          <p:cNvPr id="618" name="Google Shape;618;p30"/>
          <p:cNvSpPr/>
          <p:nvPr/>
        </p:nvSpPr>
        <p:spPr>
          <a:xfrm>
            <a:off x="14873879" y="7810671"/>
            <a:ext cx="848494" cy="848494"/>
          </a:xfrm>
          <a:custGeom>
            <a:rect b="b" l="l" r="r" t="t"/>
            <a:pathLst>
              <a:path extrusionOk="0" h="848494" w="848494">
                <a:moveTo>
                  <a:pt x="0" y="0"/>
                </a:moveTo>
                <a:lnTo>
                  <a:pt x="848494" y="0"/>
                </a:lnTo>
                <a:lnTo>
                  <a:pt x="848494" y="848494"/>
                </a:lnTo>
                <a:lnTo>
                  <a:pt x="0" y="84849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64" l="0" r="0" t="-9255"/>
            </a:stretch>
          </a:blipFill>
          <a:ln>
            <a:noFill/>
          </a:ln>
        </p:spPr>
      </p:sp>
      <p:sp>
        <p:nvSpPr>
          <p:cNvPr id="624" name="Google Shape;624;p31"/>
          <p:cNvSpPr txBox="1"/>
          <p:nvPr/>
        </p:nvSpPr>
        <p:spPr>
          <a:xfrm>
            <a:off x="1794832" y="3070219"/>
            <a:ext cx="14698337" cy="4137037"/>
          </a:xfrm>
          <a:prstGeom prst="rect">
            <a:avLst/>
          </a:prstGeom>
          <a:noFill/>
          <a:ln>
            <a:noFill/>
          </a:ln>
        </p:spPr>
        <p:txBody>
          <a:bodyPr anchorCtr="0" anchor="t" bIns="0" lIns="0" spcFirstLastPara="1" rIns="0" wrap="square" tIns="0">
            <a:spAutoFit/>
          </a:bodyPr>
          <a:lstStyle/>
          <a:p>
            <a:pPr indent="0" lvl="0" marL="0" marR="0" rtl="0" algn="ctr">
              <a:lnSpc>
                <a:spcPct val="88998"/>
              </a:lnSpc>
              <a:spcBef>
                <a:spcPts val="0"/>
              </a:spcBef>
              <a:spcAft>
                <a:spcPts val="0"/>
              </a:spcAft>
              <a:buNone/>
            </a:pPr>
            <a:r>
              <a:rPr b="0" i="0" lang="en-US" sz="15561" u="none" cap="none" strike="noStrike">
                <a:solidFill>
                  <a:srgbClr val="FFFFFF"/>
                </a:solidFill>
                <a:latin typeface="Arial"/>
                <a:ea typeface="Arial"/>
                <a:cs typeface="Arial"/>
                <a:sym typeface="Arial"/>
              </a:rPr>
              <a:t>THANK YOU</a:t>
            </a:r>
            <a:endParaRPr/>
          </a:p>
        </p:txBody>
      </p:sp>
      <p:sp>
        <p:nvSpPr>
          <p:cNvPr id="625" name="Google Shape;625;p31"/>
          <p:cNvSpPr/>
          <p:nvPr/>
        </p:nvSpPr>
        <p:spPr>
          <a:xfrm flipH="1">
            <a:off x="7521557" y="4084718"/>
            <a:ext cx="927364" cy="1058782"/>
          </a:xfrm>
          <a:custGeom>
            <a:rect b="b" l="l" r="r" t="t"/>
            <a:pathLst>
              <a:path extrusionOk="0" h="1058782" w="927364">
                <a:moveTo>
                  <a:pt x="927364" y="0"/>
                </a:moveTo>
                <a:lnTo>
                  <a:pt x="0" y="0"/>
                </a:lnTo>
                <a:lnTo>
                  <a:pt x="0" y="1058782"/>
                </a:lnTo>
                <a:lnTo>
                  <a:pt x="927364" y="1058782"/>
                </a:lnTo>
                <a:lnTo>
                  <a:pt x="927364" y="0"/>
                </a:lnTo>
                <a:close/>
              </a:path>
            </a:pathLst>
          </a:custGeom>
          <a:blipFill rotWithShape="1">
            <a:blip r:embed="rId4">
              <a:alphaModFix/>
            </a:blip>
            <a:stretch>
              <a:fillRect b="0" l="0" r="0" t="0"/>
            </a:stretch>
          </a:blipFill>
          <a:ln>
            <a:noFill/>
          </a:ln>
        </p:spPr>
      </p:sp>
      <p:sp>
        <p:nvSpPr>
          <p:cNvPr id="626" name="Google Shape;626;p31"/>
          <p:cNvSpPr/>
          <p:nvPr/>
        </p:nvSpPr>
        <p:spPr>
          <a:xfrm flipH="1">
            <a:off x="9159252" y="5940072"/>
            <a:ext cx="978479" cy="1117140"/>
          </a:xfrm>
          <a:custGeom>
            <a:rect b="b" l="l" r="r" t="t"/>
            <a:pathLst>
              <a:path extrusionOk="0" h="1117140" w="978479">
                <a:moveTo>
                  <a:pt x="978479" y="0"/>
                </a:moveTo>
                <a:lnTo>
                  <a:pt x="0" y="0"/>
                </a:lnTo>
                <a:lnTo>
                  <a:pt x="0" y="1117140"/>
                </a:lnTo>
                <a:lnTo>
                  <a:pt x="978479" y="1117140"/>
                </a:lnTo>
                <a:lnTo>
                  <a:pt x="978479" y="0"/>
                </a:lnTo>
                <a:close/>
              </a:path>
            </a:pathLst>
          </a:custGeom>
          <a:blipFill rotWithShape="1">
            <a:blip r:embed="rId4">
              <a:alphaModFix/>
            </a:blip>
            <a:stretch>
              <a:fillRect b="0" l="0" r="0" t="0"/>
            </a:stretch>
          </a:blipFill>
          <a:ln>
            <a:noFill/>
          </a:ln>
        </p:spPr>
      </p:sp>
      <p:sp>
        <p:nvSpPr>
          <p:cNvPr id="627" name="Google Shape;627;p31"/>
          <p:cNvSpPr/>
          <p:nvPr/>
        </p:nvSpPr>
        <p:spPr>
          <a:xfrm flipH="1" rot="7009562">
            <a:off x="10930293" y="3812317"/>
            <a:ext cx="887067" cy="1012775"/>
          </a:xfrm>
          <a:custGeom>
            <a:rect b="b" l="l" r="r" t="t"/>
            <a:pathLst>
              <a:path extrusionOk="0" h="1012775" w="887067">
                <a:moveTo>
                  <a:pt x="887067" y="0"/>
                </a:moveTo>
                <a:lnTo>
                  <a:pt x="0" y="0"/>
                </a:lnTo>
                <a:lnTo>
                  <a:pt x="0" y="1012775"/>
                </a:lnTo>
                <a:lnTo>
                  <a:pt x="887067" y="1012775"/>
                </a:lnTo>
                <a:lnTo>
                  <a:pt x="887067" y="0"/>
                </a:lnTo>
                <a:close/>
              </a:path>
            </a:pathLst>
          </a:custGeom>
          <a:blipFill rotWithShape="1">
            <a:blip r:embed="rId4">
              <a:alphaModFix/>
            </a:blip>
            <a:stretch>
              <a:fillRect b="0" l="0" r="0" t="0"/>
            </a:stretch>
          </a:blipFill>
          <a:ln>
            <a:noFill/>
          </a:ln>
        </p:spPr>
      </p:sp>
      <p:sp>
        <p:nvSpPr>
          <p:cNvPr id="628" name="Google Shape;628;p31"/>
          <p:cNvSpPr txBox="1"/>
          <p:nvPr/>
        </p:nvSpPr>
        <p:spPr>
          <a:xfrm>
            <a:off x="7014343" y="1933983"/>
            <a:ext cx="4259313" cy="267462"/>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1800" u="none" cap="none" strike="noStrike">
                <a:solidFill>
                  <a:srgbClr val="FFFFFF"/>
                </a:solidFill>
                <a:latin typeface="Arial"/>
                <a:ea typeface="Arial"/>
                <a:cs typeface="Arial"/>
                <a:sym typeface="Arial"/>
              </a:rPr>
              <a:t>VINTIQ.COM</a:t>
            </a:r>
            <a:endParaRPr/>
          </a:p>
        </p:txBody>
      </p:sp>
      <p:sp>
        <p:nvSpPr>
          <p:cNvPr id="629" name="Google Shape;629;p31"/>
          <p:cNvSpPr/>
          <p:nvPr/>
        </p:nvSpPr>
        <p:spPr>
          <a:xfrm>
            <a:off x="8799170" y="1028700"/>
            <a:ext cx="689660" cy="689660"/>
          </a:xfrm>
          <a:custGeom>
            <a:rect b="b" l="l" r="r" t="t"/>
            <a:pathLst>
              <a:path extrusionOk="0" h="689660" w="689660">
                <a:moveTo>
                  <a:pt x="0" y="0"/>
                </a:moveTo>
                <a:lnTo>
                  <a:pt x="689660" y="0"/>
                </a:lnTo>
                <a:lnTo>
                  <a:pt x="689660" y="689660"/>
                </a:lnTo>
                <a:lnTo>
                  <a:pt x="0" y="689660"/>
                </a:lnTo>
                <a:lnTo>
                  <a:pt x="0" y="0"/>
                </a:lnTo>
                <a:close/>
              </a:path>
            </a:pathLst>
          </a:custGeom>
          <a:blipFill rotWithShape="1">
            <a:blip r:embed="rId5">
              <a:alphaModFix/>
            </a:blip>
            <a:stretch>
              <a:fillRect b="0" l="0" r="0" t="0"/>
            </a:stretch>
          </a:blipFill>
          <a:ln>
            <a:noFill/>
          </a:ln>
        </p:spPr>
      </p:sp>
      <p:graphicFrame>
        <p:nvGraphicFramePr>
          <p:cNvPr id="630" name="Google Shape;630;p31"/>
          <p:cNvGraphicFramePr/>
          <p:nvPr/>
        </p:nvGraphicFramePr>
        <p:xfrm>
          <a:off x="3766022" y="7526250"/>
          <a:ext cx="3000000" cy="3000000"/>
        </p:xfrm>
        <a:graphic>
          <a:graphicData uri="http://schemas.openxmlformats.org/drawingml/2006/table">
            <a:tbl>
              <a:tblPr>
                <a:noFill/>
                <a:tableStyleId>{D732C646-A098-40EE-B637-54B1E6F59840}</a:tableStyleId>
              </a:tblPr>
              <a:tblGrid>
                <a:gridCol w="5393225"/>
                <a:gridCol w="5393225"/>
              </a:tblGrid>
              <a:tr h="684700">
                <a:tc>
                  <a:txBody>
                    <a:bodyPr/>
                    <a:lstStyle/>
                    <a:p>
                      <a:pPr indent="0" lvl="0" marL="0" marR="0" rtl="0" algn="ctr">
                        <a:lnSpc>
                          <a:spcPct val="397818"/>
                        </a:lnSpc>
                        <a:spcBef>
                          <a:spcPts val="0"/>
                        </a:spcBef>
                        <a:spcAft>
                          <a:spcPts val="0"/>
                        </a:spcAft>
                        <a:buNone/>
                      </a:pPr>
                      <a:r>
                        <a:t/>
                      </a:r>
                      <a:endParaRPr sz="1100" u="none" cap="none" strike="noStrike"/>
                    </a:p>
                  </a:txBody>
                  <a:tcPr marT="28575" marB="28575" marR="28575" marL="28575" anchor="ctr">
                    <a:lnL cap="flat" cmpd="sng" w="19050">
                      <a:solidFill>
                        <a:srgbClr val="FFC259"/>
                      </a:solidFill>
                      <a:prstDash val="solid"/>
                      <a:round/>
                      <a:headEnd len="sm" w="sm" type="none"/>
                      <a:tailEnd len="sm" w="sm" type="none"/>
                    </a:lnL>
                    <a:lnR cap="flat" cmpd="sng" w="19050">
                      <a:solidFill>
                        <a:srgbClr val="FFC259"/>
                      </a:solidFill>
                      <a:prstDash val="solid"/>
                      <a:round/>
                      <a:headEnd len="sm" w="sm" type="none"/>
                      <a:tailEnd len="sm" w="sm" type="none"/>
                    </a:lnR>
                    <a:lnT cap="flat" cmpd="sng" w="19050">
                      <a:solidFill>
                        <a:srgbClr val="FFC259"/>
                      </a:solidFill>
                      <a:prstDash val="solid"/>
                      <a:round/>
                      <a:headEnd len="sm" w="sm" type="none"/>
                      <a:tailEnd len="sm" w="sm" type="none"/>
                    </a:lnT>
                    <a:lnB cap="flat" cmpd="sng" w="19050">
                      <a:solidFill>
                        <a:srgbClr val="FFC259"/>
                      </a:solidFill>
                      <a:prstDash val="solid"/>
                      <a:round/>
                      <a:headEnd len="sm" w="sm" type="none"/>
                      <a:tailEnd len="sm" w="sm" type="none"/>
                    </a:lnB>
                  </a:tcPr>
                </a:tc>
                <a:tc>
                  <a:txBody>
                    <a:bodyPr/>
                    <a:lstStyle/>
                    <a:p>
                      <a:pPr indent="0" lvl="0" marL="0" marR="0" rtl="0" algn="ctr">
                        <a:lnSpc>
                          <a:spcPct val="254454"/>
                        </a:lnSpc>
                        <a:spcBef>
                          <a:spcPts val="0"/>
                        </a:spcBef>
                        <a:spcAft>
                          <a:spcPts val="0"/>
                        </a:spcAft>
                        <a:buNone/>
                      </a:pPr>
                      <a:r>
                        <a:t/>
                      </a:r>
                      <a:endParaRPr sz="1100" u="none" cap="none" strike="noStrike"/>
                    </a:p>
                  </a:txBody>
                  <a:tcPr marT="28575" marB="28575" marR="28575" marL="28575" anchor="ctr">
                    <a:lnL cap="flat" cmpd="sng" w="19050">
                      <a:solidFill>
                        <a:srgbClr val="FFC259"/>
                      </a:solidFill>
                      <a:prstDash val="solid"/>
                      <a:round/>
                      <a:headEnd len="sm" w="sm" type="none"/>
                      <a:tailEnd len="sm" w="sm" type="none"/>
                    </a:lnL>
                    <a:lnR cap="flat" cmpd="sng" w="19050">
                      <a:solidFill>
                        <a:srgbClr val="FFC259"/>
                      </a:solidFill>
                      <a:prstDash val="solid"/>
                      <a:round/>
                      <a:headEnd len="sm" w="sm" type="none"/>
                      <a:tailEnd len="sm" w="sm" type="none"/>
                    </a:lnR>
                    <a:lnT cap="flat" cmpd="sng" w="19050">
                      <a:solidFill>
                        <a:srgbClr val="FFC259"/>
                      </a:solidFill>
                      <a:prstDash val="solid"/>
                      <a:round/>
                      <a:headEnd len="sm" w="sm" type="none"/>
                      <a:tailEnd len="sm" w="sm" type="none"/>
                    </a:lnT>
                    <a:lnB cap="flat" cmpd="sng" w="19050">
                      <a:solidFill>
                        <a:srgbClr val="FFC259"/>
                      </a:solidFill>
                      <a:prstDash val="solid"/>
                      <a:round/>
                      <a:headEnd len="sm" w="sm" type="none"/>
                      <a:tailEnd len="sm" w="sm" type="none"/>
                    </a:lnB>
                  </a:tcPr>
                </a:tc>
              </a:tr>
            </a:tbl>
          </a:graphicData>
        </a:graphic>
      </p:graphicFrame>
      <p:sp>
        <p:nvSpPr>
          <p:cNvPr id="631" name="Google Shape;631;p31"/>
          <p:cNvSpPr txBox="1"/>
          <p:nvPr/>
        </p:nvSpPr>
        <p:spPr>
          <a:xfrm>
            <a:off x="4325837" y="7803393"/>
            <a:ext cx="4259313" cy="356616"/>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2400" u="none" cap="none" strike="noStrike">
                <a:solidFill>
                  <a:srgbClr val="FFFFFF"/>
                </a:solidFill>
                <a:latin typeface="Arial"/>
                <a:ea typeface="Arial"/>
                <a:cs typeface="Arial"/>
                <a:sym typeface="Arial"/>
              </a:rPr>
              <a:t>NOVEMBER 15,2023</a:t>
            </a:r>
            <a:endParaRPr/>
          </a:p>
        </p:txBody>
      </p:sp>
      <p:sp>
        <p:nvSpPr>
          <p:cNvPr id="632" name="Google Shape;632;p31"/>
          <p:cNvSpPr txBox="1"/>
          <p:nvPr/>
        </p:nvSpPr>
        <p:spPr>
          <a:xfrm>
            <a:off x="9367612" y="7803393"/>
            <a:ext cx="4959081" cy="356616"/>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2400" u="none" cap="none" strike="noStrike">
                <a:solidFill>
                  <a:srgbClr val="FFFFFF"/>
                </a:solidFill>
                <a:latin typeface="Arial"/>
                <a:ea typeface="Arial"/>
                <a:cs typeface="Arial"/>
                <a:sym typeface="Arial"/>
              </a:rPr>
              <a:t>VINTIQ</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